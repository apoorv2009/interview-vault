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525000" cy="13468350"/>
  <p:notesSz cx="13468350" cy="9525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gradFill rotWithShape="1">
            <a:gsLst>
              <a:gs pos="0">
                <a:srgbClr val="0B1120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13203C">
                  <a:alpha val="100000"/>
                </a:srgbClr>
              </a:gs>
            </a:gsLst>
            <a:lin ang="4200000" scaled="0"/>
          </a:gradFill>
          <a:ln/>
          <a:effectLst>
            <a:outerShdw sx="100000" sy="100000" kx="0" ky="0" algn="bl" rotWithShape="0" blurRad="285750" dist="57150" dir="5400000">
              <a:srgbClr val="0F172A">
                <a:alpha val="2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gradFill rotWithShape="1">
            <a:gsLst>
              <a:gs pos="0">
                <a:srgbClr val="E87722">
                  <a:alpha val="16000"/>
                </a:srgbClr>
              </a:gs>
              <a:gs pos="70000">
                <a:srgbClr val="E87722">
                  <a:alpha val="0"/>
                </a:srgbClr>
              </a:gs>
            </a:gsLst>
            <a:path path="circle">
              <a:fillToRect l="50000" t="30000" r="50000" b="7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4305300" y="4615848"/>
            <a:ext cx="914400" cy="914400"/>
          </a:xfrm>
          <a:prstGeom prst="ellipse">
            <a:avLst/>
          </a:prstGeom>
          <a:ln w="19050">
            <a:solidFill>
              <a:srgbClr val="E87722"/>
            </a:solidFill>
            <a:prstDash val="solid"/>
          </a:ln>
          <a:effectLst>
            <a:outerShdw sx="100000" sy="100000" kx="0" ky="0" algn="bl" rotWithShape="0" blurRad="101600" dist="50800" dir="16200000">
              <a:srgbClr val="E87722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86250" y="4634898"/>
            <a:ext cx="9525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05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</a:t>
            </a:r>
            <a:endParaRPr lang="en-US" sz="4050" dirty="0"/>
          </a:p>
        </p:txBody>
      </p:sp>
      <p:sp>
        <p:nvSpPr>
          <p:cNvPr id="6" name="Text 4"/>
          <p:cNvSpPr/>
          <p:nvPr/>
        </p:nvSpPr>
        <p:spPr>
          <a:xfrm>
            <a:off x="4236641" y="5777898"/>
            <a:ext cx="10516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375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MYTEMPLE</a:t>
            </a:r>
            <a:endParaRPr lang="en-US" sz="975" dirty="0"/>
          </a:p>
        </p:txBody>
      </p:sp>
      <p:sp>
        <p:nvSpPr>
          <p:cNvPr id="7" name="Text 5"/>
          <p:cNvSpPr/>
          <p:nvPr/>
        </p:nvSpPr>
        <p:spPr>
          <a:xfrm>
            <a:off x="3014451" y="6184302"/>
            <a:ext cx="3495999" cy="1198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350" b="1" spc="-75" kern="0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Deep System Architecture</a:t>
            </a:r>
            <a:endParaRPr lang="en-US" sz="4350" dirty="0"/>
          </a:p>
        </p:txBody>
      </p:sp>
      <p:sp>
        <p:nvSpPr>
          <p:cNvPr id="8" name="Text 6"/>
          <p:cNvSpPr/>
          <p:nvPr/>
        </p:nvSpPr>
        <p:spPr>
          <a:xfrm>
            <a:off x="2015490" y="7592020"/>
            <a:ext cx="54940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7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service · every library · every data flow — the complete reference for the Jain temple community platform.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4476750" y="8382595"/>
            <a:ext cx="5715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" name="Text 8"/>
          <p:cNvSpPr/>
          <p:nvPr/>
        </p:nvSpPr>
        <p:spPr>
          <a:xfrm>
            <a:off x="2994521" y="8706445"/>
            <a:ext cx="12421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Updated June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484291" y="8706445"/>
            <a:ext cx="14485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|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36031" y="8706445"/>
            <a:ext cx="173511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-476250" y="12871447"/>
            <a:ext cx="104775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github.com/apoorv2009/MyTemple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7"/>
            <a:ext cx="222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4445" y="920744"/>
            <a:ext cx="303410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System Architecture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694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Docker containers on a Windows host, exposed to the internet via a Cloudflare Quick Tunnel and served to the React Native app through Vercel's CDN with a rewrite rule. All backend services share one internal Docker network and talk over service-DNS names.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88"/>
            <a:ext cx="8458200" cy="8371781"/>
          </a:xfrm>
          <a:prstGeom prst="roundRect">
            <a:avLst>
              <a:gd name="adj" fmla="val 1820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2001041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 · FULL SYSTEM ARCHITECTURE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350" y="2255044"/>
            <a:ext cx="7988300" cy="720973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47925" y="2255044"/>
            <a:ext cx="2190750" cy="739775"/>
          </a:xfrm>
          <a:prstGeom prst="roundRect">
            <a:avLst>
              <a:gd name="adj" fmla="val 14163"/>
            </a:avLst>
          </a:prstGeom>
          <a:solidFill>
            <a:srgbClr val="7DA2FF">
              <a:alpha val="7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2447925" y="2988469"/>
            <a:ext cx="2190750" cy="952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2447925" y="2255044"/>
            <a:ext cx="2190750" cy="19050"/>
          </a:xfrm>
          <a:prstGeom prst="rect">
            <a:avLst/>
          </a:prstGeom>
          <a:solidFill>
            <a:srgbClr val="7DA2FF"/>
          </a:solidFill>
          <a:ln/>
        </p:spPr>
      </p:sp>
      <p:sp>
        <p:nvSpPr>
          <p:cNvPr id="15" name="Shape 12"/>
          <p:cNvSpPr/>
          <p:nvPr/>
        </p:nvSpPr>
        <p:spPr>
          <a:xfrm>
            <a:off x="2447925" y="2255044"/>
            <a:ext cx="9525" cy="73977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632325" y="2255044"/>
            <a:ext cx="9525" cy="73977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587625" y="2378869"/>
            <a:ext cx="2102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587625" y="2588419"/>
            <a:ext cx="210248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DA2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 Native 0.83 · Expo 55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2587625" y="2756688"/>
            <a:ext cx="21024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Android &amp; iOS</a:t>
            </a:r>
            <a:endParaRPr lang="en-US" sz="788" dirty="0"/>
          </a:p>
        </p:txBody>
      </p:sp>
      <p:sp>
        <p:nvSpPr>
          <p:cNvPr id="20" name="Shape 17"/>
          <p:cNvSpPr/>
          <p:nvPr/>
        </p:nvSpPr>
        <p:spPr>
          <a:xfrm>
            <a:off x="4886325" y="2255044"/>
            <a:ext cx="2190750" cy="739775"/>
          </a:xfrm>
          <a:prstGeom prst="roundRect">
            <a:avLst>
              <a:gd name="adj" fmla="val 14163"/>
            </a:avLst>
          </a:prstGeom>
          <a:solidFill>
            <a:srgbClr val="7DA2FF">
              <a:alpha val="7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4886325" y="2988469"/>
            <a:ext cx="2190750" cy="952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4886325" y="2255044"/>
            <a:ext cx="2190750" cy="19050"/>
          </a:xfrm>
          <a:prstGeom prst="rect">
            <a:avLst/>
          </a:prstGeom>
          <a:solidFill>
            <a:srgbClr val="7DA2FF"/>
          </a:solidFill>
          <a:ln/>
        </p:spPr>
      </p:sp>
      <p:sp>
        <p:nvSpPr>
          <p:cNvPr id="23" name="Shape 20"/>
          <p:cNvSpPr/>
          <p:nvPr/>
        </p:nvSpPr>
        <p:spPr>
          <a:xfrm>
            <a:off x="4886325" y="2255044"/>
            <a:ext cx="9525" cy="73977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070725" y="2255044"/>
            <a:ext cx="9525" cy="739775"/>
          </a:xfrm>
          <a:prstGeom prst="rect">
            <a:avLst/>
          </a:prstGeom>
          <a:solidFill>
            <a:srgbClr val="7DA2FF">
              <a:alpha val="24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5026025" y="2378869"/>
            <a:ext cx="21024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Web Browser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026025" y="2588419"/>
            <a:ext cx="210248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DA2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 Web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26025" y="2756688"/>
            <a:ext cx="21024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Hosted on Vercel</a:t>
            </a:r>
            <a:endParaRPr lang="en-US" sz="788" dirty="0"/>
          </a:p>
        </p:txBody>
      </p:sp>
      <p:sp>
        <p:nvSpPr>
          <p:cNvPr id="28" name="Shape 25"/>
          <p:cNvSpPr/>
          <p:nvPr/>
        </p:nvSpPr>
        <p:spPr>
          <a:xfrm>
            <a:off x="2190750" y="3337713"/>
            <a:ext cx="5143500" cy="635000"/>
          </a:xfrm>
          <a:prstGeom prst="roundRect">
            <a:avLst>
              <a:gd name="adj" fmla="val 16500"/>
            </a:avLst>
          </a:prstGeom>
          <a:solidFill>
            <a:srgbClr val="2DD4BF">
              <a:alpha val="7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190750" y="3966363"/>
            <a:ext cx="5143500" cy="9525"/>
          </a:xfrm>
          <a:prstGeom prst="rect">
            <a:avLst/>
          </a:prstGeom>
          <a:solidFill>
            <a:srgbClr val="2DD4BF">
              <a:alpha val="26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190750" y="3337713"/>
            <a:ext cx="5143500" cy="190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1" name="Shape 28"/>
          <p:cNvSpPr/>
          <p:nvPr/>
        </p:nvSpPr>
        <p:spPr>
          <a:xfrm>
            <a:off x="2190750" y="3337713"/>
            <a:ext cx="9525" cy="635000"/>
          </a:xfrm>
          <a:prstGeom prst="rect">
            <a:avLst/>
          </a:prstGeom>
          <a:solidFill>
            <a:srgbClr val="2DD4BF">
              <a:alpha val="26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7327900" y="3337713"/>
            <a:ext cx="9525" cy="635000"/>
          </a:xfrm>
          <a:prstGeom prst="rect">
            <a:avLst/>
          </a:prstGeom>
          <a:solidFill>
            <a:srgbClr val="2DD4BF">
              <a:alpha val="26000"/>
            </a:srgbClr>
          </a:solidFill>
          <a:ln/>
        </p:spPr>
      </p:sp>
      <p:sp>
        <p:nvSpPr>
          <p:cNvPr id="33" name="Text 30"/>
          <p:cNvSpPr/>
          <p:nvPr/>
        </p:nvSpPr>
        <p:spPr>
          <a:xfrm>
            <a:off x="2368550" y="3471063"/>
            <a:ext cx="1201043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 CDN Edge</a:t>
            </a:r>
            <a:endParaRPr lang="en-US" sz="1125" dirty="0"/>
          </a:p>
        </p:txBody>
      </p:sp>
      <p:sp>
        <p:nvSpPr>
          <p:cNvPr id="34" name="Text 31"/>
          <p:cNvSpPr/>
          <p:nvPr/>
        </p:nvSpPr>
        <p:spPr>
          <a:xfrm>
            <a:off x="6927850" y="3515516"/>
            <a:ext cx="3048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edge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2368550" y="3712369"/>
            <a:ext cx="526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Serves the web app · rewrites </a:t>
            </a:r>
            <a:pPr algn="l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/api/* </a:t>
            </a:r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Cloudflare tunnel</a:t>
            </a:r>
            <a:endParaRPr lang="en-US" sz="825" dirty="0"/>
          </a:p>
        </p:txBody>
      </p:sp>
      <p:sp>
        <p:nvSpPr>
          <p:cNvPr id="36" name="Shape 33"/>
          <p:cNvSpPr/>
          <p:nvPr/>
        </p:nvSpPr>
        <p:spPr>
          <a:xfrm>
            <a:off x="2190750" y="4315616"/>
            <a:ext cx="5143500" cy="635000"/>
          </a:xfrm>
          <a:prstGeom prst="roundRect">
            <a:avLst>
              <a:gd name="adj" fmla="val 16500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2190750" y="4944266"/>
            <a:ext cx="5143500" cy="9525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2190750" y="4315616"/>
            <a:ext cx="514350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9" name="Shape 36"/>
          <p:cNvSpPr/>
          <p:nvPr/>
        </p:nvSpPr>
        <p:spPr>
          <a:xfrm>
            <a:off x="2190750" y="4315616"/>
            <a:ext cx="9525" cy="635000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7327900" y="4315616"/>
            <a:ext cx="9525" cy="635000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41" name="Text 38"/>
          <p:cNvSpPr/>
          <p:nvPr/>
        </p:nvSpPr>
        <p:spPr>
          <a:xfrm>
            <a:off x="2368550" y="4448966"/>
            <a:ext cx="178434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Cloudflare Quick Tunnel</a:t>
            </a:r>
            <a:endParaRPr lang="en-US" sz="1125" dirty="0"/>
          </a:p>
        </p:txBody>
      </p:sp>
      <p:sp>
        <p:nvSpPr>
          <p:cNvPr id="42" name="Text 39"/>
          <p:cNvSpPr/>
          <p:nvPr/>
        </p:nvSpPr>
        <p:spPr>
          <a:xfrm>
            <a:off x="6470650" y="4493419"/>
            <a:ext cx="7620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 / HTTP2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2368550" y="4690263"/>
            <a:ext cx="526669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cloudflared → </a:t>
            </a:r>
            <a:pPr algn="l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localhost:8000</a:t>
            </a:r>
            <a:endParaRPr lang="en-US" sz="825" dirty="0"/>
          </a:p>
        </p:txBody>
      </p:sp>
      <p:sp>
        <p:nvSpPr>
          <p:cNvPr id="44" name="Shape 41"/>
          <p:cNvSpPr/>
          <p:nvPr/>
        </p:nvSpPr>
        <p:spPr>
          <a:xfrm>
            <a:off x="1619250" y="5293519"/>
            <a:ext cx="6286500" cy="939800"/>
          </a:xfrm>
          <a:prstGeom prst="roundRect">
            <a:avLst>
              <a:gd name="adj" fmla="val 11149"/>
            </a:avLst>
          </a:prstGeom>
          <a:solidFill>
            <a:srgbClr val="E87722">
              <a:alpha val="11000"/>
            </a:srgbClr>
          </a:solidFill>
          <a:ln/>
          <a:effectLst>
            <a:outerShdw sx="100000" sy="100000" kx="0" ky="0" algn="bl" rotWithShape="0" blurRad="247650" dist="50800" dir="16200000">
              <a:srgbClr val="E87722">
                <a:alpha val="10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1619250" y="6226969"/>
            <a:ext cx="6286500" cy="9525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1619250" y="5293519"/>
            <a:ext cx="62865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7" name="Shape 44"/>
          <p:cNvSpPr/>
          <p:nvPr/>
        </p:nvSpPr>
        <p:spPr>
          <a:xfrm>
            <a:off x="1619250" y="5293519"/>
            <a:ext cx="9525" cy="939800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899400" y="5293519"/>
            <a:ext cx="9525" cy="939800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1816100" y="5436394"/>
            <a:ext cx="2338011" cy="234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EB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 · FastAPI + httpx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7242175" y="5461788"/>
            <a:ext cx="466725" cy="177800"/>
          </a:xfrm>
          <a:prstGeom prst="roundRect">
            <a:avLst>
              <a:gd name="adj" fmla="val 26786"/>
            </a:avLst>
          </a:prstGeom>
          <a:solidFill>
            <a:srgbClr val="E87722">
              <a:alpha val="16000"/>
            </a:srgbClr>
          </a:solidFill>
          <a:ln/>
        </p:spPr>
      </p:sp>
      <p:sp>
        <p:nvSpPr>
          <p:cNvPr id="51" name="Text 48"/>
          <p:cNvSpPr/>
          <p:nvPr/>
        </p:nvSpPr>
        <p:spPr>
          <a:xfrm>
            <a:off x="7318375" y="5480838"/>
            <a:ext cx="39052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:8000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1816100" y="5706266"/>
            <a:ext cx="648208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BB6A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 verify · rate limit · reverse-proxy to 4 services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1816100" y="5957088"/>
            <a:ext cx="461566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30" kern="0" dirty="0">
                <a:solidFill>
                  <a:srgbClr val="8595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INJECTS</a:t>
            </a:r>
            <a:endParaRPr lang="en-US" sz="713" dirty="0"/>
          </a:p>
        </p:txBody>
      </p:sp>
      <p:sp>
        <p:nvSpPr>
          <p:cNvPr id="54" name="Shape 51"/>
          <p:cNvSpPr/>
          <p:nvPr/>
        </p:nvSpPr>
        <p:spPr>
          <a:xfrm>
            <a:off x="2277666" y="5931694"/>
            <a:ext cx="660400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2350691" y="5957094"/>
            <a:ext cx="5905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X-User-Id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3014266" y="5931694"/>
            <a:ext cx="774700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087291" y="5957094"/>
            <a:ext cx="7048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X-User-Role</a:t>
            </a:r>
            <a:endParaRPr lang="en-US" sz="750" dirty="0"/>
          </a:p>
        </p:txBody>
      </p:sp>
      <p:sp>
        <p:nvSpPr>
          <p:cNvPr id="58" name="Shape 55"/>
          <p:cNvSpPr/>
          <p:nvPr/>
        </p:nvSpPr>
        <p:spPr>
          <a:xfrm>
            <a:off x="3865166" y="5931694"/>
            <a:ext cx="774700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3938191" y="5957094"/>
            <a:ext cx="7048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X-Temple-Id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800100" y="6576213"/>
            <a:ext cx="1866900" cy="1113730"/>
          </a:xfrm>
          <a:prstGeom prst="roundRect">
            <a:avLst>
              <a:gd name="adj" fmla="val 9408"/>
            </a:avLst>
          </a:prstGeom>
          <a:solidFill>
            <a:srgbClr val="818CF8">
              <a:alpha val="7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00100" y="7683593"/>
            <a:ext cx="1866900" cy="9525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00100" y="6576213"/>
            <a:ext cx="1866900" cy="1905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3" name="Shape 60"/>
          <p:cNvSpPr/>
          <p:nvPr/>
        </p:nvSpPr>
        <p:spPr>
          <a:xfrm>
            <a:off x="800100" y="6576213"/>
            <a:ext cx="9525" cy="111373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2660650" y="6576213"/>
            <a:ext cx="9525" cy="111373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930275" y="6700038"/>
            <a:ext cx="176720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975" dirty="0"/>
          </a:p>
        </p:txBody>
      </p:sp>
      <p:sp>
        <p:nvSpPr>
          <p:cNvPr id="66" name="Text 63"/>
          <p:cNvSpPr/>
          <p:nvPr/>
        </p:nvSpPr>
        <p:spPr>
          <a:xfrm>
            <a:off x="930275" y="6886668"/>
            <a:ext cx="176720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18C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:8001</a:t>
            </a:r>
            <a:endParaRPr lang="en-US" sz="750" dirty="0"/>
          </a:p>
        </p:txBody>
      </p:sp>
      <p:sp>
        <p:nvSpPr>
          <p:cNvPr id="67" name="Shape 64"/>
          <p:cNvSpPr/>
          <p:nvPr/>
        </p:nvSpPr>
        <p:spPr>
          <a:xfrm>
            <a:off x="930275" y="7131146"/>
            <a:ext cx="38100" cy="381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68" name="Text 65"/>
          <p:cNvSpPr/>
          <p:nvPr/>
        </p:nvSpPr>
        <p:spPr>
          <a:xfrm>
            <a:off x="1025525" y="7083521"/>
            <a:ext cx="5581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Users, JWT</a:t>
            </a:r>
            <a:endParaRPr lang="en-US" sz="750" dirty="0"/>
          </a:p>
        </p:txBody>
      </p:sp>
      <p:sp>
        <p:nvSpPr>
          <p:cNvPr id="69" name="Shape 66"/>
          <p:cNvSpPr/>
          <p:nvPr/>
        </p:nvSpPr>
        <p:spPr>
          <a:xfrm>
            <a:off x="930275" y="7312121"/>
            <a:ext cx="38100" cy="381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0" name="Text 67"/>
          <p:cNvSpPr/>
          <p:nvPr/>
        </p:nvSpPr>
        <p:spPr>
          <a:xfrm>
            <a:off x="1025525" y="7264496"/>
            <a:ext cx="61227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Argon2 hash</a:t>
            </a:r>
            <a:endParaRPr lang="en-US" sz="750" dirty="0"/>
          </a:p>
        </p:txBody>
      </p:sp>
      <p:sp>
        <p:nvSpPr>
          <p:cNvPr id="71" name="Shape 68"/>
          <p:cNvSpPr/>
          <p:nvPr/>
        </p:nvSpPr>
        <p:spPr>
          <a:xfrm>
            <a:off x="930275" y="7493096"/>
            <a:ext cx="38100" cy="38100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72" name="Text 69"/>
          <p:cNvSpPr/>
          <p:nvPr/>
        </p:nvSpPr>
        <p:spPr>
          <a:xfrm>
            <a:off x="1025525" y="7445471"/>
            <a:ext cx="5987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tokens</a:t>
            </a:r>
            <a:endParaRPr lang="en-US" sz="750" dirty="0"/>
          </a:p>
        </p:txBody>
      </p:sp>
      <p:sp>
        <p:nvSpPr>
          <p:cNvPr id="73" name="Shape 70"/>
          <p:cNvSpPr/>
          <p:nvPr/>
        </p:nvSpPr>
        <p:spPr>
          <a:xfrm>
            <a:off x="2819400" y="6576213"/>
            <a:ext cx="1866900" cy="1113730"/>
          </a:xfrm>
          <a:prstGeom prst="roundRect">
            <a:avLst>
              <a:gd name="adj" fmla="val 9408"/>
            </a:avLst>
          </a:prstGeom>
          <a:solidFill>
            <a:srgbClr val="34D399">
              <a:alpha val="7000"/>
            </a:srgbClr>
          </a:solidFill>
          <a:ln/>
        </p:spPr>
      </p:sp>
      <p:sp>
        <p:nvSpPr>
          <p:cNvPr id="74" name="Shape 71"/>
          <p:cNvSpPr/>
          <p:nvPr/>
        </p:nvSpPr>
        <p:spPr>
          <a:xfrm>
            <a:off x="2819400" y="7683593"/>
            <a:ext cx="1866900" cy="9525"/>
          </a:xfrm>
          <a:prstGeom prst="rect">
            <a:avLst/>
          </a:prstGeom>
          <a:solidFill>
            <a:srgbClr val="34D399">
              <a:alpha val="24000"/>
            </a:srgbClr>
          </a:solidFill>
          <a:ln/>
        </p:spPr>
      </p:sp>
      <p:sp>
        <p:nvSpPr>
          <p:cNvPr id="75" name="Shape 72"/>
          <p:cNvSpPr/>
          <p:nvPr/>
        </p:nvSpPr>
        <p:spPr>
          <a:xfrm>
            <a:off x="2819400" y="6576213"/>
            <a:ext cx="1866900" cy="1905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6" name="Shape 73"/>
          <p:cNvSpPr/>
          <p:nvPr/>
        </p:nvSpPr>
        <p:spPr>
          <a:xfrm>
            <a:off x="2819400" y="6576213"/>
            <a:ext cx="9525" cy="1113730"/>
          </a:xfrm>
          <a:prstGeom prst="rect">
            <a:avLst/>
          </a:prstGeom>
          <a:solidFill>
            <a:srgbClr val="34D399">
              <a:alpha val="24000"/>
            </a:srgbClr>
          </a:solidFill>
          <a:ln/>
        </p:spPr>
      </p:sp>
      <p:sp>
        <p:nvSpPr>
          <p:cNvPr id="77" name="Shape 74"/>
          <p:cNvSpPr/>
          <p:nvPr/>
        </p:nvSpPr>
        <p:spPr>
          <a:xfrm>
            <a:off x="4679950" y="6576213"/>
            <a:ext cx="9525" cy="1113730"/>
          </a:xfrm>
          <a:prstGeom prst="rect">
            <a:avLst/>
          </a:prstGeom>
          <a:solidFill>
            <a:srgbClr val="34D399">
              <a:alpha val="24000"/>
            </a:srgbClr>
          </a:solidFill>
          <a:ln/>
        </p:spPr>
      </p:sp>
      <p:sp>
        <p:nvSpPr>
          <p:cNvPr id="78" name="Text 75"/>
          <p:cNvSpPr/>
          <p:nvPr/>
        </p:nvSpPr>
        <p:spPr>
          <a:xfrm>
            <a:off x="2949575" y="6700038"/>
            <a:ext cx="176720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Registration</a:t>
            </a:r>
            <a:endParaRPr lang="en-US" sz="975" dirty="0"/>
          </a:p>
        </p:txBody>
      </p:sp>
      <p:sp>
        <p:nvSpPr>
          <p:cNvPr id="79" name="Text 76"/>
          <p:cNvSpPr/>
          <p:nvPr/>
        </p:nvSpPr>
        <p:spPr>
          <a:xfrm>
            <a:off x="2949575" y="6886668"/>
            <a:ext cx="176720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:8002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2949575" y="7131146"/>
            <a:ext cx="38100" cy="381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1" name="Text 78"/>
          <p:cNvSpPr/>
          <p:nvPr/>
        </p:nvSpPr>
        <p:spPr>
          <a:xfrm>
            <a:off x="3044825" y="7083521"/>
            <a:ext cx="46990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</a:t>
            </a:r>
            <a:endParaRPr lang="en-US" sz="750" dirty="0"/>
          </a:p>
        </p:txBody>
      </p:sp>
      <p:sp>
        <p:nvSpPr>
          <p:cNvPr id="82" name="Shape 79"/>
          <p:cNvSpPr/>
          <p:nvPr/>
        </p:nvSpPr>
        <p:spPr>
          <a:xfrm>
            <a:off x="2949575" y="7312121"/>
            <a:ext cx="38100" cy="381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3" name="Text 80"/>
          <p:cNvSpPr/>
          <p:nvPr/>
        </p:nvSpPr>
        <p:spPr>
          <a:xfrm>
            <a:off x="3044825" y="7264496"/>
            <a:ext cx="509587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Donations</a:t>
            </a:r>
            <a:endParaRPr lang="en-US" sz="750" dirty="0"/>
          </a:p>
        </p:txBody>
      </p:sp>
      <p:sp>
        <p:nvSpPr>
          <p:cNvPr id="84" name="Shape 81"/>
          <p:cNvSpPr/>
          <p:nvPr/>
        </p:nvSpPr>
        <p:spPr>
          <a:xfrm>
            <a:off x="2949575" y="7493096"/>
            <a:ext cx="38100" cy="38100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85" name="Text 82"/>
          <p:cNvSpPr/>
          <p:nvPr/>
        </p:nvSpPr>
        <p:spPr>
          <a:xfrm>
            <a:off x="3044825" y="7445471"/>
            <a:ext cx="6574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Memberships</a:t>
            </a:r>
            <a:endParaRPr lang="en-US" sz="750" dirty="0"/>
          </a:p>
        </p:txBody>
      </p:sp>
      <p:sp>
        <p:nvSpPr>
          <p:cNvPr id="86" name="Shape 83"/>
          <p:cNvSpPr/>
          <p:nvPr/>
        </p:nvSpPr>
        <p:spPr>
          <a:xfrm>
            <a:off x="4838700" y="6576213"/>
            <a:ext cx="1866900" cy="1113730"/>
          </a:xfrm>
          <a:prstGeom prst="roundRect">
            <a:avLst>
              <a:gd name="adj" fmla="val 9408"/>
            </a:avLst>
          </a:prstGeom>
          <a:solidFill>
            <a:srgbClr val="38BDF8">
              <a:alpha val="7000"/>
            </a:srgbClr>
          </a:solidFill>
          <a:ln/>
        </p:spPr>
      </p:sp>
      <p:sp>
        <p:nvSpPr>
          <p:cNvPr id="87" name="Shape 84"/>
          <p:cNvSpPr/>
          <p:nvPr/>
        </p:nvSpPr>
        <p:spPr>
          <a:xfrm>
            <a:off x="4838700" y="7683593"/>
            <a:ext cx="1866900" cy="9525"/>
          </a:xfrm>
          <a:prstGeom prst="rect">
            <a:avLst/>
          </a:prstGeom>
          <a:solidFill>
            <a:srgbClr val="38BDF8">
              <a:alpha val="24000"/>
            </a:srgbClr>
          </a:solidFill>
          <a:ln/>
        </p:spPr>
      </p:sp>
      <p:sp>
        <p:nvSpPr>
          <p:cNvPr id="88" name="Shape 85"/>
          <p:cNvSpPr/>
          <p:nvPr/>
        </p:nvSpPr>
        <p:spPr>
          <a:xfrm>
            <a:off x="4838700" y="6576213"/>
            <a:ext cx="1866900" cy="1905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9" name="Shape 86"/>
          <p:cNvSpPr/>
          <p:nvPr/>
        </p:nvSpPr>
        <p:spPr>
          <a:xfrm>
            <a:off x="4838700" y="6576213"/>
            <a:ext cx="9525" cy="1113730"/>
          </a:xfrm>
          <a:prstGeom prst="rect">
            <a:avLst/>
          </a:prstGeom>
          <a:solidFill>
            <a:srgbClr val="38BDF8">
              <a:alpha val="24000"/>
            </a:srgbClr>
          </a:solidFill>
          <a:ln/>
        </p:spPr>
      </p:sp>
      <p:sp>
        <p:nvSpPr>
          <p:cNvPr id="90" name="Shape 87"/>
          <p:cNvSpPr/>
          <p:nvPr/>
        </p:nvSpPr>
        <p:spPr>
          <a:xfrm>
            <a:off x="6699250" y="6576213"/>
            <a:ext cx="9525" cy="1113730"/>
          </a:xfrm>
          <a:prstGeom prst="rect">
            <a:avLst/>
          </a:prstGeom>
          <a:solidFill>
            <a:srgbClr val="38BDF8">
              <a:alpha val="24000"/>
            </a:srgbClr>
          </a:solidFill>
          <a:ln/>
        </p:spPr>
      </p:sp>
      <p:sp>
        <p:nvSpPr>
          <p:cNvPr id="91" name="Text 88"/>
          <p:cNvSpPr/>
          <p:nvPr/>
        </p:nvSpPr>
        <p:spPr>
          <a:xfrm>
            <a:off x="4968875" y="6700038"/>
            <a:ext cx="176720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</a:t>
            </a:r>
            <a:endParaRPr lang="en-US" sz="975" dirty="0"/>
          </a:p>
        </p:txBody>
      </p:sp>
      <p:sp>
        <p:nvSpPr>
          <p:cNvPr id="92" name="Text 89"/>
          <p:cNvSpPr/>
          <p:nvPr/>
        </p:nvSpPr>
        <p:spPr>
          <a:xfrm>
            <a:off x="4968875" y="6886668"/>
            <a:ext cx="176720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:8003</a:t>
            </a:r>
            <a:endParaRPr lang="en-US" sz="750" dirty="0"/>
          </a:p>
        </p:txBody>
      </p:sp>
      <p:sp>
        <p:nvSpPr>
          <p:cNvPr id="93" name="Shape 90"/>
          <p:cNvSpPr/>
          <p:nvPr/>
        </p:nvSpPr>
        <p:spPr>
          <a:xfrm>
            <a:off x="4968875" y="7131146"/>
            <a:ext cx="38100" cy="381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4" name="Text 91"/>
          <p:cNvSpPr/>
          <p:nvPr/>
        </p:nvSpPr>
        <p:spPr>
          <a:xfrm>
            <a:off x="5064125" y="7083521"/>
            <a:ext cx="62239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Slots, events</a:t>
            </a:r>
            <a:endParaRPr lang="en-US" sz="750" dirty="0"/>
          </a:p>
        </p:txBody>
      </p:sp>
      <p:sp>
        <p:nvSpPr>
          <p:cNvPr id="95" name="Shape 92"/>
          <p:cNvSpPr/>
          <p:nvPr/>
        </p:nvSpPr>
        <p:spPr>
          <a:xfrm>
            <a:off x="4968875" y="7312121"/>
            <a:ext cx="38100" cy="381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6" name="Text 93"/>
          <p:cNvSpPr/>
          <p:nvPr/>
        </p:nvSpPr>
        <p:spPr>
          <a:xfrm>
            <a:off x="5064125" y="7264496"/>
            <a:ext cx="675382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News, finance</a:t>
            </a:r>
            <a:endParaRPr lang="en-US" sz="750" dirty="0"/>
          </a:p>
        </p:txBody>
      </p:sp>
      <p:sp>
        <p:nvSpPr>
          <p:cNvPr id="97" name="Shape 94"/>
          <p:cNvSpPr/>
          <p:nvPr/>
        </p:nvSpPr>
        <p:spPr>
          <a:xfrm>
            <a:off x="4968875" y="7493096"/>
            <a:ext cx="38100" cy="3810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98" name="Text 95"/>
          <p:cNvSpPr/>
          <p:nvPr/>
        </p:nvSpPr>
        <p:spPr>
          <a:xfrm>
            <a:off x="5064125" y="7445471"/>
            <a:ext cx="626666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Wall of Fame</a:t>
            </a:r>
            <a:endParaRPr lang="en-US" sz="750" dirty="0"/>
          </a:p>
        </p:txBody>
      </p:sp>
      <p:sp>
        <p:nvSpPr>
          <p:cNvPr id="99" name="Shape 96"/>
          <p:cNvSpPr/>
          <p:nvPr/>
        </p:nvSpPr>
        <p:spPr>
          <a:xfrm>
            <a:off x="6858000" y="6576213"/>
            <a:ext cx="1866900" cy="1113730"/>
          </a:xfrm>
          <a:prstGeom prst="roundRect">
            <a:avLst>
              <a:gd name="adj" fmla="val 9408"/>
            </a:avLst>
          </a:prstGeom>
          <a:solidFill>
            <a:srgbClr val="E87722">
              <a:alpha val="9000"/>
            </a:srgbClr>
          </a:solidFill>
          <a:ln/>
        </p:spPr>
      </p:sp>
      <p:sp>
        <p:nvSpPr>
          <p:cNvPr id="100" name="Shape 97"/>
          <p:cNvSpPr/>
          <p:nvPr/>
        </p:nvSpPr>
        <p:spPr>
          <a:xfrm>
            <a:off x="6858000" y="7683593"/>
            <a:ext cx="1866900" cy="9525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101" name="Shape 98"/>
          <p:cNvSpPr/>
          <p:nvPr/>
        </p:nvSpPr>
        <p:spPr>
          <a:xfrm>
            <a:off x="6858000" y="6576213"/>
            <a:ext cx="18669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2" name="Shape 99"/>
          <p:cNvSpPr/>
          <p:nvPr/>
        </p:nvSpPr>
        <p:spPr>
          <a:xfrm>
            <a:off x="6858000" y="6576213"/>
            <a:ext cx="9525" cy="1113730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103" name="Shape 100"/>
          <p:cNvSpPr/>
          <p:nvPr/>
        </p:nvSpPr>
        <p:spPr>
          <a:xfrm>
            <a:off x="8718550" y="6576213"/>
            <a:ext cx="9525" cy="1113730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104" name="Text 101"/>
          <p:cNvSpPr/>
          <p:nvPr/>
        </p:nvSpPr>
        <p:spPr>
          <a:xfrm>
            <a:off x="6988175" y="6700038"/>
            <a:ext cx="1767205" cy="186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</a:t>
            </a:r>
            <a:endParaRPr lang="en-US" sz="975" dirty="0"/>
          </a:p>
        </p:txBody>
      </p:sp>
      <p:sp>
        <p:nvSpPr>
          <p:cNvPr id="105" name="Text 102"/>
          <p:cNvSpPr/>
          <p:nvPr/>
        </p:nvSpPr>
        <p:spPr>
          <a:xfrm>
            <a:off x="6988175" y="6886668"/>
            <a:ext cx="176720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:8004</a:t>
            </a:r>
            <a:endParaRPr lang="en-US" sz="750" dirty="0"/>
          </a:p>
        </p:txBody>
      </p:sp>
      <p:sp>
        <p:nvSpPr>
          <p:cNvPr id="106" name="Shape 103"/>
          <p:cNvSpPr/>
          <p:nvPr/>
        </p:nvSpPr>
        <p:spPr>
          <a:xfrm>
            <a:off x="6988175" y="7131146"/>
            <a:ext cx="38100" cy="381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07" name="Text 104"/>
          <p:cNvSpPr/>
          <p:nvPr/>
        </p:nvSpPr>
        <p:spPr>
          <a:xfrm>
            <a:off x="7083425" y="7083521"/>
            <a:ext cx="61932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chat, RAG</a:t>
            </a:r>
            <a:endParaRPr lang="en-US" sz="750" dirty="0"/>
          </a:p>
        </p:txBody>
      </p:sp>
      <p:sp>
        <p:nvSpPr>
          <p:cNvPr id="108" name="Shape 105"/>
          <p:cNvSpPr/>
          <p:nvPr/>
        </p:nvSpPr>
        <p:spPr>
          <a:xfrm>
            <a:off x="6988175" y="7312121"/>
            <a:ext cx="38100" cy="381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09" name="Text 106"/>
          <p:cNvSpPr/>
          <p:nvPr/>
        </p:nvSpPr>
        <p:spPr>
          <a:xfrm>
            <a:off x="7083425" y="7264496"/>
            <a:ext cx="373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Agents</a:t>
            </a:r>
            <a:endParaRPr lang="en-US" sz="750" dirty="0"/>
          </a:p>
        </p:txBody>
      </p:sp>
      <p:sp>
        <p:nvSpPr>
          <p:cNvPr id="110" name="Shape 107"/>
          <p:cNvSpPr/>
          <p:nvPr/>
        </p:nvSpPr>
        <p:spPr>
          <a:xfrm>
            <a:off x="6988175" y="7493096"/>
            <a:ext cx="38100" cy="381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111" name="Text 108"/>
          <p:cNvSpPr/>
          <p:nvPr/>
        </p:nvSpPr>
        <p:spPr>
          <a:xfrm>
            <a:off x="7083425" y="7445471"/>
            <a:ext cx="92551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YouTube transcripts</a:t>
            </a:r>
            <a:endParaRPr lang="en-US" sz="750" dirty="0"/>
          </a:p>
        </p:txBody>
      </p:sp>
      <p:sp>
        <p:nvSpPr>
          <p:cNvPr id="112" name="Shape 109"/>
          <p:cNvSpPr/>
          <p:nvPr/>
        </p:nvSpPr>
        <p:spPr>
          <a:xfrm>
            <a:off x="2146300" y="8032849"/>
            <a:ext cx="1504950" cy="688975"/>
          </a:xfrm>
          <a:prstGeom prst="roundRect">
            <a:avLst>
              <a:gd name="adj" fmla="val 15207"/>
            </a:avLst>
          </a:prstGeom>
          <a:solidFill>
            <a:srgbClr val="F472B6">
              <a:alpha val="7000"/>
            </a:srgbClr>
          </a:solidFill>
          <a:ln/>
        </p:spPr>
      </p:sp>
      <p:sp>
        <p:nvSpPr>
          <p:cNvPr id="113" name="Shape 110"/>
          <p:cNvSpPr/>
          <p:nvPr/>
        </p:nvSpPr>
        <p:spPr>
          <a:xfrm>
            <a:off x="2146300" y="8715474"/>
            <a:ext cx="1504950" cy="9525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114" name="Shape 111"/>
          <p:cNvSpPr/>
          <p:nvPr/>
        </p:nvSpPr>
        <p:spPr>
          <a:xfrm>
            <a:off x="2146300" y="8032849"/>
            <a:ext cx="1504950" cy="1905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115" name="Shape 112"/>
          <p:cNvSpPr/>
          <p:nvPr/>
        </p:nvSpPr>
        <p:spPr>
          <a:xfrm>
            <a:off x="2146300" y="8032849"/>
            <a:ext cx="9525" cy="688975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116" name="Shape 113"/>
          <p:cNvSpPr/>
          <p:nvPr/>
        </p:nvSpPr>
        <p:spPr>
          <a:xfrm>
            <a:off x="3644900" y="8032849"/>
            <a:ext cx="9525" cy="688975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117" name="Text 114"/>
          <p:cNvSpPr/>
          <p:nvPr/>
        </p:nvSpPr>
        <p:spPr>
          <a:xfrm>
            <a:off x="2266950" y="8147149"/>
            <a:ext cx="139001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 Push</a:t>
            </a:r>
            <a:endParaRPr lang="en-US" sz="938" dirty="0"/>
          </a:p>
        </p:txBody>
      </p:sp>
      <p:sp>
        <p:nvSpPr>
          <p:cNvPr id="118" name="Text 115"/>
          <p:cNvSpPr/>
          <p:nvPr/>
        </p:nvSpPr>
        <p:spPr>
          <a:xfrm>
            <a:off x="2266950" y="8331296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472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FCM / APNS</a:t>
            </a:r>
            <a:endParaRPr lang="en-US" sz="713" dirty="0"/>
          </a:p>
        </p:txBody>
      </p:sp>
      <p:sp>
        <p:nvSpPr>
          <p:cNvPr id="119" name="Shape 116"/>
          <p:cNvSpPr/>
          <p:nvPr/>
        </p:nvSpPr>
        <p:spPr>
          <a:xfrm>
            <a:off x="3937000" y="8032849"/>
            <a:ext cx="1504950" cy="688975"/>
          </a:xfrm>
          <a:prstGeom prst="roundRect">
            <a:avLst>
              <a:gd name="adj" fmla="val 15207"/>
            </a:avLst>
          </a:prstGeom>
          <a:solidFill>
            <a:srgbClr val="A78BFA">
              <a:alpha val="7000"/>
            </a:srgbClr>
          </a:solidFill>
          <a:ln/>
        </p:spPr>
      </p:sp>
      <p:sp>
        <p:nvSpPr>
          <p:cNvPr id="120" name="Shape 117"/>
          <p:cNvSpPr/>
          <p:nvPr/>
        </p:nvSpPr>
        <p:spPr>
          <a:xfrm>
            <a:off x="3937000" y="8715474"/>
            <a:ext cx="1504950" cy="9525"/>
          </a:xfrm>
          <a:prstGeom prst="rect">
            <a:avLst/>
          </a:prstGeom>
          <a:solidFill>
            <a:srgbClr val="A78BFA">
              <a:alpha val="24000"/>
            </a:srgbClr>
          </a:solidFill>
          <a:ln/>
        </p:spPr>
      </p:sp>
      <p:sp>
        <p:nvSpPr>
          <p:cNvPr id="121" name="Shape 118"/>
          <p:cNvSpPr/>
          <p:nvPr/>
        </p:nvSpPr>
        <p:spPr>
          <a:xfrm>
            <a:off x="3937000" y="8032849"/>
            <a:ext cx="1504950" cy="1905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22" name="Shape 119"/>
          <p:cNvSpPr/>
          <p:nvPr/>
        </p:nvSpPr>
        <p:spPr>
          <a:xfrm>
            <a:off x="3937000" y="8032849"/>
            <a:ext cx="9525" cy="688975"/>
          </a:xfrm>
          <a:prstGeom prst="rect">
            <a:avLst/>
          </a:prstGeom>
          <a:solidFill>
            <a:srgbClr val="A78BFA">
              <a:alpha val="24000"/>
            </a:srgbClr>
          </a:solidFill>
          <a:ln/>
        </p:spPr>
      </p:sp>
      <p:sp>
        <p:nvSpPr>
          <p:cNvPr id="123" name="Shape 120"/>
          <p:cNvSpPr/>
          <p:nvPr/>
        </p:nvSpPr>
        <p:spPr>
          <a:xfrm>
            <a:off x="5435600" y="8032849"/>
            <a:ext cx="9525" cy="688975"/>
          </a:xfrm>
          <a:prstGeom prst="rect">
            <a:avLst/>
          </a:prstGeom>
          <a:solidFill>
            <a:srgbClr val="A78BFA">
              <a:alpha val="24000"/>
            </a:srgbClr>
          </a:solidFill>
          <a:ln/>
        </p:spPr>
      </p:sp>
      <p:sp>
        <p:nvSpPr>
          <p:cNvPr id="124" name="Text 121"/>
          <p:cNvSpPr/>
          <p:nvPr/>
        </p:nvSpPr>
        <p:spPr>
          <a:xfrm>
            <a:off x="4057650" y="8147149"/>
            <a:ext cx="139001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</a:t>
            </a:r>
            <a:endParaRPr lang="en-US" sz="938" dirty="0"/>
          </a:p>
        </p:txBody>
      </p:sp>
      <p:sp>
        <p:nvSpPr>
          <p:cNvPr id="125" name="Text 122"/>
          <p:cNvSpPr/>
          <p:nvPr/>
        </p:nvSpPr>
        <p:spPr>
          <a:xfrm>
            <a:off x="4057650" y="8331296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LLaMA 4 Scout</a:t>
            </a:r>
            <a:endParaRPr lang="en-US" sz="713" dirty="0"/>
          </a:p>
        </p:txBody>
      </p:sp>
      <p:sp>
        <p:nvSpPr>
          <p:cNvPr id="126" name="Text 123"/>
          <p:cNvSpPr/>
          <p:nvPr/>
        </p:nvSpPr>
        <p:spPr>
          <a:xfrm>
            <a:off x="4057650" y="8499574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inference</a:t>
            </a:r>
            <a:endParaRPr lang="en-US" sz="750" dirty="0"/>
          </a:p>
        </p:txBody>
      </p:sp>
      <p:sp>
        <p:nvSpPr>
          <p:cNvPr id="127" name="Shape 124"/>
          <p:cNvSpPr/>
          <p:nvPr/>
        </p:nvSpPr>
        <p:spPr>
          <a:xfrm>
            <a:off x="5594350" y="8032849"/>
            <a:ext cx="1504950" cy="688975"/>
          </a:xfrm>
          <a:prstGeom prst="roundRect">
            <a:avLst>
              <a:gd name="adj" fmla="val 15207"/>
            </a:avLst>
          </a:prstGeom>
          <a:solidFill>
            <a:srgbClr val="22D3EE">
              <a:alpha val="7000"/>
            </a:srgbClr>
          </a:solidFill>
          <a:ln/>
        </p:spPr>
      </p:sp>
      <p:sp>
        <p:nvSpPr>
          <p:cNvPr id="128" name="Shape 125"/>
          <p:cNvSpPr/>
          <p:nvPr/>
        </p:nvSpPr>
        <p:spPr>
          <a:xfrm>
            <a:off x="5594350" y="8715474"/>
            <a:ext cx="1504950" cy="9525"/>
          </a:xfrm>
          <a:prstGeom prst="rect">
            <a:avLst/>
          </a:prstGeom>
          <a:solidFill>
            <a:srgbClr val="22D3EE">
              <a:alpha val="24000"/>
            </a:srgbClr>
          </a:solidFill>
          <a:ln/>
        </p:spPr>
      </p:sp>
      <p:sp>
        <p:nvSpPr>
          <p:cNvPr id="129" name="Shape 126"/>
          <p:cNvSpPr/>
          <p:nvPr/>
        </p:nvSpPr>
        <p:spPr>
          <a:xfrm>
            <a:off x="5594350" y="8032849"/>
            <a:ext cx="150495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30" name="Shape 127"/>
          <p:cNvSpPr/>
          <p:nvPr/>
        </p:nvSpPr>
        <p:spPr>
          <a:xfrm>
            <a:off x="5594350" y="8032849"/>
            <a:ext cx="9525" cy="688975"/>
          </a:xfrm>
          <a:prstGeom prst="rect">
            <a:avLst/>
          </a:prstGeom>
          <a:solidFill>
            <a:srgbClr val="22D3EE">
              <a:alpha val="24000"/>
            </a:srgbClr>
          </a:solidFill>
          <a:ln/>
        </p:spPr>
      </p:sp>
      <p:sp>
        <p:nvSpPr>
          <p:cNvPr id="131" name="Shape 128"/>
          <p:cNvSpPr/>
          <p:nvPr/>
        </p:nvSpPr>
        <p:spPr>
          <a:xfrm>
            <a:off x="7092950" y="8032849"/>
            <a:ext cx="9525" cy="688975"/>
          </a:xfrm>
          <a:prstGeom prst="rect">
            <a:avLst/>
          </a:prstGeom>
          <a:solidFill>
            <a:srgbClr val="22D3EE">
              <a:alpha val="24000"/>
            </a:srgbClr>
          </a:solidFill>
          <a:ln/>
        </p:spPr>
      </p:sp>
      <p:sp>
        <p:nvSpPr>
          <p:cNvPr id="132" name="Text 129"/>
          <p:cNvSpPr/>
          <p:nvPr/>
        </p:nvSpPr>
        <p:spPr>
          <a:xfrm>
            <a:off x="5715000" y="8147149"/>
            <a:ext cx="139001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Pinecone</a:t>
            </a:r>
            <a:endParaRPr lang="en-US" sz="938" dirty="0"/>
          </a:p>
        </p:txBody>
      </p:sp>
      <p:sp>
        <p:nvSpPr>
          <p:cNvPr id="133" name="Text 130"/>
          <p:cNvSpPr/>
          <p:nvPr/>
        </p:nvSpPr>
        <p:spPr>
          <a:xfrm>
            <a:off x="5715000" y="8331296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22D3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jain-texts index</a:t>
            </a:r>
            <a:endParaRPr lang="en-US" sz="713" dirty="0"/>
          </a:p>
        </p:txBody>
      </p:sp>
      <p:sp>
        <p:nvSpPr>
          <p:cNvPr id="134" name="Text 131"/>
          <p:cNvSpPr/>
          <p:nvPr/>
        </p:nvSpPr>
        <p:spPr>
          <a:xfrm>
            <a:off x="5715000" y="8499574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DB</a:t>
            </a:r>
            <a:endParaRPr lang="en-US" sz="750" dirty="0"/>
          </a:p>
        </p:txBody>
      </p:sp>
      <p:sp>
        <p:nvSpPr>
          <p:cNvPr id="135" name="Shape 132"/>
          <p:cNvSpPr/>
          <p:nvPr/>
        </p:nvSpPr>
        <p:spPr>
          <a:xfrm>
            <a:off x="7251700" y="8032849"/>
            <a:ext cx="1504950" cy="688975"/>
          </a:xfrm>
          <a:prstGeom prst="roundRect">
            <a:avLst>
              <a:gd name="adj" fmla="val 15207"/>
            </a:avLst>
          </a:prstGeom>
          <a:solidFill>
            <a:srgbClr val="60A5FA">
              <a:alpha val="7000"/>
            </a:srgbClr>
          </a:solidFill>
          <a:ln/>
        </p:spPr>
      </p:sp>
      <p:sp>
        <p:nvSpPr>
          <p:cNvPr id="136" name="Shape 133"/>
          <p:cNvSpPr/>
          <p:nvPr/>
        </p:nvSpPr>
        <p:spPr>
          <a:xfrm>
            <a:off x="7251700" y="8715474"/>
            <a:ext cx="1504950" cy="9525"/>
          </a:xfrm>
          <a:prstGeom prst="rect">
            <a:avLst/>
          </a:prstGeom>
          <a:solidFill>
            <a:srgbClr val="60A5FA">
              <a:alpha val="24000"/>
            </a:srgbClr>
          </a:solidFill>
          <a:ln/>
        </p:spPr>
      </p:sp>
      <p:sp>
        <p:nvSpPr>
          <p:cNvPr id="137" name="Shape 134"/>
          <p:cNvSpPr/>
          <p:nvPr/>
        </p:nvSpPr>
        <p:spPr>
          <a:xfrm>
            <a:off x="7251700" y="8032849"/>
            <a:ext cx="1504950" cy="1905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38" name="Shape 135"/>
          <p:cNvSpPr/>
          <p:nvPr/>
        </p:nvSpPr>
        <p:spPr>
          <a:xfrm>
            <a:off x="7251700" y="8032849"/>
            <a:ext cx="9525" cy="688975"/>
          </a:xfrm>
          <a:prstGeom prst="rect">
            <a:avLst/>
          </a:prstGeom>
          <a:solidFill>
            <a:srgbClr val="60A5FA">
              <a:alpha val="24000"/>
            </a:srgbClr>
          </a:solidFill>
          <a:ln/>
        </p:spPr>
      </p:sp>
      <p:sp>
        <p:nvSpPr>
          <p:cNvPr id="139" name="Shape 136"/>
          <p:cNvSpPr/>
          <p:nvPr/>
        </p:nvSpPr>
        <p:spPr>
          <a:xfrm>
            <a:off x="8750300" y="8032849"/>
            <a:ext cx="9525" cy="688975"/>
          </a:xfrm>
          <a:prstGeom prst="rect">
            <a:avLst/>
          </a:prstGeom>
          <a:solidFill>
            <a:srgbClr val="60A5FA">
              <a:alpha val="24000"/>
            </a:srgbClr>
          </a:solidFill>
          <a:ln/>
        </p:spPr>
      </p:sp>
      <p:sp>
        <p:nvSpPr>
          <p:cNvPr id="140" name="Text 137"/>
          <p:cNvSpPr/>
          <p:nvPr/>
        </p:nvSpPr>
        <p:spPr>
          <a:xfrm>
            <a:off x="7372350" y="8147149"/>
            <a:ext cx="139001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</a:t>
            </a:r>
            <a:endParaRPr lang="en-US" sz="938" dirty="0"/>
          </a:p>
        </p:txBody>
      </p:sp>
      <p:sp>
        <p:nvSpPr>
          <p:cNvPr id="141" name="Text 138"/>
          <p:cNvSpPr/>
          <p:nvPr/>
        </p:nvSpPr>
        <p:spPr>
          <a:xfrm>
            <a:off x="7372350" y="8331296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0A5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embedding-001</a:t>
            </a:r>
            <a:endParaRPr lang="en-US" sz="713" dirty="0"/>
          </a:p>
        </p:txBody>
      </p:sp>
      <p:sp>
        <p:nvSpPr>
          <p:cNvPr id="142" name="Text 139"/>
          <p:cNvSpPr/>
          <p:nvPr/>
        </p:nvSpPr>
        <p:spPr>
          <a:xfrm>
            <a:off x="7372350" y="8499574"/>
            <a:ext cx="1390015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Embeddings</a:t>
            </a:r>
            <a:endParaRPr lang="en-US" sz="750" dirty="0"/>
          </a:p>
        </p:txBody>
      </p:sp>
      <p:sp>
        <p:nvSpPr>
          <p:cNvPr id="143" name="Shape 140"/>
          <p:cNvSpPr/>
          <p:nvPr/>
        </p:nvSpPr>
        <p:spPr>
          <a:xfrm>
            <a:off x="768350" y="9064721"/>
            <a:ext cx="7988300" cy="400050"/>
          </a:xfrm>
          <a:prstGeom prst="roundRect">
            <a:avLst>
              <a:gd name="adj" fmla="val 26190"/>
            </a:avLst>
          </a:prstGeom>
          <a:solidFill>
            <a:srgbClr val="F87171">
              <a:alpha val="7000"/>
            </a:srgbClr>
          </a:solidFill>
          <a:ln/>
        </p:spPr>
      </p:sp>
      <p:sp>
        <p:nvSpPr>
          <p:cNvPr id="144" name="Shape 141"/>
          <p:cNvSpPr/>
          <p:nvPr/>
        </p:nvSpPr>
        <p:spPr>
          <a:xfrm>
            <a:off x="768350" y="9458421"/>
            <a:ext cx="7988300" cy="9525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45" name="Shape 142"/>
          <p:cNvSpPr/>
          <p:nvPr/>
        </p:nvSpPr>
        <p:spPr>
          <a:xfrm>
            <a:off x="768350" y="9064721"/>
            <a:ext cx="7988300" cy="9525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46" name="Shape 143"/>
          <p:cNvSpPr/>
          <p:nvPr/>
        </p:nvSpPr>
        <p:spPr>
          <a:xfrm>
            <a:off x="768350" y="9064721"/>
            <a:ext cx="25400" cy="400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7" name="Shape 144"/>
          <p:cNvSpPr/>
          <p:nvPr/>
        </p:nvSpPr>
        <p:spPr>
          <a:xfrm>
            <a:off x="8750300" y="9064721"/>
            <a:ext cx="9525" cy="400050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48" name="Text 145"/>
          <p:cNvSpPr/>
          <p:nvPr/>
        </p:nvSpPr>
        <p:spPr>
          <a:xfrm>
            <a:off x="965200" y="9175849"/>
            <a:ext cx="4280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Redis</a:t>
            </a:r>
            <a:endParaRPr lang="en-US" sz="1050" dirty="0"/>
          </a:p>
        </p:txBody>
      </p:sp>
      <p:sp>
        <p:nvSpPr>
          <p:cNvPr id="149" name="Shape 146"/>
          <p:cNvSpPr/>
          <p:nvPr/>
        </p:nvSpPr>
        <p:spPr>
          <a:xfrm>
            <a:off x="1412280" y="9194899"/>
            <a:ext cx="419100" cy="158750"/>
          </a:xfrm>
          <a:prstGeom prst="roundRect">
            <a:avLst>
              <a:gd name="adj" fmla="val 30000"/>
            </a:avLst>
          </a:prstGeom>
          <a:solidFill>
            <a:srgbClr val="F87171">
              <a:alpha val="12000"/>
            </a:srgbClr>
          </a:solidFill>
          <a:ln/>
        </p:spPr>
      </p:sp>
      <p:sp>
        <p:nvSpPr>
          <p:cNvPr id="150" name="Text 147"/>
          <p:cNvSpPr/>
          <p:nvPr/>
        </p:nvSpPr>
        <p:spPr>
          <a:xfrm>
            <a:off x="1478955" y="9213949"/>
            <a:ext cx="3619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71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:6379</a:t>
            </a:r>
            <a:endParaRPr lang="en-US" sz="750" dirty="0"/>
          </a:p>
        </p:txBody>
      </p:sp>
      <p:sp>
        <p:nvSpPr>
          <p:cNvPr id="151" name="Text 148"/>
          <p:cNvSpPr/>
          <p:nvPr/>
        </p:nvSpPr>
        <p:spPr>
          <a:xfrm>
            <a:off x="1926630" y="9213949"/>
            <a:ext cx="134570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7E8A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SHARED BY ALL SERVICES</a:t>
            </a:r>
            <a:endParaRPr lang="en-US" sz="750" dirty="0"/>
          </a:p>
        </p:txBody>
      </p:sp>
      <p:sp>
        <p:nvSpPr>
          <p:cNvPr id="152" name="Text 149"/>
          <p:cNvSpPr/>
          <p:nvPr/>
        </p:nvSpPr>
        <p:spPr>
          <a:xfrm>
            <a:off x="7134126" y="9194899"/>
            <a:ext cx="158919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limiting · AOF persistence</a:t>
            </a:r>
            <a:endParaRPr lang="en-US" sz="825" dirty="0"/>
          </a:p>
        </p:txBody>
      </p:sp>
      <p:sp>
        <p:nvSpPr>
          <p:cNvPr id="153" name="Shape 150"/>
          <p:cNvSpPr/>
          <p:nvPr/>
        </p:nvSpPr>
        <p:spPr>
          <a:xfrm>
            <a:off x="3607594" y="3083719"/>
            <a:ext cx="417513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680619" y="3109119"/>
            <a:ext cx="347663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</a:t>
            </a:r>
            <a:endParaRPr lang="en-US" sz="713" dirty="0"/>
          </a:p>
        </p:txBody>
      </p:sp>
      <p:sp>
        <p:nvSpPr>
          <p:cNvPr id="155" name="Shape 152"/>
          <p:cNvSpPr/>
          <p:nvPr/>
        </p:nvSpPr>
        <p:spPr>
          <a:xfrm>
            <a:off x="5493544" y="3083719"/>
            <a:ext cx="417513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56" name="Text 153"/>
          <p:cNvSpPr/>
          <p:nvPr/>
        </p:nvSpPr>
        <p:spPr>
          <a:xfrm>
            <a:off x="5566569" y="3109119"/>
            <a:ext cx="347663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HTTPS</a:t>
            </a:r>
            <a:endParaRPr lang="en-US" sz="713" dirty="0"/>
          </a:p>
        </p:txBody>
      </p:sp>
      <p:sp>
        <p:nvSpPr>
          <p:cNvPr id="157" name="Shape 154"/>
          <p:cNvSpPr/>
          <p:nvPr/>
        </p:nvSpPr>
        <p:spPr>
          <a:xfrm>
            <a:off x="4306243" y="4055269"/>
            <a:ext cx="906165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58" name="Text 155"/>
          <p:cNvSpPr/>
          <p:nvPr/>
        </p:nvSpPr>
        <p:spPr>
          <a:xfrm>
            <a:off x="4379268" y="4080669"/>
            <a:ext cx="836315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rewrite /api/*</a:t>
            </a:r>
            <a:endParaRPr lang="en-US" sz="713" dirty="0"/>
          </a:p>
        </p:txBody>
      </p:sp>
      <p:sp>
        <p:nvSpPr>
          <p:cNvPr id="159" name="Shape 156"/>
          <p:cNvSpPr/>
          <p:nvPr/>
        </p:nvSpPr>
        <p:spPr>
          <a:xfrm>
            <a:off x="4333379" y="5036344"/>
            <a:ext cx="851892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4406404" y="5061744"/>
            <a:ext cx="782042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 · HTTP/2</a:t>
            </a:r>
            <a:endParaRPr lang="en-US" sz="713" dirty="0"/>
          </a:p>
        </p:txBody>
      </p:sp>
      <p:sp>
        <p:nvSpPr>
          <p:cNvPr id="161" name="Shape 158"/>
          <p:cNvSpPr/>
          <p:nvPr/>
        </p:nvSpPr>
        <p:spPr>
          <a:xfrm>
            <a:off x="4919663" y="6322219"/>
            <a:ext cx="688975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992688" y="6347619"/>
            <a:ext cx="619125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DNS</a:t>
            </a:r>
            <a:endParaRPr lang="en-US" sz="713" dirty="0"/>
          </a:p>
        </p:txBody>
      </p:sp>
      <p:sp>
        <p:nvSpPr>
          <p:cNvPr id="163" name="Shape 160"/>
          <p:cNvSpPr/>
          <p:nvPr/>
        </p:nvSpPr>
        <p:spPr>
          <a:xfrm>
            <a:off x="5920730" y="7779544"/>
            <a:ext cx="363240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5993755" y="7804944"/>
            <a:ext cx="293390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B9C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REST</a:t>
            </a:r>
            <a:endParaRPr lang="en-US" sz="713" dirty="0"/>
          </a:p>
        </p:txBody>
      </p:sp>
      <p:sp>
        <p:nvSpPr>
          <p:cNvPr id="165" name="Shape 162"/>
          <p:cNvSpPr/>
          <p:nvPr/>
        </p:nvSpPr>
        <p:spPr>
          <a:xfrm>
            <a:off x="4282430" y="7779544"/>
            <a:ext cx="363240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166" name="Text 163"/>
          <p:cNvSpPr/>
          <p:nvPr/>
        </p:nvSpPr>
        <p:spPr>
          <a:xfrm>
            <a:off x="4355455" y="7804944"/>
            <a:ext cx="293390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B9CC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push</a:t>
            </a:r>
            <a:endParaRPr lang="en-US" sz="713" dirty="0"/>
          </a:p>
        </p:txBody>
      </p:sp>
      <p:sp>
        <p:nvSpPr>
          <p:cNvPr id="167" name="Shape 164"/>
          <p:cNvSpPr/>
          <p:nvPr/>
        </p:nvSpPr>
        <p:spPr>
          <a:xfrm>
            <a:off x="768350" y="9655271"/>
            <a:ext cx="7988300" cy="9525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8350" y="9820368"/>
            <a:ext cx="266700" cy="76200"/>
          </a:xfrm>
          <a:prstGeom prst="rect">
            <a:avLst/>
          </a:prstGeom>
        </p:spPr>
      </p:pic>
      <p:sp>
        <p:nvSpPr>
          <p:cNvPr id="169" name="Text 165"/>
          <p:cNvSpPr/>
          <p:nvPr/>
        </p:nvSpPr>
        <p:spPr>
          <a:xfrm>
            <a:off x="1101725" y="9794974"/>
            <a:ext cx="988219" cy="16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Network / proxy hop</a:t>
            </a:r>
            <a:endParaRPr lang="en-US" sz="788" dirty="0"/>
          </a:p>
        </p:txBody>
      </p:sp>
      <p:pic>
        <p:nvPicPr>
          <p:cNvPr id="17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23294" y="9820368"/>
            <a:ext cx="266700" cy="76200"/>
          </a:xfrm>
          <a:prstGeom prst="rect">
            <a:avLst/>
          </a:prstGeom>
        </p:spPr>
      </p:pic>
      <p:sp>
        <p:nvSpPr>
          <p:cNvPr id="171" name="Text 166"/>
          <p:cNvSpPr/>
          <p:nvPr/>
        </p:nvSpPr>
        <p:spPr>
          <a:xfrm>
            <a:off x="2556669" y="9794974"/>
            <a:ext cx="1444724" cy="16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API call (shared infra)</a:t>
            </a:r>
            <a:endParaRPr lang="en-US" sz="788" dirty="0"/>
          </a:p>
        </p:txBody>
      </p:sp>
      <p:sp>
        <p:nvSpPr>
          <p:cNvPr id="172" name="Shape 167"/>
          <p:cNvSpPr/>
          <p:nvPr/>
        </p:nvSpPr>
        <p:spPr>
          <a:xfrm>
            <a:off x="533400" y="12960344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3" name="Text 168"/>
          <p:cNvSpPr/>
          <p:nvPr/>
        </p:nvSpPr>
        <p:spPr>
          <a:xfrm>
            <a:off x="533400" y="13042897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174" name="Text 169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</a:t>
            </a:r>
            <a:endParaRPr lang="en-US" sz="78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7"/>
            <a:ext cx="222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4445" y="920744"/>
            <a:ext cx="215792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 Inventory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694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container runs FastAPI on its own port behind the gateway. Ports, frameworks and the key third-party libraries that define each service's behaviour.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88"/>
            <a:ext cx="1006376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2086763"/>
            <a:ext cx="1006376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889913"/>
            <a:ext cx="873026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539776" y="1804188"/>
            <a:ext cx="52387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539776" y="2086763"/>
            <a:ext cx="52387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1644551" y="1889913"/>
            <a:ext cx="390525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PORT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063651" y="1804188"/>
            <a:ext cx="926703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2063651" y="2086763"/>
            <a:ext cx="926703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2168426" y="1889913"/>
            <a:ext cx="793353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FRAMEWORK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990354" y="1804188"/>
            <a:ext cx="3883223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2990354" y="2086763"/>
            <a:ext cx="3883223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3095129" y="1889913"/>
            <a:ext cx="379017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LIBRARIES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873578" y="1804188"/>
            <a:ext cx="2118023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22" name="Shape 20"/>
          <p:cNvSpPr/>
          <p:nvPr/>
        </p:nvSpPr>
        <p:spPr>
          <a:xfrm>
            <a:off x="6873578" y="2086763"/>
            <a:ext cx="2118023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3" name="Text 21"/>
          <p:cNvSpPr/>
          <p:nvPr/>
        </p:nvSpPr>
        <p:spPr>
          <a:xfrm>
            <a:off x="6978353" y="1889913"/>
            <a:ext cx="1984673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RESPONSIBILITY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33400" y="2563016"/>
            <a:ext cx="100637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" y="2191541"/>
            <a:ext cx="8730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39776" y="2563016"/>
            <a:ext cx="5238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7" name="Text 25"/>
          <p:cNvSpPr/>
          <p:nvPr/>
        </p:nvSpPr>
        <p:spPr>
          <a:xfrm>
            <a:off x="1644551" y="2191541"/>
            <a:ext cx="39052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:8000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2063651" y="2563016"/>
            <a:ext cx="92670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2168426" y="2191541"/>
            <a:ext cx="7933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0.115+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2990354" y="2563016"/>
            <a:ext cx="38832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1" name="Text 29"/>
          <p:cNvSpPr/>
          <p:nvPr/>
        </p:nvSpPr>
        <p:spPr>
          <a:xfrm>
            <a:off x="3095129" y="2191541"/>
            <a:ext cx="379017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httpx 0.27 · pydantic-settings 2.4 · sqlalchemy 2.0</a:t>
            </a:r>
            <a:endParaRPr lang="en-US" sz="788" dirty="0"/>
          </a:p>
        </p:txBody>
      </p:sp>
      <p:sp>
        <p:nvSpPr>
          <p:cNvPr id="32" name="Shape 30"/>
          <p:cNvSpPr/>
          <p:nvPr/>
        </p:nvSpPr>
        <p:spPr>
          <a:xfrm>
            <a:off x="6873578" y="2563016"/>
            <a:ext cx="21180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3" name="Text 31"/>
          <p:cNvSpPr/>
          <p:nvPr/>
        </p:nvSpPr>
        <p:spPr>
          <a:xfrm>
            <a:off x="6978353" y="2191541"/>
            <a:ext cx="198467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 verify, reverse proxy to 4 services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533400" y="3020219"/>
            <a:ext cx="100637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5" name="Text 33"/>
          <p:cNvSpPr/>
          <p:nvPr/>
        </p:nvSpPr>
        <p:spPr>
          <a:xfrm>
            <a:off x="638175" y="2655094"/>
            <a:ext cx="873026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539776" y="3020219"/>
            <a:ext cx="5238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7" name="Text 35"/>
          <p:cNvSpPr/>
          <p:nvPr/>
        </p:nvSpPr>
        <p:spPr>
          <a:xfrm>
            <a:off x="1644551" y="2655094"/>
            <a:ext cx="390525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:8001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2063651" y="3020219"/>
            <a:ext cx="92670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9" name="Text 37"/>
          <p:cNvSpPr/>
          <p:nvPr/>
        </p:nvSpPr>
        <p:spPr>
          <a:xfrm>
            <a:off x="2168426" y="2655094"/>
            <a:ext cx="79335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0.115+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2990354" y="3020219"/>
            <a:ext cx="38832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1" name="Text 39"/>
          <p:cNvSpPr/>
          <p:nvPr/>
        </p:nvSpPr>
        <p:spPr>
          <a:xfrm>
            <a:off x="3095129" y="2655094"/>
            <a:ext cx="3790170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argon2-cffi 23 · sqlalchemy 2.0 · psycopg 3.2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6873578" y="3020219"/>
            <a:ext cx="21180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3" name="Text 41"/>
          <p:cNvSpPr/>
          <p:nvPr/>
        </p:nvSpPr>
        <p:spPr>
          <a:xfrm>
            <a:off x="6978353" y="2655094"/>
            <a:ext cx="1984673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Users, JWT issuance, push tokens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533400" y="3501827"/>
            <a:ext cx="100637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638175" y="3112294"/>
            <a:ext cx="873026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539776" y="3501827"/>
            <a:ext cx="5238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7" name="Text 45"/>
          <p:cNvSpPr/>
          <p:nvPr/>
        </p:nvSpPr>
        <p:spPr>
          <a:xfrm>
            <a:off x="1644551" y="3112294"/>
            <a:ext cx="39052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:8002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2063651" y="3501827"/>
            <a:ext cx="92670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9" name="Text 47"/>
          <p:cNvSpPr/>
          <p:nvPr/>
        </p:nvSpPr>
        <p:spPr>
          <a:xfrm>
            <a:off x="2168426" y="3112294"/>
            <a:ext cx="79335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0.115+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2990354" y="3501827"/>
            <a:ext cx="38832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1" name="Text 49"/>
          <p:cNvSpPr/>
          <p:nvPr/>
        </p:nvSpPr>
        <p:spPr>
          <a:xfrm>
            <a:off x="3095129" y="3112294"/>
            <a:ext cx="3790170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httpx · redis 5.0 · sqlalchemy 2.0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6873578" y="3501827"/>
            <a:ext cx="21180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3" name="Text 51"/>
          <p:cNvSpPr/>
          <p:nvPr/>
        </p:nvSpPr>
        <p:spPr>
          <a:xfrm>
            <a:off x="6978353" y="3112294"/>
            <a:ext cx="198467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Bookings, donations, memberships, payments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533400" y="3983434"/>
            <a:ext cx="100637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5" name="Text 53"/>
          <p:cNvSpPr/>
          <p:nvPr/>
        </p:nvSpPr>
        <p:spPr>
          <a:xfrm>
            <a:off x="638175" y="3593902"/>
            <a:ext cx="873026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539776" y="3983434"/>
            <a:ext cx="5238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7" name="Text 55"/>
          <p:cNvSpPr/>
          <p:nvPr/>
        </p:nvSpPr>
        <p:spPr>
          <a:xfrm>
            <a:off x="1644551" y="3593902"/>
            <a:ext cx="39052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:8003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2063651" y="3983434"/>
            <a:ext cx="92670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9" name="Text 57"/>
          <p:cNvSpPr/>
          <p:nvPr/>
        </p:nvSpPr>
        <p:spPr>
          <a:xfrm>
            <a:off x="2168426" y="3593902"/>
            <a:ext cx="79335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0.115+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2990354" y="3983434"/>
            <a:ext cx="38832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1" name="Text 59"/>
          <p:cNvSpPr/>
          <p:nvPr/>
        </p:nvSpPr>
        <p:spPr>
          <a:xfrm>
            <a:off x="3095129" y="3593902"/>
            <a:ext cx="3790170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httpx · redis 5.0 · sqlalchemy 2.0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6873578" y="3983434"/>
            <a:ext cx="21180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3" name="Text 61"/>
          <p:cNvSpPr/>
          <p:nvPr/>
        </p:nvSpPr>
        <p:spPr>
          <a:xfrm>
            <a:off x="6978353" y="3593902"/>
            <a:ext cx="198467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Slots, news, events, finance, wall of fame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533400" y="4465042"/>
            <a:ext cx="100637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5" name="Text 63"/>
          <p:cNvSpPr/>
          <p:nvPr/>
        </p:nvSpPr>
        <p:spPr>
          <a:xfrm>
            <a:off x="638175" y="4075509"/>
            <a:ext cx="873026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 AI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539776" y="4465042"/>
            <a:ext cx="5238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7" name="Text 65"/>
          <p:cNvSpPr/>
          <p:nvPr/>
        </p:nvSpPr>
        <p:spPr>
          <a:xfrm>
            <a:off x="1644551" y="4075509"/>
            <a:ext cx="390525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:8004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2063651" y="4465042"/>
            <a:ext cx="92670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9" name="Text 67"/>
          <p:cNvSpPr/>
          <p:nvPr/>
        </p:nvSpPr>
        <p:spPr>
          <a:xfrm>
            <a:off x="2168426" y="4075509"/>
            <a:ext cx="79335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FastAPI 0.115+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2990354" y="4465042"/>
            <a:ext cx="38832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1" name="Text 69"/>
          <p:cNvSpPr/>
          <p:nvPr/>
        </p:nvSpPr>
        <p:spPr>
          <a:xfrm>
            <a:off x="3095129" y="4075509"/>
            <a:ext cx="3790170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pinecone 5 · httpx · youtube-transcript-api 0.7 · yt-dlp · openai-whisper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6873578" y="4465042"/>
            <a:ext cx="2118023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3" name="Text 71"/>
          <p:cNvSpPr/>
          <p:nvPr/>
        </p:nvSpPr>
        <p:spPr>
          <a:xfrm>
            <a:off x="6978353" y="4075509"/>
            <a:ext cx="1984673" cy="3419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chat, RAG, agents, YouTube transcripts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533400" y="12960348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73"/>
          <p:cNvSpPr/>
          <p:nvPr/>
        </p:nvSpPr>
        <p:spPr>
          <a:xfrm>
            <a:off x="533400" y="13042897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76" name="Text 74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3</a:t>
            </a:r>
            <a:endParaRPr lang="en-US" sz="788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7"/>
            <a:ext cx="241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3395" y="920748"/>
            <a:ext cx="466783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 Routing — Phone to Backend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698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request hops phone → Vercel edge → Cloudflare tunnel → gateway → service, and the response returns along the same path. The gateway verifies the JWT and injects identity headers before proxying.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92"/>
            <a:ext cx="8458200" cy="6089650"/>
          </a:xfrm>
          <a:prstGeom prst="roundRect">
            <a:avLst>
              <a:gd name="adj" fmla="val 2503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2020091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2 · REQUEST FLOW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095500" y="2274094"/>
            <a:ext cx="5334000" cy="568325"/>
          </a:xfrm>
          <a:prstGeom prst="roundRect">
            <a:avLst>
              <a:gd name="adj" fmla="val 18436"/>
            </a:avLst>
          </a:prstGeom>
          <a:solidFill>
            <a:srgbClr val="94A3B8">
              <a:alpha val="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2095500" y="2836069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2274094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095500" y="2274094"/>
            <a:ext cx="25400" cy="5683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5" name="Shape 13"/>
          <p:cNvSpPr/>
          <p:nvPr/>
        </p:nvSpPr>
        <p:spPr>
          <a:xfrm>
            <a:off x="7423150" y="2274094"/>
            <a:ext cx="9525" cy="5683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92350" y="2434428"/>
            <a:ext cx="247650" cy="247650"/>
          </a:xfrm>
          <a:prstGeom prst="ellipse">
            <a:avLst/>
          </a:prstGeom>
          <a:solidFill>
            <a:srgbClr val="E87722">
              <a:alpha val="15000"/>
            </a:srgbClr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88096" y="2478881"/>
            <a:ext cx="13225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673350" y="2394742"/>
            <a:ext cx="5036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Mobile App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73350" y="2594767"/>
            <a:ext cx="50361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fetch("/api/v1/auth/signin")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4752975" y="2890042"/>
            <a:ext cx="19050" cy="123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18050" y="3013867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3124991"/>
            <a:ext cx="5334000" cy="568325"/>
          </a:xfrm>
          <a:prstGeom prst="roundRect">
            <a:avLst>
              <a:gd name="adj" fmla="val 18436"/>
            </a:avLst>
          </a:prstGeom>
          <a:solidFill>
            <a:srgbClr val="94A3B8">
              <a:alpha val="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095500" y="3686966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3124991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3124991"/>
            <a:ext cx="25400" cy="5683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Shape 24"/>
          <p:cNvSpPr/>
          <p:nvPr/>
        </p:nvSpPr>
        <p:spPr>
          <a:xfrm>
            <a:off x="7423150" y="3124991"/>
            <a:ext cx="9525" cy="5683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92350" y="3285330"/>
            <a:ext cx="247650" cy="247650"/>
          </a:xfrm>
          <a:prstGeom prst="ellipse">
            <a:avLst/>
          </a:prstGeom>
          <a:solidFill>
            <a:srgbClr val="E87722">
              <a:alpha val="15000"/>
            </a:srgbClr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79365" y="3329778"/>
            <a:ext cx="14982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2673350" y="3245644"/>
            <a:ext cx="5036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 Edge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3350" y="3445669"/>
            <a:ext cx="50361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rewrite → tunnel URL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4752975" y="3740944"/>
            <a:ext cx="19050" cy="123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2" name="Shape 30"/>
          <p:cNvSpPr/>
          <p:nvPr/>
        </p:nvSpPr>
        <p:spPr>
          <a:xfrm>
            <a:off x="4718050" y="3864769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3" name="Shape 31"/>
          <p:cNvSpPr/>
          <p:nvPr/>
        </p:nvSpPr>
        <p:spPr>
          <a:xfrm>
            <a:off x="2095500" y="3975892"/>
            <a:ext cx="5334000" cy="568325"/>
          </a:xfrm>
          <a:prstGeom prst="roundRect">
            <a:avLst>
              <a:gd name="adj" fmla="val 18436"/>
            </a:avLst>
          </a:prstGeom>
          <a:solidFill>
            <a:srgbClr val="94A3B8">
              <a:alpha val="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4537867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095500" y="3975892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95500" y="3975892"/>
            <a:ext cx="25400" cy="5683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7" name="Shape 35"/>
          <p:cNvSpPr/>
          <p:nvPr/>
        </p:nvSpPr>
        <p:spPr>
          <a:xfrm>
            <a:off x="7423150" y="3975892"/>
            <a:ext cx="9525" cy="5683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92350" y="4136231"/>
            <a:ext cx="247650" cy="247650"/>
          </a:xfrm>
          <a:prstGeom prst="ellipse">
            <a:avLst/>
          </a:prstGeom>
          <a:solidFill>
            <a:srgbClr val="E87722">
              <a:alpha val="15000"/>
            </a:srgbClr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8472" y="4180680"/>
            <a:ext cx="15150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2673350" y="4096541"/>
            <a:ext cx="5036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Cloudflare Tunnel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73350" y="4296566"/>
            <a:ext cx="50361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 → localhost:8000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4752975" y="4591841"/>
            <a:ext cx="19050" cy="123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3" name="Shape 41"/>
          <p:cNvSpPr/>
          <p:nvPr/>
        </p:nvSpPr>
        <p:spPr>
          <a:xfrm>
            <a:off x="4718050" y="4715666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4" name="Shape 42"/>
          <p:cNvSpPr/>
          <p:nvPr/>
        </p:nvSpPr>
        <p:spPr>
          <a:xfrm>
            <a:off x="2095500" y="4826794"/>
            <a:ext cx="5334000" cy="568325"/>
          </a:xfrm>
          <a:prstGeom prst="roundRect">
            <a:avLst>
              <a:gd name="adj" fmla="val 18436"/>
            </a:avLst>
          </a:prstGeom>
          <a:solidFill>
            <a:srgbClr val="94A3B8">
              <a:alpha val="6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2095500" y="5388769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2095500" y="4826794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2095500" y="4826794"/>
            <a:ext cx="25400" cy="5683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8" name="Shape 46"/>
          <p:cNvSpPr/>
          <p:nvPr/>
        </p:nvSpPr>
        <p:spPr>
          <a:xfrm>
            <a:off x="7423150" y="4826794"/>
            <a:ext cx="9525" cy="5683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2292350" y="4987128"/>
            <a:ext cx="247650" cy="247650"/>
          </a:xfrm>
          <a:prstGeom prst="ellipse">
            <a:avLst/>
          </a:prstGeom>
          <a:solidFill>
            <a:srgbClr val="E87722">
              <a:alpha val="15000"/>
            </a:srgbClr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76785" y="5031581"/>
            <a:ext cx="15498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2673350" y="4947442"/>
            <a:ext cx="5036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2673350" y="5147467"/>
            <a:ext cx="50361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 JWT · proxy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4752975" y="5442742"/>
            <a:ext cx="19050" cy="123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4" name="Shape 52"/>
          <p:cNvSpPr/>
          <p:nvPr/>
        </p:nvSpPr>
        <p:spPr>
          <a:xfrm>
            <a:off x="4718050" y="5566567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5" name="Shape 53"/>
          <p:cNvSpPr/>
          <p:nvPr/>
        </p:nvSpPr>
        <p:spPr>
          <a:xfrm>
            <a:off x="2095500" y="5677691"/>
            <a:ext cx="5334000" cy="568325"/>
          </a:xfrm>
          <a:prstGeom prst="roundRect">
            <a:avLst>
              <a:gd name="adj" fmla="val 18436"/>
            </a:avLst>
          </a:prstGeom>
          <a:solidFill>
            <a:srgbClr val="94A3B8">
              <a:alpha val="6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2095500" y="6239666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095500" y="5677691"/>
            <a:ext cx="5334000" cy="95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095500" y="5677691"/>
            <a:ext cx="25400" cy="5683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9" name="Shape 57"/>
          <p:cNvSpPr/>
          <p:nvPr/>
        </p:nvSpPr>
        <p:spPr>
          <a:xfrm>
            <a:off x="7423150" y="5677691"/>
            <a:ext cx="9525" cy="568325"/>
          </a:xfrm>
          <a:prstGeom prst="rect">
            <a:avLst/>
          </a:prstGeom>
          <a:solidFill>
            <a:srgbClr val="94A3B8">
              <a:alpha val="16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292350" y="5838030"/>
            <a:ext cx="247650" cy="247650"/>
          </a:xfrm>
          <a:prstGeom prst="ellipse">
            <a:avLst/>
          </a:prstGeom>
          <a:solidFill>
            <a:srgbClr val="E87722">
              <a:alpha val="15000"/>
            </a:srgbClr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78968" y="5882478"/>
            <a:ext cx="15051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975" dirty="0"/>
          </a:p>
        </p:txBody>
      </p:sp>
      <p:sp>
        <p:nvSpPr>
          <p:cNvPr id="62" name="Text 60"/>
          <p:cNvSpPr/>
          <p:nvPr/>
        </p:nvSpPr>
        <p:spPr>
          <a:xfrm>
            <a:off x="2673350" y="5798344"/>
            <a:ext cx="503618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Service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2673350" y="5998369"/>
            <a:ext cx="50361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identity / admin / aagam-mitra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4752975" y="6293644"/>
            <a:ext cx="19050" cy="123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5" name="Shape 63"/>
          <p:cNvSpPr/>
          <p:nvPr/>
        </p:nvSpPr>
        <p:spPr>
          <a:xfrm>
            <a:off x="4718050" y="6417469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6" name="Shape 64"/>
          <p:cNvSpPr/>
          <p:nvPr/>
        </p:nvSpPr>
        <p:spPr>
          <a:xfrm>
            <a:off x="2095500" y="6528592"/>
            <a:ext cx="5334000" cy="368300"/>
          </a:xfrm>
          <a:prstGeom prst="roundRect">
            <a:avLst>
              <a:gd name="adj" fmla="val 28448"/>
            </a:avLst>
          </a:prstGeom>
          <a:solidFill>
            <a:srgbClr val="2DD4BF">
              <a:alpha val="8000"/>
            </a:srgbClr>
          </a:solidFill>
          <a:ln w="6350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93290" y="6639717"/>
            <a:ext cx="51384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7FE9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 travels back the same path ↑</a:t>
            </a:r>
            <a:endParaRPr lang="en-US" sz="863" dirty="0"/>
          </a:p>
        </p:txBody>
      </p:sp>
      <p:sp>
        <p:nvSpPr>
          <p:cNvPr id="68" name="Shape 66"/>
          <p:cNvSpPr/>
          <p:nvPr/>
        </p:nvSpPr>
        <p:spPr>
          <a:xfrm>
            <a:off x="768350" y="7087391"/>
            <a:ext cx="79883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Text 67"/>
          <p:cNvSpPr/>
          <p:nvPr/>
        </p:nvSpPr>
        <p:spPr>
          <a:xfrm>
            <a:off x="768350" y="7227094"/>
            <a:ext cx="878713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JWT payload </a:t>
            </a:r>
            <a:pPr algn="l" indent="0" marL="0">
              <a:buNone/>
            </a:pPr>
            <a:r>
              <a:rPr lang="en-US" sz="825" dirty="0">
                <a:solidFill>
                  <a:srgbClr val="CBD5E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{ sub, role, temple_id, exp } · access 24h · refresh 30d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68350" y="7490617"/>
            <a:ext cx="199225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30" kern="0" dirty="0">
                <a:solidFill>
                  <a:srgbClr val="8595A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HEADERS INJECTED TO DOWNSTREAM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674739" y="7462042"/>
            <a:ext cx="1425277" cy="177800"/>
          </a:xfrm>
          <a:prstGeom prst="roundRect">
            <a:avLst>
              <a:gd name="adj" fmla="val 26786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57289" y="7487442"/>
            <a:ext cx="133637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X-User-Id: usr_abc123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4195267" y="7462042"/>
            <a:ext cx="1365250" cy="177800"/>
          </a:xfrm>
          <a:prstGeom prst="roundRect">
            <a:avLst>
              <a:gd name="adj" fmla="val 26786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277817" y="7487442"/>
            <a:ext cx="127635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X-User-Role: devotee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5655766" y="7462042"/>
            <a:ext cx="1425277" cy="177800"/>
          </a:xfrm>
          <a:prstGeom prst="roundRect">
            <a:avLst>
              <a:gd name="adj" fmla="val 26786"/>
            </a:avLst>
          </a:prstGeom>
          <a:solidFill>
            <a:srgbClr val="E87722">
              <a:alpha val="12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38316" y="7487442"/>
            <a:ext cx="133637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X-Temple-Id: tmpl_001</a:t>
            </a:r>
            <a:endParaRPr lang="en-US" sz="788" dirty="0"/>
          </a:p>
        </p:txBody>
      </p:sp>
      <p:sp>
        <p:nvSpPr>
          <p:cNvPr id="77" name="Shape 75"/>
          <p:cNvSpPr/>
          <p:nvPr/>
        </p:nvSpPr>
        <p:spPr>
          <a:xfrm>
            <a:off x="533400" y="12960348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8" name="Text 76"/>
          <p:cNvSpPr/>
          <p:nvPr/>
        </p:nvSpPr>
        <p:spPr>
          <a:xfrm>
            <a:off x="533400" y="13042897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79" name="Text 77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4</a:t>
            </a:r>
            <a:endParaRPr lang="en-US" sz="7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7"/>
            <a:ext cx="24189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3395" y="920748"/>
            <a:ext cx="43272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Route Table — Gateway → Backend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698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representative slice of the proxy map: which method + path the gateway forwards to which service, and the auth level it enforces first.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45"/>
            <a:ext cx="66675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902220"/>
            <a:ext cx="66675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705370"/>
            <a:ext cx="53340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METHOD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200150" y="1619645"/>
            <a:ext cx="500003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0150" y="1902220"/>
            <a:ext cx="500003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1304925" y="1705370"/>
            <a:ext cx="4940481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PATH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200180" y="1619645"/>
            <a:ext cx="202942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0180" y="1902220"/>
            <a:ext cx="202942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6304955" y="1705370"/>
            <a:ext cx="189607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PROXIED TO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229600" y="1619645"/>
            <a:ext cx="76200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0" y="1902220"/>
            <a:ext cx="7620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8334375" y="1705370"/>
            <a:ext cx="62865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3400" y="2219719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2" name="Text 20"/>
          <p:cNvSpPr/>
          <p:nvPr/>
        </p:nvSpPr>
        <p:spPr>
          <a:xfrm>
            <a:off x="638175" y="1997469"/>
            <a:ext cx="53340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200150" y="2219719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1304925" y="1997469"/>
            <a:ext cx="494048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/api/v1/auth/signup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6200180" y="2219719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6304955" y="1997469"/>
            <a:ext cx="18960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identity:8001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8229600" y="2219719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8334375" y="1997469"/>
            <a:ext cx="6286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533400" y="2518169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38175" y="2302269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1200150" y="2518169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2" name="Text 30"/>
          <p:cNvSpPr/>
          <p:nvPr/>
        </p:nvSpPr>
        <p:spPr>
          <a:xfrm>
            <a:off x="1304925" y="2302269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/api/v1/auth/signin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6200180" y="2518169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4" name="Text 32"/>
          <p:cNvSpPr/>
          <p:nvPr/>
        </p:nvSpPr>
        <p:spPr>
          <a:xfrm>
            <a:off x="6304955" y="2302269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identity:8001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8229600" y="2518169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6" name="Text 34"/>
          <p:cNvSpPr/>
          <p:nvPr/>
        </p:nvSpPr>
        <p:spPr>
          <a:xfrm>
            <a:off x="8334375" y="2302269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</a:t>
            </a:r>
            <a:endParaRPr lang="en-US" sz="825" dirty="0"/>
          </a:p>
        </p:txBody>
      </p:sp>
      <p:sp>
        <p:nvSpPr>
          <p:cNvPr id="37" name="Shape 35"/>
          <p:cNvSpPr/>
          <p:nvPr/>
        </p:nvSpPr>
        <p:spPr>
          <a:xfrm>
            <a:off x="533400" y="2816620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8" name="Text 36"/>
          <p:cNvSpPr/>
          <p:nvPr/>
        </p:nvSpPr>
        <p:spPr>
          <a:xfrm>
            <a:off x="638175" y="2600720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39" name="Shape 37"/>
          <p:cNvSpPr/>
          <p:nvPr/>
        </p:nvSpPr>
        <p:spPr>
          <a:xfrm>
            <a:off x="1200150" y="2816620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0" name="Text 38"/>
          <p:cNvSpPr/>
          <p:nvPr/>
        </p:nvSpPr>
        <p:spPr>
          <a:xfrm>
            <a:off x="1304925" y="2600720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/api/v1/auth/push-tokens/register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6200180" y="2816620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2" name="Text 40"/>
          <p:cNvSpPr/>
          <p:nvPr/>
        </p:nvSpPr>
        <p:spPr>
          <a:xfrm>
            <a:off x="6304955" y="2600720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identity:8001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8229600" y="2816620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4" name="Text 42"/>
          <p:cNvSpPr/>
          <p:nvPr/>
        </p:nvSpPr>
        <p:spPr>
          <a:xfrm>
            <a:off x="8334375" y="2600720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45" name="Shape 43"/>
          <p:cNvSpPr/>
          <p:nvPr/>
        </p:nvSpPr>
        <p:spPr>
          <a:xfrm>
            <a:off x="533400" y="3115072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6" name="Text 44"/>
          <p:cNvSpPr/>
          <p:nvPr/>
        </p:nvSpPr>
        <p:spPr>
          <a:xfrm>
            <a:off x="638175" y="2899172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</a:t>
            </a:r>
            <a:endParaRPr lang="en-US" sz="788" dirty="0"/>
          </a:p>
        </p:txBody>
      </p:sp>
      <p:sp>
        <p:nvSpPr>
          <p:cNvPr id="47" name="Shape 45"/>
          <p:cNvSpPr/>
          <p:nvPr/>
        </p:nvSpPr>
        <p:spPr>
          <a:xfrm>
            <a:off x="1200150" y="3115072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8" name="Text 46"/>
          <p:cNvSpPr/>
          <p:nvPr/>
        </p:nvSpPr>
        <p:spPr>
          <a:xfrm>
            <a:off x="1304925" y="2899172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/api/v1/chat/{user_id}/{temple_id}/history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6200180" y="3115072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0" name="Text 48"/>
          <p:cNvSpPr/>
          <p:nvPr/>
        </p:nvSpPr>
        <p:spPr>
          <a:xfrm>
            <a:off x="6304955" y="2899172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aagam-mitra:8004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8229600" y="3115072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2" name="Text 50"/>
          <p:cNvSpPr/>
          <p:nvPr/>
        </p:nvSpPr>
        <p:spPr>
          <a:xfrm>
            <a:off x="8334375" y="2899172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53" name="Shape 51"/>
          <p:cNvSpPr/>
          <p:nvPr/>
        </p:nvSpPr>
        <p:spPr>
          <a:xfrm>
            <a:off x="533400" y="3413519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4" name="Text 52"/>
          <p:cNvSpPr/>
          <p:nvPr/>
        </p:nvSpPr>
        <p:spPr>
          <a:xfrm>
            <a:off x="638175" y="3197619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55" name="Shape 53"/>
          <p:cNvSpPr/>
          <p:nvPr/>
        </p:nvSpPr>
        <p:spPr>
          <a:xfrm>
            <a:off x="1200150" y="3413519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6" name="Text 54"/>
          <p:cNvSpPr/>
          <p:nvPr/>
        </p:nvSpPr>
        <p:spPr>
          <a:xfrm>
            <a:off x="1304925" y="3197619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/api/v1/temples/{id}/assistant/chat</a:t>
            </a:r>
            <a:endParaRPr lang="en-US" sz="788" dirty="0"/>
          </a:p>
        </p:txBody>
      </p:sp>
      <p:sp>
        <p:nvSpPr>
          <p:cNvPr id="57" name="Shape 55"/>
          <p:cNvSpPr/>
          <p:nvPr/>
        </p:nvSpPr>
        <p:spPr>
          <a:xfrm>
            <a:off x="6200180" y="3413519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8" name="Text 56"/>
          <p:cNvSpPr/>
          <p:nvPr/>
        </p:nvSpPr>
        <p:spPr>
          <a:xfrm>
            <a:off x="6304955" y="3197619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aagam-mitra:8004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8229600" y="3413519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0" name="Text 58"/>
          <p:cNvSpPr/>
          <p:nvPr/>
        </p:nvSpPr>
        <p:spPr>
          <a:xfrm>
            <a:off x="8334375" y="3197619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61" name="Shape 59"/>
          <p:cNvSpPr/>
          <p:nvPr/>
        </p:nvSpPr>
        <p:spPr>
          <a:xfrm>
            <a:off x="533400" y="3711970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2" name="Text 60"/>
          <p:cNvSpPr/>
          <p:nvPr/>
        </p:nvSpPr>
        <p:spPr>
          <a:xfrm>
            <a:off x="638175" y="3496070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63" name="Shape 61"/>
          <p:cNvSpPr/>
          <p:nvPr/>
        </p:nvSpPr>
        <p:spPr>
          <a:xfrm>
            <a:off x="1200150" y="3711970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4" name="Text 62"/>
          <p:cNvSpPr/>
          <p:nvPr/>
        </p:nvSpPr>
        <p:spPr>
          <a:xfrm>
            <a:off x="1304925" y="3496070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/api/v1/signup-requests/shantidhara-bookings</a:t>
            </a:r>
            <a:endParaRPr lang="en-US" sz="788" dirty="0"/>
          </a:p>
        </p:txBody>
      </p:sp>
      <p:sp>
        <p:nvSpPr>
          <p:cNvPr id="65" name="Shape 63"/>
          <p:cNvSpPr/>
          <p:nvPr/>
        </p:nvSpPr>
        <p:spPr>
          <a:xfrm>
            <a:off x="6200180" y="3711970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6" name="Text 64"/>
          <p:cNvSpPr/>
          <p:nvPr/>
        </p:nvSpPr>
        <p:spPr>
          <a:xfrm>
            <a:off x="6304955" y="3496070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registration:8002</a:t>
            </a:r>
            <a:endParaRPr lang="en-US" sz="788" dirty="0"/>
          </a:p>
        </p:txBody>
      </p:sp>
      <p:sp>
        <p:nvSpPr>
          <p:cNvPr id="67" name="Shape 65"/>
          <p:cNvSpPr/>
          <p:nvPr/>
        </p:nvSpPr>
        <p:spPr>
          <a:xfrm>
            <a:off x="8229600" y="3711970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8" name="Text 66"/>
          <p:cNvSpPr/>
          <p:nvPr/>
        </p:nvSpPr>
        <p:spPr>
          <a:xfrm>
            <a:off x="8334375" y="3496070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533400" y="4010422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0" name="Text 68"/>
          <p:cNvSpPr/>
          <p:nvPr/>
        </p:nvSpPr>
        <p:spPr>
          <a:xfrm>
            <a:off x="638175" y="3794522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1200150" y="4010422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2" name="Text 70"/>
          <p:cNvSpPr/>
          <p:nvPr/>
        </p:nvSpPr>
        <p:spPr>
          <a:xfrm>
            <a:off x="1304925" y="3794522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/api/v1/signup-requests/donations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6200180" y="4010422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4" name="Text 72"/>
          <p:cNvSpPr/>
          <p:nvPr/>
        </p:nvSpPr>
        <p:spPr>
          <a:xfrm>
            <a:off x="6304955" y="3794522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registration:8002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8229600" y="4010422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6" name="Text 74"/>
          <p:cNvSpPr/>
          <p:nvPr/>
        </p:nvSpPr>
        <p:spPr>
          <a:xfrm>
            <a:off x="8334375" y="3794522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77" name="Shape 75"/>
          <p:cNvSpPr/>
          <p:nvPr/>
        </p:nvSpPr>
        <p:spPr>
          <a:xfrm>
            <a:off x="533400" y="4308869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8" name="Text 76"/>
          <p:cNvSpPr/>
          <p:nvPr/>
        </p:nvSpPr>
        <p:spPr>
          <a:xfrm>
            <a:off x="638175" y="4092969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1200150" y="4308869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0" name="Text 78"/>
          <p:cNvSpPr/>
          <p:nvPr/>
        </p:nvSpPr>
        <p:spPr>
          <a:xfrm>
            <a:off x="1304925" y="4092969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/api/v1/temples/{id}/shantidhara/slots</a:t>
            </a:r>
            <a:endParaRPr lang="en-US" sz="788" dirty="0"/>
          </a:p>
        </p:txBody>
      </p:sp>
      <p:sp>
        <p:nvSpPr>
          <p:cNvPr id="81" name="Shape 79"/>
          <p:cNvSpPr/>
          <p:nvPr/>
        </p:nvSpPr>
        <p:spPr>
          <a:xfrm>
            <a:off x="6200180" y="4308869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2" name="Text 80"/>
          <p:cNvSpPr/>
          <p:nvPr/>
        </p:nvSpPr>
        <p:spPr>
          <a:xfrm>
            <a:off x="6304955" y="4092969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</a:t>
            </a:r>
            <a:endParaRPr lang="en-US" sz="788" dirty="0"/>
          </a:p>
        </p:txBody>
      </p:sp>
      <p:sp>
        <p:nvSpPr>
          <p:cNvPr id="83" name="Shape 81"/>
          <p:cNvSpPr/>
          <p:nvPr/>
        </p:nvSpPr>
        <p:spPr>
          <a:xfrm>
            <a:off x="8229600" y="4308869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4" name="Text 82"/>
          <p:cNvSpPr/>
          <p:nvPr/>
        </p:nvSpPr>
        <p:spPr>
          <a:xfrm>
            <a:off x="8334375" y="4092969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JWT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533400" y="4607320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6" name="Text 84"/>
          <p:cNvSpPr/>
          <p:nvPr/>
        </p:nvSpPr>
        <p:spPr>
          <a:xfrm>
            <a:off x="638175" y="4391420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</a:t>
            </a:r>
            <a:endParaRPr lang="en-US" sz="788" dirty="0"/>
          </a:p>
        </p:txBody>
      </p:sp>
      <p:sp>
        <p:nvSpPr>
          <p:cNvPr id="87" name="Shape 85"/>
          <p:cNvSpPr/>
          <p:nvPr/>
        </p:nvSpPr>
        <p:spPr>
          <a:xfrm>
            <a:off x="1200150" y="4607320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8" name="Text 86"/>
          <p:cNvSpPr/>
          <p:nvPr/>
        </p:nvSpPr>
        <p:spPr>
          <a:xfrm>
            <a:off x="1304925" y="4391420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/api/v1/temples/{id}/shantidhara/slots/generate</a:t>
            </a:r>
            <a:endParaRPr lang="en-US" sz="788" dirty="0"/>
          </a:p>
        </p:txBody>
      </p:sp>
      <p:sp>
        <p:nvSpPr>
          <p:cNvPr id="89" name="Shape 87"/>
          <p:cNvSpPr/>
          <p:nvPr/>
        </p:nvSpPr>
        <p:spPr>
          <a:xfrm>
            <a:off x="6200180" y="4607320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0" name="Text 88"/>
          <p:cNvSpPr/>
          <p:nvPr/>
        </p:nvSpPr>
        <p:spPr>
          <a:xfrm>
            <a:off x="6304955" y="4391420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</a:t>
            </a:r>
            <a:endParaRPr lang="en-US" sz="788" dirty="0"/>
          </a:p>
        </p:txBody>
      </p:sp>
      <p:sp>
        <p:nvSpPr>
          <p:cNvPr id="91" name="Shape 89"/>
          <p:cNvSpPr/>
          <p:nvPr/>
        </p:nvSpPr>
        <p:spPr>
          <a:xfrm>
            <a:off x="8229600" y="4607320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2" name="Text 90"/>
          <p:cNvSpPr/>
          <p:nvPr/>
        </p:nvSpPr>
        <p:spPr>
          <a:xfrm>
            <a:off x="8334375" y="4391420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</a:t>
            </a:r>
            <a:endParaRPr lang="en-US" sz="825" dirty="0"/>
          </a:p>
        </p:txBody>
      </p:sp>
      <p:sp>
        <p:nvSpPr>
          <p:cNvPr id="93" name="Shape 91"/>
          <p:cNvSpPr/>
          <p:nvPr/>
        </p:nvSpPr>
        <p:spPr>
          <a:xfrm>
            <a:off x="533400" y="4905772"/>
            <a:ext cx="666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4" name="Text 92"/>
          <p:cNvSpPr/>
          <p:nvPr/>
        </p:nvSpPr>
        <p:spPr>
          <a:xfrm>
            <a:off x="638175" y="4689872"/>
            <a:ext cx="5334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</a:t>
            </a:r>
            <a:endParaRPr lang="en-US" sz="788" dirty="0"/>
          </a:p>
        </p:txBody>
      </p:sp>
      <p:sp>
        <p:nvSpPr>
          <p:cNvPr id="95" name="Shape 93"/>
          <p:cNvSpPr/>
          <p:nvPr/>
        </p:nvSpPr>
        <p:spPr>
          <a:xfrm>
            <a:off x="1200150" y="4905772"/>
            <a:ext cx="500003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6" name="Text 94"/>
          <p:cNvSpPr/>
          <p:nvPr/>
        </p:nvSpPr>
        <p:spPr>
          <a:xfrm>
            <a:off x="1304925" y="4689872"/>
            <a:ext cx="494048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/api/v1/temples/{id}/finance/summary</a:t>
            </a:r>
            <a:endParaRPr lang="en-US" sz="788" dirty="0"/>
          </a:p>
        </p:txBody>
      </p:sp>
      <p:sp>
        <p:nvSpPr>
          <p:cNvPr id="97" name="Shape 95"/>
          <p:cNvSpPr/>
          <p:nvPr/>
        </p:nvSpPr>
        <p:spPr>
          <a:xfrm>
            <a:off x="6200180" y="4905772"/>
            <a:ext cx="202942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8" name="Text 96"/>
          <p:cNvSpPr/>
          <p:nvPr/>
        </p:nvSpPr>
        <p:spPr>
          <a:xfrm>
            <a:off x="6304955" y="4689872"/>
            <a:ext cx="189607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</a:t>
            </a:r>
            <a:endParaRPr lang="en-US" sz="788" dirty="0"/>
          </a:p>
        </p:txBody>
      </p:sp>
      <p:sp>
        <p:nvSpPr>
          <p:cNvPr id="99" name="Shape 97"/>
          <p:cNvSpPr/>
          <p:nvPr/>
        </p:nvSpPr>
        <p:spPr>
          <a:xfrm>
            <a:off x="8229600" y="4905772"/>
            <a:ext cx="7620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00" name="Text 98"/>
          <p:cNvSpPr/>
          <p:nvPr/>
        </p:nvSpPr>
        <p:spPr>
          <a:xfrm>
            <a:off x="8334375" y="4689872"/>
            <a:ext cx="62865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</a:t>
            </a:r>
            <a:endParaRPr lang="en-US" sz="825" dirty="0"/>
          </a:p>
        </p:txBody>
      </p:sp>
      <p:sp>
        <p:nvSpPr>
          <p:cNvPr id="101" name="Shape 99"/>
          <p:cNvSpPr/>
          <p:nvPr/>
        </p:nvSpPr>
        <p:spPr>
          <a:xfrm>
            <a:off x="533400" y="12960348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2" name="Text 100"/>
          <p:cNvSpPr/>
          <p:nvPr/>
        </p:nvSpPr>
        <p:spPr>
          <a:xfrm>
            <a:off x="533400" y="13042897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103" name="Text 101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5</a:t>
            </a:r>
            <a:endParaRPr lang="en-US" sz="7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7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48"/>
            <a:ext cx="470243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 AI — Agent Orchestration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698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message passes a 4-layer security gate, then the orchestrator classifies intent with compiled regex and routes to 1–4 specialist agents in parallel. Each agent uses the OpenAI tool-call protocol against Groq (LLaMA 4 Scout 17B), and the orchestrator synthesises a final answer.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92"/>
            <a:ext cx="8458200" cy="4276725"/>
          </a:xfrm>
          <a:prstGeom prst="roundRect">
            <a:avLst>
              <a:gd name="adj" fmla="val 3563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2020091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3 · ORCHESTRATION FLOW</a:t>
            </a:r>
            <a:endParaRPr lang="en-US" sz="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350" y="2255044"/>
            <a:ext cx="7988300" cy="35528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524000" y="2255044"/>
            <a:ext cx="6477000" cy="600075"/>
          </a:xfrm>
          <a:prstGeom prst="roundRect">
            <a:avLst>
              <a:gd name="adj" fmla="val 17460"/>
            </a:avLst>
          </a:prstGeom>
          <a:solidFill>
            <a:srgbClr val="F87171">
              <a:alpha val="8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1524000" y="2848769"/>
            <a:ext cx="6477000" cy="9525"/>
          </a:xfrm>
          <a:prstGeom prst="rect">
            <a:avLst/>
          </a:prstGeom>
          <a:solidFill>
            <a:srgbClr val="F87171">
              <a:alpha val="3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524000" y="2255044"/>
            <a:ext cx="6477000" cy="19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Shape 12"/>
          <p:cNvSpPr/>
          <p:nvPr/>
        </p:nvSpPr>
        <p:spPr>
          <a:xfrm>
            <a:off x="1524000" y="2255044"/>
            <a:ext cx="9525" cy="600075"/>
          </a:xfrm>
          <a:prstGeom prst="rect">
            <a:avLst/>
          </a:prstGeom>
          <a:solidFill>
            <a:srgbClr val="F87171">
              <a:alpha val="3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994650" y="2255044"/>
            <a:ext cx="9525" cy="600075"/>
          </a:xfrm>
          <a:prstGeom prst="rect">
            <a:avLst/>
          </a:prstGeom>
          <a:solidFill>
            <a:srgbClr val="F87171">
              <a:alpha val="3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1701800" y="2388394"/>
            <a:ext cx="67335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CD9D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Layer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701800" y="2607469"/>
            <a:ext cx="673354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C9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hard-block patterns (injection / jailbreak / code-exec) · RBAC (8 admin-only) · PII-masked audit log</a:t>
            </a:r>
            <a:endParaRPr lang="en-US" sz="788" dirty="0"/>
          </a:p>
        </p:txBody>
      </p:sp>
      <p:sp>
        <p:nvSpPr>
          <p:cNvPr id="19" name="Shape 16"/>
          <p:cNvSpPr/>
          <p:nvPr/>
        </p:nvSpPr>
        <p:spPr>
          <a:xfrm>
            <a:off x="2095500" y="3178969"/>
            <a:ext cx="5334000" cy="600075"/>
          </a:xfrm>
          <a:prstGeom prst="roundRect">
            <a:avLst>
              <a:gd name="adj" fmla="val 17460"/>
            </a:avLst>
          </a:prstGeom>
          <a:solidFill>
            <a:srgbClr val="E87722">
              <a:alpha val="11000"/>
            </a:srgbClr>
          </a:solidFill>
          <a:ln/>
          <a:effectLst>
            <a:outerShdw sx="100000" sy="100000" kx="0" ky="0" algn="bl" rotWithShape="0" blurRad="228600" dist="50800" dir="16200000">
              <a:srgbClr val="E87722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095500" y="3772694"/>
            <a:ext cx="5334000" cy="9525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2095500" y="3178969"/>
            <a:ext cx="53340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Shape 19"/>
          <p:cNvSpPr/>
          <p:nvPr/>
        </p:nvSpPr>
        <p:spPr>
          <a:xfrm>
            <a:off x="2095500" y="3178969"/>
            <a:ext cx="9525" cy="600075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423150" y="3178969"/>
            <a:ext cx="9525" cy="600075"/>
          </a:xfrm>
          <a:prstGeom prst="rect">
            <a:avLst/>
          </a:prstGeom>
          <a:solidFill>
            <a:srgbClr val="E87722">
              <a:alpha val="44000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2024380" y="3312319"/>
            <a:ext cx="54762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EB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Orchestrator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024380" y="3531394"/>
            <a:ext cx="547624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CBB6A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Regex intent detection → route to 1–N agents in parallel</a:t>
            </a:r>
            <a:endParaRPr lang="en-US" sz="788" dirty="0"/>
          </a:p>
        </p:txBody>
      </p:sp>
      <p:sp>
        <p:nvSpPr>
          <p:cNvPr id="26" name="Shape 23"/>
          <p:cNvSpPr/>
          <p:nvPr/>
        </p:nvSpPr>
        <p:spPr>
          <a:xfrm>
            <a:off x="981075" y="4102894"/>
            <a:ext cx="1790700" cy="781050"/>
          </a:xfrm>
          <a:prstGeom prst="roundRect">
            <a:avLst>
              <a:gd name="adj" fmla="val 13415"/>
            </a:avLst>
          </a:prstGeom>
          <a:solidFill>
            <a:srgbClr val="818CF8">
              <a:alpha val="7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981075" y="4877594"/>
            <a:ext cx="1790700" cy="9525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981075" y="4102894"/>
            <a:ext cx="1790700" cy="1905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29" name="Shape 26"/>
          <p:cNvSpPr/>
          <p:nvPr/>
        </p:nvSpPr>
        <p:spPr>
          <a:xfrm>
            <a:off x="98107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76542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31" name="Text 28"/>
          <p:cNvSpPr/>
          <p:nvPr/>
        </p:nvSpPr>
        <p:spPr>
          <a:xfrm>
            <a:off x="1111250" y="4226719"/>
            <a:ext cx="16833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Scripture</a:t>
            </a:r>
            <a:endParaRPr lang="en-US" sz="938" dirty="0"/>
          </a:p>
        </p:txBody>
      </p:sp>
      <p:sp>
        <p:nvSpPr>
          <p:cNvPr id="32" name="Text 29"/>
          <p:cNvSpPr/>
          <p:nvPr/>
        </p:nvSpPr>
        <p:spPr>
          <a:xfrm>
            <a:off x="1111250" y="4420393"/>
            <a:ext cx="16833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Jain texts · Pinecone RAG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111250" y="4620418"/>
            <a:ext cx="47436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0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168400" y="4639468"/>
            <a:ext cx="4362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A5B4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tools</a:t>
            </a:r>
            <a:endParaRPr lang="en-US" sz="675" dirty="0"/>
          </a:p>
        </p:txBody>
      </p:sp>
      <p:sp>
        <p:nvSpPr>
          <p:cNvPr id="35" name="Shape 32"/>
          <p:cNvSpPr/>
          <p:nvPr/>
        </p:nvSpPr>
        <p:spPr>
          <a:xfrm>
            <a:off x="2905125" y="4102894"/>
            <a:ext cx="1790700" cy="781050"/>
          </a:xfrm>
          <a:prstGeom prst="roundRect">
            <a:avLst>
              <a:gd name="adj" fmla="val 13415"/>
            </a:avLst>
          </a:prstGeom>
          <a:solidFill>
            <a:srgbClr val="818CF8">
              <a:alpha val="7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2905125" y="4877594"/>
            <a:ext cx="1790700" cy="9525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2905125" y="4102894"/>
            <a:ext cx="1790700" cy="1905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38" name="Shape 35"/>
          <p:cNvSpPr/>
          <p:nvPr/>
        </p:nvSpPr>
        <p:spPr>
          <a:xfrm>
            <a:off x="290512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68947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3035300" y="4226719"/>
            <a:ext cx="16833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TempleOps</a:t>
            </a:r>
            <a:endParaRPr lang="en-US" sz="938" dirty="0"/>
          </a:p>
        </p:txBody>
      </p:sp>
      <p:sp>
        <p:nvSpPr>
          <p:cNvPr id="41" name="Text 38"/>
          <p:cNvSpPr/>
          <p:nvPr/>
        </p:nvSpPr>
        <p:spPr>
          <a:xfrm>
            <a:off x="3035300" y="4420393"/>
            <a:ext cx="16833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Bookings, slots, membership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3035300" y="4620418"/>
            <a:ext cx="47436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0000"/>
            </a:srgbClr>
          </a:solidFill>
          <a:ln/>
        </p:spPr>
      </p:sp>
      <p:sp>
        <p:nvSpPr>
          <p:cNvPr id="43" name="Text 40"/>
          <p:cNvSpPr/>
          <p:nvPr/>
        </p:nvSpPr>
        <p:spPr>
          <a:xfrm>
            <a:off x="3092450" y="4639468"/>
            <a:ext cx="4362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A5B4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tools</a:t>
            </a:r>
            <a:endParaRPr lang="en-US" sz="675" dirty="0"/>
          </a:p>
        </p:txBody>
      </p:sp>
      <p:sp>
        <p:nvSpPr>
          <p:cNvPr id="44" name="Shape 41"/>
          <p:cNvSpPr/>
          <p:nvPr/>
        </p:nvSpPr>
        <p:spPr>
          <a:xfrm>
            <a:off x="4829175" y="4102894"/>
            <a:ext cx="1790700" cy="781050"/>
          </a:xfrm>
          <a:prstGeom prst="roundRect">
            <a:avLst>
              <a:gd name="adj" fmla="val 13415"/>
            </a:avLst>
          </a:prstGeom>
          <a:solidFill>
            <a:srgbClr val="818CF8">
              <a:alpha val="7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4829175" y="4877594"/>
            <a:ext cx="1790700" cy="9525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4829175" y="4102894"/>
            <a:ext cx="1790700" cy="1905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47" name="Shape 44"/>
          <p:cNvSpPr/>
          <p:nvPr/>
        </p:nvSpPr>
        <p:spPr>
          <a:xfrm>
            <a:off x="482917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61352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49" name="Text 46"/>
          <p:cNvSpPr/>
          <p:nvPr/>
        </p:nvSpPr>
        <p:spPr>
          <a:xfrm>
            <a:off x="4959350" y="4226719"/>
            <a:ext cx="16833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</a:t>
            </a:r>
            <a:endParaRPr lang="en-US" sz="938" dirty="0"/>
          </a:p>
        </p:txBody>
      </p:sp>
      <p:sp>
        <p:nvSpPr>
          <p:cNvPr id="50" name="Text 47"/>
          <p:cNvSpPr/>
          <p:nvPr/>
        </p:nvSpPr>
        <p:spPr>
          <a:xfrm>
            <a:off x="4959350" y="4420393"/>
            <a:ext cx="16833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News, events, wall of fame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959350" y="4620418"/>
            <a:ext cx="47436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0000"/>
            </a:srgbClr>
          </a:solidFill>
          <a:ln/>
        </p:spPr>
      </p:sp>
      <p:sp>
        <p:nvSpPr>
          <p:cNvPr id="52" name="Text 49"/>
          <p:cNvSpPr/>
          <p:nvPr/>
        </p:nvSpPr>
        <p:spPr>
          <a:xfrm>
            <a:off x="5016500" y="4639468"/>
            <a:ext cx="4362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A5B4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tools</a:t>
            </a:r>
            <a:endParaRPr lang="en-US" sz="675" dirty="0"/>
          </a:p>
        </p:txBody>
      </p:sp>
      <p:sp>
        <p:nvSpPr>
          <p:cNvPr id="53" name="Shape 50"/>
          <p:cNvSpPr/>
          <p:nvPr/>
        </p:nvSpPr>
        <p:spPr>
          <a:xfrm>
            <a:off x="6753225" y="4102894"/>
            <a:ext cx="1790700" cy="781050"/>
          </a:xfrm>
          <a:prstGeom prst="roundRect">
            <a:avLst>
              <a:gd name="adj" fmla="val 13415"/>
            </a:avLst>
          </a:prstGeom>
          <a:solidFill>
            <a:srgbClr val="818CF8">
              <a:alpha val="7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6753225" y="4877594"/>
            <a:ext cx="1790700" cy="9525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6753225" y="4102894"/>
            <a:ext cx="1790700" cy="19050"/>
          </a:xfrm>
          <a:prstGeom prst="rect">
            <a:avLst/>
          </a:prstGeom>
          <a:solidFill>
            <a:srgbClr val="A5B4FC"/>
          </a:solidFill>
          <a:ln/>
        </p:spPr>
      </p:sp>
      <p:sp>
        <p:nvSpPr>
          <p:cNvPr id="56" name="Shape 53"/>
          <p:cNvSpPr/>
          <p:nvPr/>
        </p:nvSpPr>
        <p:spPr>
          <a:xfrm>
            <a:off x="675322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537575" y="4102894"/>
            <a:ext cx="9525" cy="781050"/>
          </a:xfrm>
          <a:prstGeom prst="rect">
            <a:avLst/>
          </a:prstGeom>
          <a:solidFill>
            <a:srgbClr val="818CF8">
              <a:alpha val="24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6883400" y="4226719"/>
            <a:ext cx="16833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</a:t>
            </a:r>
            <a:endParaRPr lang="en-US" sz="938" dirty="0"/>
          </a:p>
        </p:txBody>
      </p:sp>
      <p:sp>
        <p:nvSpPr>
          <p:cNvPr id="59" name="Text 56"/>
          <p:cNvSpPr/>
          <p:nvPr/>
        </p:nvSpPr>
        <p:spPr>
          <a:xfrm>
            <a:off x="6883400" y="4420393"/>
            <a:ext cx="168338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Transcripts · API + Whisper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6883400" y="4620418"/>
            <a:ext cx="474365" cy="152400"/>
          </a:xfrm>
          <a:prstGeom prst="roundRect">
            <a:avLst>
              <a:gd name="adj" fmla="val 25000"/>
            </a:avLst>
          </a:prstGeom>
          <a:solidFill>
            <a:srgbClr val="818CF8">
              <a:alpha val="10000"/>
            </a:srgbClr>
          </a:solidFill>
          <a:ln/>
        </p:spPr>
      </p:sp>
      <p:sp>
        <p:nvSpPr>
          <p:cNvPr id="61" name="Text 58"/>
          <p:cNvSpPr/>
          <p:nvPr/>
        </p:nvSpPr>
        <p:spPr>
          <a:xfrm>
            <a:off x="6940550" y="4639468"/>
            <a:ext cx="43626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A5B4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tools</a:t>
            </a:r>
            <a:endParaRPr lang="en-US" sz="675" dirty="0"/>
          </a:p>
        </p:txBody>
      </p:sp>
      <p:sp>
        <p:nvSpPr>
          <p:cNvPr id="62" name="Shape 59"/>
          <p:cNvSpPr/>
          <p:nvPr/>
        </p:nvSpPr>
        <p:spPr>
          <a:xfrm>
            <a:off x="1905000" y="5207794"/>
            <a:ext cx="5715000" cy="600075"/>
          </a:xfrm>
          <a:prstGeom prst="roundRect">
            <a:avLst>
              <a:gd name="adj" fmla="val 17460"/>
            </a:avLst>
          </a:prstGeom>
          <a:solidFill>
            <a:srgbClr val="A78BFA">
              <a:alpha val="10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1905000" y="5801519"/>
            <a:ext cx="5715000" cy="9525"/>
          </a:xfrm>
          <a:prstGeom prst="rect">
            <a:avLst/>
          </a:prstGeom>
          <a:solidFill>
            <a:srgbClr val="A78BFA">
              <a:alpha val="34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1905000" y="5207794"/>
            <a:ext cx="5715000" cy="1905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65" name="Shape 62"/>
          <p:cNvSpPr/>
          <p:nvPr/>
        </p:nvSpPr>
        <p:spPr>
          <a:xfrm>
            <a:off x="1905000" y="5207794"/>
            <a:ext cx="9525" cy="600075"/>
          </a:xfrm>
          <a:prstGeom prst="rect">
            <a:avLst/>
          </a:prstGeom>
          <a:solidFill>
            <a:srgbClr val="A78BFA">
              <a:alpha val="34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7613650" y="5207794"/>
            <a:ext cx="9525" cy="600075"/>
          </a:xfrm>
          <a:prstGeom prst="rect">
            <a:avLst/>
          </a:prstGeom>
          <a:solidFill>
            <a:srgbClr val="A78BFA">
              <a:alpha val="34000"/>
            </a:srgbClr>
          </a:solidFill>
          <a:ln/>
        </p:spPr>
      </p:sp>
      <p:sp>
        <p:nvSpPr>
          <p:cNvPr id="67" name="Text 64"/>
          <p:cNvSpPr/>
          <p:nvPr/>
        </p:nvSpPr>
        <p:spPr>
          <a:xfrm>
            <a:off x="1814830" y="5341144"/>
            <a:ext cx="589534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E2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· LLaMA 4 Scout 17B — Final Synthesis</a:t>
            </a:r>
            <a:endParaRPr lang="en-US" sz="1050" dirty="0"/>
          </a:p>
        </p:txBody>
      </p:sp>
      <p:sp>
        <p:nvSpPr>
          <p:cNvPr id="68" name="Text 65"/>
          <p:cNvSpPr/>
          <p:nvPr/>
        </p:nvSpPr>
        <p:spPr>
          <a:xfrm>
            <a:off x="1814830" y="5560219"/>
            <a:ext cx="589534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88" dirty="0">
                <a:solidFill>
                  <a:srgbClr val="BCAE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temperature 0.4 when multi-agent · returns TempleAssistantResponse + action_cards</a:t>
            </a:r>
            <a:endParaRPr lang="en-US" sz="788" dirty="0"/>
          </a:p>
        </p:txBody>
      </p:sp>
      <p:sp>
        <p:nvSpPr>
          <p:cNvPr id="69" name="Shape 66"/>
          <p:cNvSpPr/>
          <p:nvPr/>
        </p:nvSpPr>
        <p:spPr>
          <a:xfrm>
            <a:off x="3829993" y="3855244"/>
            <a:ext cx="906165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03018" y="3880644"/>
            <a:ext cx="836315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parallel route</a:t>
            </a:r>
            <a:endParaRPr lang="en-US" sz="713" dirty="0"/>
          </a:p>
        </p:txBody>
      </p:sp>
      <p:sp>
        <p:nvSpPr>
          <p:cNvPr id="71" name="Shape 68"/>
          <p:cNvSpPr/>
          <p:nvPr/>
        </p:nvSpPr>
        <p:spPr>
          <a:xfrm>
            <a:off x="3965724" y="4960144"/>
            <a:ext cx="634702" cy="171450"/>
          </a:xfrm>
          <a:prstGeom prst="roundRect">
            <a:avLst>
              <a:gd name="adj" fmla="val 27778"/>
            </a:avLst>
          </a:prstGeom>
          <a:solidFill>
            <a:srgbClr val="0B1120">
              <a:alpha val="95000"/>
            </a:srgbClr>
          </a:solidFill>
          <a:ln w="6350">
            <a:solidFill>
              <a:srgbClr val="94A3B8">
                <a:alpha val="20000"/>
              </a:srgbClr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038749" y="4985544"/>
            <a:ext cx="564852" cy="1587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synthesis</a:t>
            </a:r>
            <a:endParaRPr lang="en-US" sz="713" dirty="0"/>
          </a:p>
        </p:txBody>
      </p:sp>
      <p:sp>
        <p:nvSpPr>
          <p:cNvPr id="73" name="Shape 70"/>
          <p:cNvSpPr/>
          <p:nvPr/>
        </p:nvSpPr>
        <p:spPr>
          <a:xfrm>
            <a:off x="533400" y="12960348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4" name="Text 71"/>
          <p:cNvSpPr/>
          <p:nvPr/>
        </p:nvSpPr>
        <p:spPr>
          <a:xfrm>
            <a:off x="533400" y="13042899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75" name="Text 72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6</a:t>
            </a:r>
            <a:endParaRPr lang="en-US" sz="7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9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48"/>
            <a:ext cx="43202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Call Structure &amp; Temperatures</a:t>
            </a:r>
            <a:endParaRPr lang="en-US" sz="1875" dirty="0"/>
          </a:p>
        </p:txBody>
      </p:sp>
      <p:sp>
        <p:nvSpPr>
          <p:cNvPr id="8" name="Shape 6"/>
          <p:cNvSpPr/>
          <p:nvPr/>
        </p:nvSpPr>
        <p:spPr>
          <a:xfrm>
            <a:off x="533400" y="1282698"/>
            <a:ext cx="8458200" cy="1295400"/>
          </a:xfrm>
          <a:prstGeom prst="roundRect">
            <a:avLst>
              <a:gd name="adj" fmla="val 8824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42950" y="1454148"/>
            <a:ext cx="88430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GROQ API CALL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42950" y="1689099"/>
            <a:ext cx="380008" cy="18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</a:t>
            </a:r>
            <a:endParaRPr lang="en-US" sz="863" dirty="0"/>
          </a:p>
        </p:txBody>
      </p:sp>
      <p:sp>
        <p:nvSpPr>
          <p:cNvPr id="11" name="Text 9"/>
          <p:cNvSpPr/>
          <p:nvPr/>
        </p:nvSpPr>
        <p:spPr>
          <a:xfrm>
            <a:off x="742950" y="1854198"/>
            <a:ext cx="42748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meta-llama/llama-4-scout-17b-16e-instruct</a:t>
            </a:r>
            <a:endParaRPr lang="en-US" sz="863" dirty="0"/>
          </a:p>
        </p:txBody>
      </p:sp>
      <p:sp>
        <p:nvSpPr>
          <p:cNvPr id="12" name="Text 10"/>
          <p:cNvSpPr/>
          <p:nvPr/>
        </p:nvSpPr>
        <p:spPr>
          <a:xfrm>
            <a:off x="4895850" y="1689099"/>
            <a:ext cx="518815" cy="18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Endpoint</a:t>
            </a:r>
            <a:endParaRPr lang="en-US" sz="863" dirty="0"/>
          </a:p>
        </p:txBody>
      </p:sp>
      <p:sp>
        <p:nvSpPr>
          <p:cNvPr id="13" name="Text 11"/>
          <p:cNvSpPr/>
          <p:nvPr/>
        </p:nvSpPr>
        <p:spPr>
          <a:xfrm>
            <a:off x="4895850" y="1854198"/>
            <a:ext cx="42748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api.groq.com/openai/v1/chat/completions</a:t>
            </a:r>
            <a:endParaRPr lang="en-US" sz="863" dirty="0"/>
          </a:p>
        </p:txBody>
      </p:sp>
      <p:sp>
        <p:nvSpPr>
          <p:cNvPr id="14" name="Text 12"/>
          <p:cNvSpPr/>
          <p:nvPr/>
        </p:nvSpPr>
        <p:spPr>
          <a:xfrm>
            <a:off x="742950" y="2095500"/>
            <a:ext cx="630734" cy="18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 choice</a:t>
            </a:r>
            <a:endParaRPr lang="en-US" sz="863" dirty="0"/>
          </a:p>
        </p:txBody>
      </p:sp>
      <p:sp>
        <p:nvSpPr>
          <p:cNvPr id="15" name="Text 13"/>
          <p:cNvSpPr/>
          <p:nvPr/>
        </p:nvSpPr>
        <p:spPr>
          <a:xfrm>
            <a:off x="742950" y="2260599"/>
            <a:ext cx="42748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"auto" · timeout 60s</a:t>
            </a:r>
            <a:endParaRPr lang="en-US" sz="863" dirty="0"/>
          </a:p>
        </p:txBody>
      </p:sp>
      <p:sp>
        <p:nvSpPr>
          <p:cNvPr id="16" name="Text 14"/>
          <p:cNvSpPr/>
          <p:nvPr/>
        </p:nvSpPr>
        <p:spPr>
          <a:xfrm>
            <a:off x="4895850" y="2095500"/>
            <a:ext cx="428923" cy="1841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History</a:t>
            </a:r>
            <a:endParaRPr lang="en-US" sz="863" dirty="0"/>
          </a:p>
        </p:txBody>
      </p:sp>
      <p:sp>
        <p:nvSpPr>
          <p:cNvPr id="17" name="Text 15"/>
          <p:cNvSpPr/>
          <p:nvPr/>
        </p:nvSpPr>
        <p:spPr>
          <a:xfrm>
            <a:off x="4895850" y="2260599"/>
            <a:ext cx="427482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 8 turns injected</a:t>
            </a:r>
            <a:endParaRPr lang="en-US" sz="863" dirty="0"/>
          </a:p>
        </p:txBody>
      </p:sp>
      <p:sp>
        <p:nvSpPr>
          <p:cNvPr id="18" name="Text 16"/>
          <p:cNvSpPr/>
          <p:nvPr/>
        </p:nvSpPr>
        <p:spPr>
          <a:xfrm>
            <a:off x="533400" y="2787648"/>
            <a:ext cx="93040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Temperature Values by Context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533400" y="3067050"/>
            <a:ext cx="393888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3400" y="3349625"/>
            <a:ext cx="393888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638175" y="3152775"/>
            <a:ext cx="3847502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LOCATION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72285" y="3067050"/>
            <a:ext cx="85725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23" name="Shape 21"/>
          <p:cNvSpPr/>
          <p:nvPr/>
        </p:nvSpPr>
        <p:spPr>
          <a:xfrm>
            <a:off x="4472285" y="3349625"/>
            <a:ext cx="85725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2"/>
          <p:cNvSpPr/>
          <p:nvPr/>
        </p:nvSpPr>
        <p:spPr>
          <a:xfrm>
            <a:off x="4577060" y="3152775"/>
            <a:ext cx="72390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29535" y="3067050"/>
            <a:ext cx="366206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26" name="Shape 24"/>
          <p:cNvSpPr/>
          <p:nvPr/>
        </p:nvSpPr>
        <p:spPr>
          <a:xfrm>
            <a:off x="5329535" y="3349625"/>
            <a:ext cx="366206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7" name="Text 25"/>
          <p:cNvSpPr/>
          <p:nvPr/>
        </p:nvSpPr>
        <p:spPr>
          <a:xfrm>
            <a:off x="5434310" y="3152775"/>
            <a:ext cx="3562377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REASON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33400" y="3705223"/>
            <a:ext cx="393888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638175" y="3454398"/>
            <a:ext cx="3847502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BaseAgent (all specialist agents)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4472285" y="3705223"/>
            <a:ext cx="857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1" name="Text 29"/>
          <p:cNvSpPr/>
          <p:nvPr/>
        </p:nvSpPr>
        <p:spPr>
          <a:xfrm>
            <a:off x="4577060" y="3454398"/>
            <a:ext cx="72390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5329535" y="3705223"/>
            <a:ext cx="366206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3" name="Text 31"/>
          <p:cNvSpPr/>
          <p:nvPr/>
        </p:nvSpPr>
        <p:spPr>
          <a:xfrm>
            <a:off x="5434310" y="3454398"/>
            <a:ext cx="356237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settings.groq_temperature — balanced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533400" y="4041773"/>
            <a:ext cx="393888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5" name="Text 33"/>
          <p:cNvSpPr/>
          <p:nvPr/>
        </p:nvSpPr>
        <p:spPr>
          <a:xfrm>
            <a:off x="638175" y="3797298"/>
            <a:ext cx="38475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rag.py — legacy scripture RAG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4472285" y="4041773"/>
            <a:ext cx="857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7" name="Text 35"/>
          <p:cNvSpPr/>
          <p:nvPr/>
        </p:nvSpPr>
        <p:spPr>
          <a:xfrm>
            <a:off x="4577060" y="3797298"/>
            <a:ext cx="7239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5329535" y="4041773"/>
            <a:ext cx="366206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9" name="Text 37"/>
          <p:cNvSpPr/>
          <p:nvPr/>
        </p:nvSpPr>
        <p:spPr>
          <a:xfrm>
            <a:off x="5434310" y="3797298"/>
            <a:ext cx="356237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Hardcoded — conservative for factual answers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533400" y="4378325"/>
            <a:ext cx="393888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1" name="Text 39"/>
          <p:cNvSpPr/>
          <p:nvPr/>
        </p:nvSpPr>
        <p:spPr>
          <a:xfrm>
            <a:off x="638175" y="4133850"/>
            <a:ext cx="38475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assistant.py — temple data synthesis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4472285" y="4378325"/>
            <a:ext cx="857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3" name="Text 41"/>
          <p:cNvSpPr/>
          <p:nvPr/>
        </p:nvSpPr>
        <p:spPr>
          <a:xfrm>
            <a:off x="4577060" y="4133850"/>
            <a:ext cx="7239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0.3</a:t>
            </a:r>
            <a:endParaRPr lang="en-US" sz="975" dirty="0"/>
          </a:p>
        </p:txBody>
      </p:sp>
      <p:sp>
        <p:nvSpPr>
          <p:cNvPr id="44" name="Shape 42"/>
          <p:cNvSpPr/>
          <p:nvPr/>
        </p:nvSpPr>
        <p:spPr>
          <a:xfrm>
            <a:off x="5329535" y="4378325"/>
            <a:ext cx="366206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5434310" y="4133850"/>
            <a:ext cx="356237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Hardcoded — conservative for live data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533400" y="4714874"/>
            <a:ext cx="393888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7" name="Text 45"/>
          <p:cNvSpPr/>
          <p:nvPr/>
        </p:nvSpPr>
        <p:spPr>
          <a:xfrm>
            <a:off x="638175" y="4470399"/>
            <a:ext cx="38475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orchestrator.py — multi-agent synthesis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4472285" y="4714874"/>
            <a:ext cx="857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9" name="Text 47"/>
          <p:cNvSpPr/>
          <p:nvPr/>
        </p:nvSpPr>
        <p:spPr>
          <a:xfrm>
            <a:off x="4577060" y="4470399"/>
            <a:ext cx="7239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0.4</a:t>
            </a:r>
            <a:endParaRPr lang="en-US" sz="975" dirty="0"/>
          </a:p>
        </p:txBody>
      </p:sp>
      <p:sp>
        <p:nvSpPr>
          <p:cNvPr id="50" name="Shape 48"/>
          <p:cNvSpPr/>
          <p:nvPr/>
        </p:nvSpPr>
        <p:spPr>
          <a:xfrm>
            <a:off x="5329535" y="4714874"/>
            <a:ext cx="366206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1" name="Text 49"/>
          <p:cNvSpPr/>
          <p:nvPr/>
        </p:nvSpPr>
        <p:spPr>
          <a:xfrm>
            <a:off x="5434310" y="4470399"/>
            <a:ext cx="356237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Hardcoded — balanced when combining outputs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533400" y="5051423"/>
            <a:ext cx="393888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3" name="Text 51"/>
          <p:cNvSpPr/>
          <p:nvPr/>
        </p:nvSpPr>
        <p:spPr>
          <a:xfrm>
            <a:off x="638175" y="4806948"/>
            <a:ext cx="3847502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youtube.py — transcript formatting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4472285" y="5051423"/>
            <a:ext cx="857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5" name="Text 53"/>
          <p:cNvSpPr/>
          <p:nvPr/>
        </p:nvSpPr>
        <p:spPr>
          <a:xfrm>
            <a:off x="4577060" y="4806948"/>
            <a:ext cx="72390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</a:t>
            </a:r>
            <a:endParaRPr lang="en-US" sz="975" dirty="0"/>
          </a:p>
        </p:txBody>
      </p:sp>
      <p:sp>
        <p:nvSpPr>
          <p:cNvPr id="56" name="Shape 54"/>
          <p:cNvSpPr/>
          <p:nvPr/>
        </p:nvSpPr>
        <p:spPr>
          <a:xfrm>
            <a:off x="5329535" y="5051423"/>
            <a:ext cx="366206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7" name="Text 55"/>
          <p:cNvSpPr/>
          <p:nvPr/>
        </p:nvSpPr>
        <p:spPr>
          <a:xfrm>
            <a:off x="5434310" y="4806948"/>
            <a:ext cx="356237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Hardcoded — must preserve transcript faithfully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533400" y="12960350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/>
          <p:nvPr/>
        </p:nvSpPr>
        <p:spPr>
          <a:xfrm>
            <a:off x="533400" y="13042899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60" name="Text 58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7</a:t>
            </a:r>
            <a:endParaRPr lang="en-US" sz="78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49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0"/>
            <a:ext cx="48395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 Deep Dive — Request Flow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0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user message hops five network layers before any AI processing begins. Every field in the request body is used — </a:t>
            </a:r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475569"/>
                </a:solidFill>
                <a:highlight>
                  <a:srgbClr val="F1F5F9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history </a:t>
            </a:r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injects the last 20 turns for conversational context.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747043"/>
            <a:ext cx="8458200" cy="11035507"/>
          </a:xfrm>
          <a:prstGeom prst="roundRect">
            <a:avLst>
              <a:gd name="adj" fmla="val 1802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" y="1943893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8 · END-TO-END REQUEST CHAIN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300" y="2216944"/>
            <a:ext cx="3902075" cy="571500"/>
          </a:xfrm>
          <a:prstGeom prst="roundRect">
            <a:avLst>
              <a:gd name="adj" fmla="val 16667"/>
            </a:avLst>
          </a:prstGeom>
          <a:solidFill>
            <a:srgbClr val="7DA2FF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300" y="2782094"/>
            <a:ext cx="3902075" cy="9525"/>
          </a:xfrm>
          <a:prstGeom prst="rect">
            <a:avLst/>
          </a:prstGeom>
          <a:solidFill>
            <a:srgbClr val="7DA2FF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300" y="2216944"/>
            <a:ext cx="3902075" cy="9525"/>
          </a:xfrm>
          <a:prstGeom prst="rect">
            <a:avLst/>
          </a:prstGeom>
          <a:solidFill>
            <a:srgbClr val="7DA2FF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49300" y="2216944"/>
            <a:ext cx="25400" cy="571500"/>
          </a:xfrm>
          <a:prstGeom prst="rect">
            <a:avLst/>
          </a:prstGeom>
          <a:solidFill>
            <a:srgbClr val="7DA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645025" y="2216944"/>
            <a:ext cx="9525" cy="571500"/>
          </a:xfrm>
          <a:prstGeom prst="rect">
            <a:avLst/>
          </a:prstGeom>
          <a:solidFill>
            <a:srgbClr val="7DA2FF">
              <a:alpha val="2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7575" y="2337593"/>
            <a:ext cx="39430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Native App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7575" y="2547143"/>
            <a:ext cx="394303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7DA2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 55 · RN 0.83 — Chat screen tap</a:t>
            </a:r>
            <a:endParaRPr lang="en-US" sz="7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700" y="2845594"/>
            <a:ext cx="152400" cy="1905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1139825" y="2855119"/>
            <a:ext cx="3151188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22375" y="2880519"/>
            <a:ext cx="308062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/api/v1/temples/{temple_id}/assistant/chat · HTTPS</a:t>
            </a:r>
            <a:endParaRPr lang="en-US" sz="713" dirty="0"/>
          </a:p>
        </p:txBody>
      </p:sp>
      <p:sp>
        <p:nvSpPr>
          <p:cNvPr id="21" name="Shape 18"/>
          <p:cNvSpPr/>
          <p:nvPr/>
        </p:nvSpPr>
        <p:spPr>
          <a:xfrm>
            <a:off x="749300" y="3093244"/>
            <a:ext cx="3902075" cy="571500"/>
          </a:xfrm>
          <a:prstGeom prst="roundRect">
            <a:avLst>
              <a:gd name="adj" fmla="val 16667"/>
            </a:avLst>
          </a:prstGeom>
          <a:solidFill>
            <a:srgbClr val="2DD4BF">
              <a:alpha val="7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749300" y="3658394"/>
            <a:ext cx="3902075" cy="9525"/>
          </a:xfrm>
          <a:prstGeom prst="rect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749300" y="3093244"/>
            <a:ext cx="3902075" cy="9525"/>
          </a:xfrm>
          <a:prstGeom prst="rect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49300" y="3093244"/>
            <a:ext cx="25400" cy="5715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Shape 22"/>
          <p:cNvSpPr/>
          <p:nvPr/>
        </p:nvSpPr>
        <p:spPr>
          <a:xfrm>
            <a:off x="4645025" y="3093244"/>
            <a:ext cx="9525" cy="571500"/>
          </a:xfrm>
          <a:prstGeom prst="rect">
            <a:avLst/>
          </a:prstGeom>
          <a:solidFill>
            <a:srgbClr val="2DD4BF">
              <a:alpha val="22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917575" y="3213893"/>
            <a:ext cx="39430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Vercel Edge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917575" y="3423443"/>
            <a:ext cx="394303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temple-frontend-pi.vercel.app — CDN</a:t>
            </a:r>
            <a:endParaRPr lang="en-US" sz="75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700" y="3721894"/>
            <a:ext cx="152400" cy="190500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1139825" y="3731419"/>
            <a:ext cx="2223691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1222375" y="3756819"/>
            <a:ext cx="2134791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rewrite /api/* → Cloudflare Tunnel URL</a:t>
            </a:r>
            <a:endParaRPr lang="en-US" sz="713" dirty="0"/>
          </a:p>
        </p:txBody>
      </p:sp>
      <p:sp>
        <p:nvSpPr>
          <p:cNvPr id="31" name="Shape 27"/>
          <p:cNvSpPr/>
          <p:nvPr/>
        </p:nvSpPr>
        <p:spPr>
          <a:xfrm>
            <a:off x="749300" y="3969544"/>
            <a:ext cx="3902075" cy="571500"/>
          </a:xfrm>
          <a:prstGeom prst="roundRect">
            <a:avLst>
              <a:gd name="adj" fmla="val 16667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32" name="Shape 28"/>
          <p:cNvSpPr/>
          <p:nvPr/>
        </p:nvSpPr>
        <p:spPr>
          <a:xfrm>
            <a:off x="749300" y="4534694"/>
            <a:ext cx="3902075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3" name="Shape 29"/>
          <p:cNvSpPr/>
          <p:nvPr/>
        </p:nvSpPr>
        <p:spPr>
          <a:xfrm>
            <a:off x="749300" y="3969544"/>
            <a:ext cx="3902075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4" name="Shape 30"/>
          <p:cNvSpPr/>
          <p:nvPr/>
        </p:nvSpPr>
        <p:spPr>
          <a:xfrm>
            <a:off x="749300" y="3969544"/>
            <a:ext cx="25400" cy="5715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5" name="Shape 31"/>
          <p:cNvSpPr/>
          <p:nvPr/>
        </p:nvSpPr>
        <p:spPr>
          <a:xfrm>
            <a:off x="4645025" y="3969544"/>
            <a:ext cx="9525" cy="571500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917575" y="4090193"/>
            <a:ext cx="39430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Cloudflare Quick Tunnel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17575" y="4299743"/>
            <a:ext cx="394303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QUIC / HTTP2 ingress</a:t>
            </a:r>
            <a:endParaRPr lang="en-US" sz="750" dirty="0"/>
          </a:p>
        </p:txBody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700" y="4598194"/>
            <a:ext cx="152400" cy="190500"/>
          </a:xfrm>
          <a:prstGeom prst="rect">
            <a:avLst/>
          </a:prstGeom>
        </p:spPr>
      </p:pic>
      <p:sp>
        <p:nvSpPr>
          <p:cNvPr id="39" name="Shape 34"/>
          <p:cNvSpPr/>
          <p:nvPr/>
        </p:nvSpPr>
        <p:spPr>
          <a:xfrm>
            <a:off x="1139825" y="4607719"/>
            <a:ext cx="2060873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1222375" y="4633119"/>
            <a:ext cx="197197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cloudflared → localhost:8000 · HTTP</a:t>
            </a:r>
            <a:endParaRPr lang="en-US" sz="713" dirty="0"/>
          </a:p>
        </p:txBody>
      </p:sp>
      <p:sp>
        <p:nvSpPr>
          <p:cNvPr id="41" name="Shape 36"/>
          <p:cNvSpPr/>
          <p:nvPr/>
        </p:nvSpPr>
        <p:spPr>
          <a:xfrm>
            <a:off x="749300" y="4845844"/>
            <a:ext cx="3902075" cy="571500"/>
          </a:xfrm>
          <a:prstGeom prst="roundRect">
            <a:avLst>
              <a:gd name="adj" fmla="val 16667"/>
            </a:avLst>
          </a:prstGeom>
          <a:solidFill>
            <a:srgbClr val="E87722">
              <a:alpha val="10000"/>
            </a:srgbClr>
          </a:solidFill>
          <a:ln/>
          <a:effectLst>
            <a:outerShdw sx="100000" sy="100000" kx="0" ky="0" algn="bl" rotWithShape="0" blurRad="171450" dist="50800" dir="16200000">
              <a:srgbClr val="E87722">
                <a:alpha val="10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749300" y="5410994"/>
            <a:ext cx="3902075" cy="9525"/>
          </a:xfrm>
          <a:prstGeom prst="rect">
            <a:avLst/>
          </a:prstGeom>
          <a:solidFill>
            <a:srgbClr val="E87722">
              <a:alpha val="40000"/>
            </a:srgbClr>
          </a:solidFill>
          <a:ln/>
        </p:spPr>
      </p:sp>
      <p:sp>
        <p:nvSpPr>
          <p:cNvPr id="43" name="Shape 38"/>
          <p:cNvSpPr/>
          <p:nvPr/>
        </p:nvSpPr>
        <p:spPr>
          <a:xfrm>
            <a:off x="749300" y="4845844"/>
            <a:ext cx="3902075" cy="9525"/>
          </a:xfrm>
          <a:prstGeom prst="rect">
            <a:avLst/>
          </a:prstGeom>
          <a:solidFill>
            <a:srgbClr val="E87722">
              <a:alpha val="40000"/>
            </a:srgbClr>
          </a:solidFill>
          <a:ln/>
        </p:spPr>
      </p:sp>
      <p:sp>
        <p:nvSpPr>
          <p:cNvPr id="44" name="Shape 39"/>
          <p:cNvSpPr/>
          <p:nvPr/>
        </p:nvSpPr>
        <p:spPr>
          <a:xfrm>
            <a:off x="749300" y="4845844"/>
            <a:ext cx="25400" cy="571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5" name="Shape 40"/>
          <p:cNvSpPr/>
          <p:nvPr/>
        </p:nvSpPr>
        <p:spPr>
          <a:xfrm>
            <a:off x="4645025" y="4845844"/>
            <a:ext cx="9525" cy="571500"/>
          </a:xfrm>
          <a:prstGeom prst="rect">
            <a:avLst/>
          </a:prstGeom>
          <a:solidFill>
            <a:srgbClr val="E87722">
              <a:alpha val="40000"/>
            </a:srgbClr>
          </a:solidFill>
          <a:ln/>
        </p:spPr>
      </p:sp>
      <p:sp>
        <p:nvSpPr>
          <p:cNvPr id="46" name="Text 41"/>
          <p:cNvSpPr/>
          <p:nvPr/>
        </p:nvSpPr>
        <p:spPr>
          <a:xfrm>
            <a:off x="917575" y="4966493"/>
            <a:ext cx="394303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CEB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Gateway · FastAPI :8000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917575" y="5176043"/>
            <a:ext cx="394303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verify JWT → inject X-User-Id, X-User-Role</a:t>
            </a:r>
            <a:endParaRPr lang="en-US" sz="750" dirty="0"/>
          </a:p>
        </p:txBody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" y="5474494"/>
            <a:ext cx="152400" cy="190500"/>
          </a:xfrm>
          <a:prstGeom prst="rect">
            <a:avLst/>
          </a:prstGeom>
        </p:spPr>
      </p:pic>
      <p:sp>
        <p:nvSpPr>
          <p:cNvPr id="49" name="Shape 43"/>
          <p:cNvSpPr/>
          <p:nvPr/>
        </p:nvSpPr>
        <p:spPr>
          <a:xfrm>
            <a:off x="1139825" y="5484019"/>
            <a:ext cx="2169418" cy="171450"/>
          </a:xfrm>
          <a:prstGeom prst="roundRect">
            <a:avLst>
              <a:gd name="adj" fmla="val 27778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1222375" y="5509419"/>
            <a:ext cx="208051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6C9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proxy → aagam-mitra:8004 · Docker DNS</a:t>
            </a:r>
            <a:endParaRPr lang="en-US" sz="713" dirty="0"/>
          </a:p>
        </p:txBody>
      </p:sp>
      <p:sp>
        <p:nvSpPr>
          <p:cNvPr id="51" name="Shape 45"/>
          <p:cNvSpPr/>
          <p:nvPr/>
        </p:nvSpPr>
        <p:spPr>
          <a:xfrm>
            <a:off x="749300" y="5722144"/>
            <a:ext cx="3902075" cy="596900"/>
          </a:xfrm>
          <a:prstGeom prst="roundRect">
            <a:avLst>
              <a:gd name="adj" fmla="val 15957"/>
            </a:avLst>
          </a:prstGeom>
          <a:solidFill>
            <a:srgbClr val="E87722">
              <a:alpha val="14000"/>
            </a:srgbClr>
          </a:solidFill>
          <a:ln w="19050">
            <a:solidFill>
              <a:srgbClr val="E87722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732314" y="5855494"/>
            <a:ext cx="393604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EBD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 Service :8004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732314" y="6065044"/>
            <a:ext cx="393604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processing begins → security → orchestrator → agents</a:t>
            </a:r>
            <a:endParaRPr lang="en-US" sz="750" dirty="0"/>
          </a:p>
        </p:txBody>
      </p:sp>
      <p:sp>
        <p:nvSpPr>
          <p:cNvPr id="54" name="Shape 48"/>
          <p:cNvSpPr/>
          <p:nvPr/>
        </p:nvSpPr>
        <p:spPr>
          <a:xfrm>
            <a:off x="4860925" y="2216944"/>
            <a:ext cx="3914775" cy="4102100"/>
          </a:xfrm>
          <a:prstGeom prst="roundRect">
            <a:avLst>
              <a:gd name="adj" fmla="val 2920"/>
            </a:avLst>
          </a:prstGeom>
          <a:solidFill>
            <a:srgbClr val="0B1120"/>
          </a:solidFill>
          <a:ln w="6350">
            <a:solidFill>
              <a:srgbClr val="233047"/>
            </a:solidFill>
            <a:prstDash val="solid"/>
          </a:ln>
        </p:spPr>
      </p:sp>
      <p:sp>
        <p:nvSpPr>
          <p:cNvPr id="55" name="Shape 49"/>
          <p:cNvSpPr/>
          <p:nvPr/>
        </p:nvSpPr>
        <p:spPr>
          <a:xfrm>
            <a:off x="4867275" y="2223293"/>
            <a:ext cx="3902075" cy="317500"/>
          </a:xfrm>
          <a:prstGeom prst="rect">
            <a:avLst/>
          </a:prstGeom>
          <a:solidFill>
            <a:srgbClr val="38BDF8">
              <a:alpha val="7000"/>
            </a:srgbClr>
          </a:solidFill>
          <a:ln/>
        </p:spPr>
      </p:sp>
      <p:sp>
        <p:nvSpPr>
          <p:cNvPr id="56" name="Shape 50"/>
          <p:cNvSpPr/>
          <p:nvPr/>
        </p:nvSpPr>
        <p:spPr>
          <a:xfrm>
            <a:off x="4867275" y="2534443"/>
            <a:ext cx="390207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57" name="Text 51"/>
          <p:cNvSpPr/>
          <p:nvPr/>
        </p:nvSpPr>
        <p:spPr>
          <a:xfrm>
            <a:off x="5019675" y="2318543"/>
            <a:ext cx="13935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75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· REQUEST BODY</a:t>
            </a:r>
            <a:endParaRPr lang="en-US" sz="750" dirty="0"/>
          </a:p>
        </p:txBody>
      </p:sp>
      <p:sp>
        <p:nvSpPr>
          <p:cNvPr id="58" name="Text 52"/>
          <p:cNvSpPr/>
          <p:nvPr/>
        </p:nvSpPr>
        <p:spPr>
          <a:xfrm>
            <a:off x="7702550" y="2318543"/>
            <a:ext cx="9906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application/json</a:t>
            </a:r>
            <a:endParaRPr lang="en-US" sz="750" dirty="0"/>
          </a:p>
        </p:txBody>
      </p:sp>
      <p:sp>
        <p:nvSpPr>
          <p:cNvPr id="59" name="Text 53"/>
          <p:cNvSpPr/>
          <p:nvPr/>
        </p:nvSpPr>
        <p:spPr>
          <a:xfrm>
            <a:off x="5038725" y="2693194"/>
            <a:ext cx="3676237" cy="24217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"user_id"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   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"usr_abc123"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"role"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      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"devotee"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"message"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    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"What is the meaning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of Navakar Mantra?"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"temple_name"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"Shri Digambar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  Jain Mandir"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"history"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[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"role"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"user"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"content"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"…"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},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{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"role"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"assistant"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"content"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"…"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← last 20 turns from component state </a:t>
            </a:r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]</a:t>
            </a:r>
            <a:endParaRPr lang="en-US" sz="825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825" dirty="0"/>
          </a:p>
        </p:txBody>
      </p:sp>
      <p:sp>
        <p:nvSpPr>
          <p:cNvPr id="60" name="Shape 54"/>
          <p:cNvSpPr/>
          <p:nvPr/>
        </p:nvSpPr>
        <p:spPr>
          <a:xfrm>
            <a:off x="4867275" y="5229225"/>
            <a:ext cx="390207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61" name="Text 55"/>
          <p:cNvSpPr/>
          <p:nvPr/>
        </p:nvSpPr>
        <p:spPr>
          <a:xfrm>
            <a:off x="5019675" y="5349875"/>
            <a:ext cx="3714337" cy="5030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gateway reads the Bearer token from the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Authorization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header, verifies it against the Identity service secret, then strips it and forwards the body with three injected headers: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X-User-Id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X-User-Role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X-Temple-Id</a:t>
            </a:r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788" dirty="0"/>
          </a:p>
        </p:txBody>
      </p:sp>
      <p:sp>
        <p:nvSpPr>
          <p:cNvPr id="62" name="Shape 56"/>
          <p:cNvSpPr/>
          <p:nvPr/>
        </p:nvSpPr>
        <p:spPr>
          <a:xfrm>
            <a:off x="533400" y="12960350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57"/>
          <p:cNvSpPr/>
          <p:nvPr/>
        </p:nvSpPr>
        <p:spPr>
          <a:xfrm>
            <a:off x="533400" y="13042900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64" name="Text 58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8</a:t>
            </a:r>
            <a:endParaRPr lang="en-US" sz="78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0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0"/>
            <a:ext cx="447072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Layer — 4 Sequential Gates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0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check runs in order before any AI model is called. A single failure short-circuits with an HTTP error and nothing downstream executes.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562497"/>
            <a:ext cx="8458200" cy="11220054"/>
          </a:xfrm>
          <a:prstGeom prst="roundRect">
            <a:avLst>
              <a:gd name="adj" fmla="val 1802"/>
            </a:avLst>
          </a:prstGeom>
          <a:gradFill rotWithShape="1">
            <a:gsLst>
              <a:gs pos="0">
                <a:srgbClr val="1A0B0B">
                  <a:alpha val="100000"/>
                </a:srgbClr>
              </a:gs>
              <a:gs pos="30000">
                <a:srgbClr val="1A0A0A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EF4444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" y="1759347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F8717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9 · 4-GATE SECURITY PIPELINE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300" y="2032397"/>
            <a:ext cx="3946525" cy="2224088"/>
          </a:xfrm>
          <a:prstGeom prst="roundRect">
            <a:avLst>
              <a:gd name="adj" fmla="val 5139"/>
            </a:avLst>
          </a:prstGeom>
          <a:solidFill>
            <a:srgbClr val="EF4444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300" y="4250134"/>
            <a:ext cx="3946525" cy="9525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300" y="2032397"/>
            <a:ext cx="3946525" cy="19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300" y="2032397"/>
            <a:ext cx="9525" cy="222408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689475" y="2032397"/>
            <a:ext cx="9525" cy="222408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17575" y="2197497"/>
            <a:ext cx="571500" cy="158750"/>
          </a:xfrm>
          <a:prstGeom prst="roundRect">
            <a:avLst>
              <a:gd name="adj" fmla="val 3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3300" y="2216547"/>
            <a:ext cx="4762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1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574800" y="2194322"/>
            <a:ext cx="9209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Length Guard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917575" y="2445147"/>
            <a:ext cx="39709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Reject immediately if message length is out of bounds.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917575" y="2697559"/>
            <a:ext cx="3609975" cy="292100"/>
          </a:xfrm>
          <a:prstGeom prst="roundRect">
            <a:avLst>
              <a:gd name="adj" fmla="val 22826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31875" y="2773759"/>
            <a:ext cx="348967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≤ len(message) ≤ 2000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917575" y="3075384"/>
            <a:ext cx="3609975" cy="9525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7575" y="3157934"/>
            <a:ext cx="371827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else → HTTP 400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829175" y="2032397"/>
            <a:ext cx="3946525" cy="2224088"/>
          </a:xfrm>
          <a:prstGeom prst="roundRect">
            <a:avLst>
              <a:gd name="adj" fmla="val 5139"/>
            </a:avLst>
          </a:prstGeom>
          <a:solidFill>
            <a:srgbClr val="EF4444">
              <a:alpha val="7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829175" y="4250134"/>
            <a:ext cx="3946525" cy="9525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829175" y="2032397"/>
            <a:ext cx="3946525" cy="19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7" name="Shape 25"/>
          <p:cNvSpPr/>
          <p:nvPr/>
        </p:nvSpPr>
        <p:spPr>
          <a:xfrm>
            <a:off x="4829175" y="2032397"/>
            <a:ext cx="9525" cy="222408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8769350" y="2032397"/>
            <a:ext cx="9525" cy="222408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997450" y="2197497"/>
            <a:ext cx="571500" cy="158750"/>
          </a:xfrm>
          <a:prstGeom prst="roundRect">
            <a:avLst>
              <a:gd name="adj" fmla="val 3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5083175" y="2216547"/>
            <a:ext cx="4762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654675" y="2194322"/>
            <a:ext cx="1407041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14 Hard-Block Regex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4997450" y="2445147"/>
            <a:ext cx="39709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Instant block if any pattern matches — no LLM call.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997450" y="2688034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34" name="Text 32"/>
          <p:cNvSpPr/>
          <p:nvPr/>
        </p:nvSpPr>
        <p:spPr>
          <a:xfrm>
            <a:off x="5104408" y="2688034"/>
            <a:ext cx="17049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"ignore previous instructions"</a:t>
            </a:r>
            <a:endParaRPr lang="en-US" sz="713" dirty="0"/>
          </a:p>
        </p:txBody>
      </p:sp>
      <p:sp>
        <p:nvSpPr>
          <p:cNvPr id="35" name="Text 33"/>
          <p:cNvSpPr/>
          <p:nvPr/>
        </p:nvSpPr>
        <p:spPr>
          <a:xfrm>
            <a:off x="4997450" y="2856309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36" name="Text 34"/>
          <p:cNvSpPr/>
          <p:nvPr/>
        </p:nvSpPr>
        <p:spPr>
          <a:xfrm>
            <a:off x="5104408" y="2856309"/>
            <a:ext cx="230227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"act as DAN" / "you are now unrestricted"</a:t>
            </a:r>
            <a:endParaRPr lang="en-US" sz="713" dirty="0"/>
          </a:p>
        </p:txBody>
      </p:sp>
      <p:sp>
        <p:nvSpPr>
          <p:cNvPr id="37" name="Text 35"/>
          <p:cNvSpPr/>
          <p:nvPr/>
        </p:nvSpPr>
        <p:spPr>
          <a:xfrm>
            <a:off x="4997450" y="3024585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38" name="Text 36"/>
          <p:cNvSpPr/>
          <p:nvPr/>
        </p:nvSpPr>
        <p:spPr>
          <a:xfrm>
            <a:off x="5104408" y="3024585"/>
            <a:ext cx="154215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"reveal your system prompt"</a:t>
            </a:r>
            <a:endParaRPr lang="en-US" sz="713" dirty="0"/>
          </a:p>
        </p:txBody>
      </p:sp>
      <p:sp>
        <p:nvSpPr>
          <p:cNvPr id="39" name="Text 37"/>
          <p:cNvSpPr/>
          <p:nvPr/>
        </p:nvSpPr>
        <p:spPr>
          <a:xfrm>
            <a:off x="4997450" y="3192859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40" name="Text 38"/>
          <p:cNvSpPr/>
          <p:nvPr/>
        </p:nvSpPr>
        <p:spPr>
          <a:xfrm>
            <a:off x="5104408" y="3192859"/>
            <a:ext cx="19764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&lt;system&gt; · [override] tag injection</a:t>
            </a:r>
            <a:endParaRPr lang="en-US" sz="713" dirty="0"/>
          </a:p>
        </p:txBody>
      </p:sp>
      <p:sp>
        <p:nvSpPr>
          <p:cNvPr id="41" name="Text 39"/>
          <p:cNvSpPr/>
          <p:nvPr/>
        </p:nvSpPr>
        <p:spPr>
          <a:xfrm>
            <a:off x="4997450" y="3361134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5104408" y="3361134"/>
            <a:ext cx="148788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"run python" / "exec bash"</a:t>
            </a:r>
            <a:endParaRPr lang="en-US" sz="713" dirty="0"/>
          </a:p>
        </p:txBody>
      </p:sp>
      <p:sp>
        <p:nvSpPr>
          <p:cNvPr id="43" name="Text 41"/>
          <p:cNvSpPr/>
          <p:nvPr/>
        </p:nvSpPr>
        <p:spPr>
          <a:xfrm>
            <a:off x="4997450" y="3529410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44" name="Text 42"/>
          <p:cNvSpPr/>
          <p:nvPr/>
        </p:nvSpPr>
        <p:spPr>
          <a:xfrm>
            <a:off x="5104408" y="3529410"/>
            <a:ext cx="2139354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"list your database" / "show api keys"</a:t>
            </a:r>
            <a:endParaRPr lang="en-US" sz="713" dirty="0"/>
          </a:p>
        </p:txBody>
      </p:sp>
      <p:sp>
        <p:nvSpPr>
          <p:cNvPr id="45" name="Text 43"/>
          <p:cNvSpPr/>
          <p:nvPr/>
        </p:nvSpPr>
        <p:spPr>
          <a:xfrm>
            <a:off x="4997450" y="3697684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46" name="Text 44"/>
          <p:cNvSpPr/>
          <p:nvPr/>
        </p:nvSpPr>
        <p:spPr>
          <a:xfrm>
            <a:off x="5104408" y="3697684"/>
            <a:ext cx="1324967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+ 8 additional patterns</a:t>
            </a:r>
            <a:endParaRPr lang="en-US" sz="713" dirty="0"/>
          </a:p>
        </p:txBody>
      </p:sp>
      <p:sp>
        <p:nvSpPr>
          <p:cNvPr id="47" name="Shape 45"/>
          <p:cNvSpPr/>
          <p:nvPr/>
        </p:nvSpPr>
        <p:spPr>
          <a:xfrm>
            <a:off x="4997450" y="3904059"/>
            <a:ext cx="3609975" cy="9525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997450" y="3986609"/>
            <a:ext cx="371827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match → HTTP 400, no model call ever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749300" y="4389834"/>
            <a:ext cx="3946525" cy="1887538"/>
          </a:xfrm>
          <a:prstGeom prst="roundRect">
            <a:avLst>
              <a:gd name="adj" fmla="val 6056"/>
            </a:avLst>
          </a:prstGeom>
          <a:solidFill>
            <a:srgbClr val="EF4444">
              <a:alpha val="7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9300" y="6271022"/>
            <a:ext cx="3946525" cy="9525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49300" y="4389834"/>
            <a:ext cx="3946525" cy="19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52" name="Shape 50"/>
          <p:cNvSpPr/>
          <p:nvPr/>
        </p:nvSpPr>
        <p:spPr>
          <a:xfrm>
            <a:off x="749300" y="4389834"/>
            <a:ext cx="9525" cy="188753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4689475" y="4389834"/>
            <a:ext cx="9525" cy="188753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17575" y="4554934"/>
            <a:ext cx="571500" cy="158750"/>
          </a:xfrm>
          <a:prstGeom prst="roundRect">
            <a:avLst>
              <a:gd name="adj" fmla="val 3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03300" y="4573984"/>
            <a:ext cx="4762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3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574800" y="4551759"/>
            <a:ext cx="2076837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RBAC — 8 Admin-Only Patterns</a:t>
            </a:r>
            <a:endParaRPr lang="en-US" sz="1013" dirty="0"/>
          </a:p>
        </p:txBody>
      </p:sp>
      <p:sp>
        <p:nvSpPr>
          <p:cNvPr id="57" name="Text 55"/>
          <p:cNvSpPr/>
          <p:nvPr/>
        </p:nvSpPr>
        <p:spPr>
          <a:xfrm>
            <a:off x="917575" y="4802584"/>
            <a:ext cx="39709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intent patterns locked to the </a:t>
            </a:r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 </a:t>
            </a:r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 — blocked for </a:t>
            </a:r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devotee</a:t>
            </a:r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917575" y="5045472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59" name="Text 57"/>
          <p:cNvSpPr/>
          <p:nvPr/>
        </p:nvSpPr>
        <p:spPr>
          <a:xfrm>
            <a:off x="1024533" y="5045472"/>
            <a:ext cx="94495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"generate slots"</a:t>
            </a:r>
            <a:endParaRPr lang="en-US" sz="713" dirty="0"/>
          </a:p>
        </p:txBody>
      </p:sp>
      <p:sp>
        <p:nvSpPr>
          <p:cNvPr id="60" name="Text 58"/>
          <p:cNvSpPr/>
          <p:nvPr/>
        </p:nvSpPr>
        <p:spPr>
          <a:xfrm>
            <a:off x="917575" y="5213747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61" name="Text 59"/>
          <p:cNvSpPr/>
          <p:nvPr/>
        </p:nvSpPr>
        <p:spPr>
          <a:xfrm>
            <a:off x="1024533" y="5213747"/>
            <a:ext cx="78204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"member list"</a:t>
            </a:r>
            <a:endParaRPr lang="en-US" sz="713" dirty="0"/>
          </a:p>
        </p:txBody>
      </p:sp>
      <p:sp>
        <p:nvSpPr>
          <p:cNvPr id="62" name="Text 60"/>
          <p:cNvSpPr/>
          <p:nvPr/>
        </p:nvSpPr>
        <p:spPr>
          <a:xfrm>
            <a:off x="917575" y="5382022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EF44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63" name="Text 61"/>
          <p:cNvSpPr/>
          <p:nvPr/>
        </p:nvSpPr>
        <p:spPr>
          <a:xfrm>
            <a:off x="1024533" y="5382022"/>
            <a:ext cx="94495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"finance report"</a:t>
            </a:r>
            <a:endParaRPr lang="en-US" sz="713" dirty="0"/>
          </a:p>
        </p:txBody>
      </p:sp>
      <p:sp>
        <p:nvSpPr>
          <p:cNvPr id="64" name="Text 62"/>
          <p:cNvSpPr/>
          <p:nvPr/>
        </p:nvSpPr>
        <p:spPr>
          <a:xfrm>
            <a:off x="917575" y="5550297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▸</a:t>
            </a:r>
            <a:endParaRPr lang="en-US" sz="713" dirty="0"/>
          </a:p>
        </p:txBody>
      </p:sp>
      <p:sp>
        <p:nvSpPr>
          <p:cNvPr id="65" name="Text 63"/>
          <p:cNvSpPr/>
          <p:nvPr/>
        </p:nvSpPr>
        <p:spPr>
          <a:xfrm>
            <a:off x="1024533" y="5550297"/>
            <a:ext cx="1650702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+ 5 additional admin patterns</a:t>
            </a:r>
            <a:endParaRPr lang="en-US" sz="713" dirty="0"/>
          </a:p>
        </p:txBody>
      </p:sp>
      <p:sp>
        <p:nvSpPr>
          <p:cNvPr id="66" name="Shape 64"/>
          <p:cNvSpPr/>
          <p:nvPr/>
        </p:nvSpPr>
        <p:spPr>
          <a:xfrm>
            <a:off x="917575" y="5756672"/>
            <a:ext cx="3609975" cy="9525"/>
          </a:xfrm>
          <a:prstGeom prst="rect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917575" y="5839222"/>
            <a:ext cx="371827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devotee role → HTTP 403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829175" y="4389834"/>
            <a:ext cx="3946525" cy="1887538"/>
          </a:xfrm>
          <a:prstGeom prst="roundRect">
            <a:avLst>
              <a:gd name="adj" fmla="val 6056"/>
            </a:avLst>
          </a:prstGeom>
          <a:solidFill>
            <a:srgbClr val="EF4444">
              <a:alpha val="7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829175" y="6271022"/>
            <a:ext cx="3946525" cy="9525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829175" y="4389834"/>
            <a:ext cx="3946525" cy="1905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1" name="Shape 69"/>
          <p:cNvSpPr/>
          <p:nvPr/>
        </p:nvSpPr>
        <p:spPr>
          <a:xfrm>
            <a:off x="4829175" y="4389834"/>
            <a:ext cx="9525" cy="188753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8769350" y="4389834"/>
            <a:ext cx="9525" cy="1887538"/>
          </a:xfrm>
          <a:prstGeom prst="rect">
            <a:avLst/>
          </a:prstGeom>
          <a:solidFill>
            <a:srgbClr val="EF4444">
              <a:alpha val="24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4997450" y="4554934"/>
            <a:ext cx="571500" cy="158750"/>
          </a:xfrm>
          <a:prstGeom prst="roundRect">
            <a:avLst>
              <a:gd name="adj" fmla="val 3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74" name="Text 72"/>
          <p:cNvSpPr/>
          <p:nvPr/>
        </p:nvSpPr>
        <p:spPr>
          <a:xfrm>
            <a:off x="5083175" y="4573984"/>
            <a:ext cx="4762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 4</a:t>
            </a:r>
            <a:endParaRPr lang="en-US" sz="750" dirty="0"/>
          </a:p>
        </p:txBody>
      </p:sp>
      <p:sp>
        <p:nvSpPr>
          <p:cNvPr id="75" name="Text 73"/>
          <p:cNvSpPr/>
          <p:nvPr/>
        </p:nvSpPr>
        <p:spPr>
          <a:xfrm>
            <a:off x="5654675" y="4551759"/>
            <a:ext cx="1637546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PII Masking → Audit Log</a:t>
            </a:r>
            <a:endParaRPr lang="en-US" sz="1013" dirty="0"/>
          </a:p>
        </p:txBody>
      </p:sp>
      <p:sp>
        <p:nvSpPr>
          <p:cNvPr id="76" name="Text 74"/>
          <p:cNvSpPr/>
          <p:nvPr/>
        </p:nvSpPr>
        <p:spPr>
          <a:xfrm>
            <a:off x="4997450" y="4802584"/>
            <a:ext cx="3970973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Sensitive data is replaced before anything is persisted to the audit log.</a:t>
            </a:r>
            <a:endParaRPr lang="en-US" sz="825" dirty="0"/>
          </a:p>
        </p:txBody>
      </p:sp>
      <p:sp>
        <p:nvSpPr>
          <p:cNvPr id="77" name="Text 75"/>
          <p:cNvSpPr/>
          <p:nvPr/>
        </p:nvSpPr>
        <p:spPr>
          <a:xfrm>
            <a:off x="4997450" y="5045472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713" dirty="0"/>
          </a:p>
        </p:txBody>
      </p:sp>
      <p:sp>
        <p:nvSpPr>
          <p:cNvPr id="78" name="Text 76"/>
          <p:cNvSpPr/>
          <p:nvPr/>
        </p:nvSpPr>
        <p:spPr>
          <a:xfrm>
            <a:off x="5104408" y="5045472"/>
            <a:ext cx="88612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phone → [PHONE]</a:t>
            </a:r>
            <a:endParaRPr lang="en-US" sz="713" dirty="0"/>
          </a:p>
        </p:txBody>
      </p:sp>
      <p:sp>
        <p:nvSpPr>
          <p:cNvPr id="79" name="Text 77"/>
          <p:cNvSpPr/>
          <p:nvPr/>
        </p:nvSpPr>
        <p:spPr>
          <a:xfrm>
            <a:off x="4997450" y="5213747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713" dirty="0"/>
          </a:p>
        </p:txBody>
      </p:sp>
      <p:sp>
        <p:nvSpPr>
          <p:cNvPr id="80" name="Text 78"/>
          <p:cNvSpPr/>
          <p:nvPr/>
        </p:nvSpPr>
        <p:spPr>
          <a:xfrm>
            <a:off x="5104408" y="5213747"/>
            <a:ext cx="88612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email → [EMAIL]</a:t>
            </a:r>
            <a:endParaRPr lang="en-US" sz="713" dirty="0"/>
          </a:p>
        </p:txBody>
      </p:sp>
      <p:sp>
        <p:nvSpPr>
          <p:cNvPr id="81" name="Text 79"/>
          <p:cNvSpPr/>
          <p:nvPr/>
        </p:nvSpPr>
        <p:spPr>
          <a:xfrm>
            <a:off x="4997450" y="5382022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713" dirty="0"/>
          </a:p>
        </p:txBody>
      </p:sp>
      <p:sp>
        <p:nvSpPr>
          <p:cNvPr id="82" name="Text 80"/>
          <p:cNvSpPr/>
          <p:nvPr/>
        </p:nvSpPr>
        <p:spPr>
          <a:xfrm>
            <a:off x="5104408" y="5382022"/>
            <a:ext cx="18588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PAN → [PAN] · Aadhaar → [AADHAAR]</a:t>
            </a:r>
            <a:endParaRPr lang="en-US" sz="713" dirty="0"/>
          </a:p>
        </p:txBody>
      </p:sp>
      <p:sp>
        <p:nvSpPr>
          <p:cNvPr id="83" name="Text 81"/>
          <p:cNvSpPr/>
          <p:nvPr/>
        </p:nvSpPr>
        <p:spPr>
          <a:xfrm>
            <a:off x="4997450" y="5550297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713" dirty="0"/>
          </a:p>
        </p:txBody>
      </p:sp>
      <p:sp>
        <p:nvSpPr>
          <p:cNvPr id="84" name="Text 82"/>
          <p:cNvSpPr/>
          <p:nvPr/>
        </p:nvSpPr>
        <p:spPr>
          <a:xfrm>
            <a:off x="5104408" y="5550297"/>
            <a:ext cx="8318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UPI → [UPI_ID]</a:t>
            </a:r>
            <a:endParaRPr lang="en-US" sz="713" dirty="0"/>
          </a:p>
        </p:txBody>
      </p:sp>
      <p:sp>
        <p:nvSpPr>
          <p:cNvPr id="85" name="Text 83"/>
          <p:cNvSpPr/>
          <p:nvPr/>
        </p:nvSpPr>
        <p:spPr>
          <a:xfrm>
            <a:off x="4997450" y="5718572"/>
            <a:ext cx="12600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</a:t>
            </a:r>
            <a:endParaRPr lang="en-US" sz="713" dirty="0"/>
          </a:p>
        </p:txBody>
      </p:sp>
      <p:sp>
        <p:nvSpPr>
          <p:cNvPr id="86" name="Text 84"/>
          <p:cNvSpPr/>
          <p:nvPr/>
        </p:nvSpPr>
        <p:spPr>
          <a:xfrm>
            <a:off x="5104408" y="5718572"/>
            <a:ext cx="197197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user_id → first 12 chars of SHA-256</a:t>
            </a:r>
            <a:endParaRPr lang="en-US" sz="713" dirty="0"/>
          </a:p>
        </p:txBody>
      </p:sp>
      <p:sp>
        <p:nvSpPr>
          <p:cNvPr id="87" name="Shape 85"/>
          <p:cNvSpPr/>
          <p:nvPr/>
        </p:nvSpPr>
        <p:spPr>
          <a:xfrm>
            <a:off x="4997450" y="5924947"/>
            <a:ext cx="3609975" cy="9525"/>
          </a:xfrm>
          <a:prstGeom prst="rect">
            <a:avLst/>
          </a:prstGeom>
          <a:solidFill>
            <a:srgbClr val="34D399">
              <a:alpha val="30000"/>
            </a:srgbClr>
          </a:solidFill>
          <a:ln/>
        </p:spPr>
      </p:sp>
      <p:sp>
        <p:nvSpPr>
          <p:cNvPr id="88" name="Text 86"/>
          <p:cNvSpPr/>
          <p:nvPr/>
        </p:nvSpPr>
        <p:spPr>
          <a:xfrm>
            <a:off x="4997450" y="6007497"/>
            <a:ext cx="3718274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then write audit row → pass to orchestrator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533400" y="12960351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0" name="Text 88"/>
          <p:cNvSpPr/>
          <p:nvPr/>
        </p:nvSpPr>
        <p:spPr>
          <a:xfrm>
            <a:off x="533400" y="13042900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91" name="Text 89"/>
          <p:cNvSpPr/>
          <p:nvPr/>
        </p:nvSpPr>
        <p:spPr>
          <a:xfrm>
            <a:off x="8687792" y="13049250"/>
            <a:ext cx="380008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9</a:t>
            </a:r>
            <a:endParaRPr lang="en-US" sz="788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0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1"/>
            <a:ext cx="566581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Orchestrator — Intent Classification &amp; Routing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1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compiled regex sets run simultaneously. Zero latency — pattern matching, not an LLM call. Results drive which agents execute and whether they run serially or in parallel.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747045"/>
            <a:ext cx="8458200" cy="11035507"/>
          </a:xfrm>
          <a:prstGeom prst="roundRect">
            <a:avLst>
              <a:gd name="adj" fmla="val 1802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" y="1943894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10 · INTENT CLASSIFICATION FLOW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300" y="2197894"/>
            <a:ext cx="1920875" cy="1220391"/>
          </a:xfrm>
          <a:prstGeom prst="roundRect">
            <a:avLst>
              <a:gd name="adj" fmla="val 8585"/>
            </a:avLst>
          </a:prstGeom>
          <a:solidFill>
            <a:srgbClr val="34D399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49300" y="3411934"/>
            <a:ext cx="1920875" cy="9525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9300" y="2197894"/>
            <a:ext cx="1920875" cy="1905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300" y="2197894"/>
            <a:ext cx="9525" cy="1220391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663825" y="2197894"/>
            <a:ext cx="9525" cy="1220391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79475" y="2331244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1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879475" y="2483644"/>
            <a:ext cx="18265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SCRIPTURE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79475" y="2718595"/>
            <a:ext cx="1736725" cy="61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sutra, agam, mantra, karma, dharma, moksha, atma, navakar, tirthankar, scripture, आगम, सूत्र</a:t>
            </a:r>
            <a:endParaRPr lang="en-US" sz="713" dirty="0"/>
          </a:p>
        </p:txBody>
      </p:sp>
      <p:sp>
        <p:nvSpPr>
          <p:cNvPr id="19" name="Shape 17"/>
          <p:cNvSpPr/>
          <p:nvPr/>
        </p:nvSpPr>
        <p:spPr>
          <a:xfrm>
            <a:off x="2784475" y="2197894"/>
            <a:ext cx="1920875" cy="1220391"/>
          </a:xfrm>
          <a:prstGeom prst="roundRect">
            <a:avLst>
              <a:gd name="adj" fmla="val 8585"/>
            </a:avLst>
          </a:prstGeom>
          <a:solidFill>
            <a:srgbClr val="38BDF8">
              <a:alpha val="7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784475" y="3411934"/>
            <a:ext cx="1920875" cy="9525"/>
          </a:xfrm>
          <a:prstGeom prst="rect">
            <a:avLst/>
          </a:prstGeom>
          <a:solidFill>
            <a:srgbClr val="38BDF8">
              <a:alpha val="2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784475" y="2197894"/>
            <a:ext cx="1920875" cy="1905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Shape 20"/>
          <p:cNvSpPr/>
          <p:nvPr/>
        </p:nvSpPr>
        <p:spPr>
          <a:xfrm>
            <a:off x="2784475" y="2197894"/>
            <a:ext cx="9525" cy="1220391"/>
          </a:xfrm>
          <a:prstGeom prst="rect">
            <a:avLst/>
          </a:prstGeom>
          <a:solidFill>
            <a:srgbClr val="38BDF8">
              <a:alpha val="2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699000" y="2197894"/>
            <a:ext cx="9525" cy="1220391"/>
          </a:xfrm>
          <a:prstGeom prst="rect">
            <a:avLst/>
          </a:prstGeom>
          <a:solidFill>
            <a:srgbClr val="38BDF8">
              <a:alpha val="2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914650" y="2331244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2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914650" y="2483644"/>
            <a:ext cx="18265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TEMPLE_OPS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2914650" y="2718595"/>
            <a:ext cx="17367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book, slot, shantidhara, membership, donate, payment, cancel, timing, बुक, शांतिधारा</a:t>
            </a:r>
            <a:endParaRPr lang="en-US" sz="713" dirty="0"/>
          </a:p>
        </p:txBody>
      </p:sp>
      <p:sp>
        <p:nvSpPr>
          <p:cNvPr id="27" name="Shape 25"/>
          <p:cNvSpPr/>
          <p:nvPr/>
        </p:nvSpPr>
        <p:spPr>
          <a:xfrm>
            <a:off x="4819650" y="2197894"/>
            <a:ext cx="1920875" cy="1220391"/>
          </a:xfrm>
          <a:prstGeom prst="roundRect">
            <a:avLst>
              <a:gd name="adj" fmla="val 8585"/>
            </a:avLst>
          </a:prstGeom>
          <a:solidFill>
            <a:srgbClr val="FBBF24">
              <a:alpha val="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819650" y="3411934"/>
            <a:ext cx="1920875" cy="9525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19650" y="2197894"/>
            <a:ext cx="1920875" cy="1905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19650" y="2197894"/>
            <a:ext cx="9525" cy="1220391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734175" y="2197894"/>
            <a:ext cx="9525" cy="1220391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49825" y="2331244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3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949825" y="2483644"/>
            <a:ext cx="18265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949825" y="2718595"/>
            <a:ext cx="17367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news, event, wall of fame, notice, announcement, feedback, समाचार</a:t>
            </a:r>
            <a:endParaRPr lang="en-US" sz="713" dirty="0"/>
          </a:p>
        </p:txBody>
      </p:sp>
      <p:sp>
        <p:nvSpPr>
          <p:cNvPr id="35" name="Shape 33"/>
          <p:cNvSpPr/>
          <p:nvPr/>
        </p:nvSpPr>
        <p:spPr>
          <a:xfrm>
            <a:off x="6854825" y="2197894"/>
            <a:ext cx="1920875" cy="1220391"/>
          </a:xfrm>
          <a:prstGeom prst="roundRect">
            <a:avLst>
              <a:gd name="adj" fmla="val 8585"/>
            </a:avLst>
          </a:prstGeom>
          <a:solidFill>
            <a:srgbClr val="F472B6">
              <a:alpha val="7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854825" y="3411934"/>
            <a:ext cx="1920875" cy="9525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854825" y="2197894"/>
            <a:ext cx="1920875" cy="1905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8" name="Shape 36"/>
          <p:cNvSpPr/>
          <p:nvPr/>
        </p:nvSpPr>
        <p:spPr>
          <a:xfrm>
            <a:off x="6854825" y="2197894"/>
            <a:ext cx="9525" cy="1220391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8769350" y="2197894"/>
            <a:ext cx="9525" cy="1220391"/>
          </a:xfrm>
          <a:prstGeom prst="rect">
            <a:avLst/>
          </a:prstGeom>
          <a:solidFill>
            <a:srgbClr val="F472B6">
              <a:alpha val="26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985000" y="2331244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F472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SET 4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985000" y="2483644"/>
            <a:ext cx="182657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6985000" y="2718595"/>
            <a:ext cx="1736725" cy="472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youtube.com/watch?v= OR youtu.be/ OR youtube.com/shorts/</a:t>
            </a:r>
            <a:endParaRPr lang="en-US" sz="713" dirty="0"/>
          </a:p>
        </p:txBody>
      </p:sp>
      <p:sp>
        <p:nvSpPr>
          <p:cNvPr id="43" name="Shape 41"/>
          <p:cNvSpPr/>
          <p:nvPr/>
        </p:nvSpPr>
        <p:spPr>
          <a:xfrm>
            <a:off x="749300" y="3589734"/>
            <a:ext cx="2599234" cy="723900"/>
          </a:xfrm>
          <a:prstGeom prst="roundRect">
            <a:avLst>
              <a:gd name="adj" fmla="val 14474"/>
            </a:avLst>
          </a:prstGeom>
          <a:solidFill>
            <a:srgbClr val="34D399">
              <a:alpha val="7000"/>
            </a:srgbClr>
          </a:solidFill>
          <a:ln w="6350">
            <a:solidFill>
              <a:srgbClr val="34D399">
                <a:alpha val="2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98525" y="3710385"/>
            <a:ext cx="25308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intent matched</a:t>
            </a:r>
            <a:endParaRPr lang="en-US" sz="938" dirty="0"/>
          </a:p>
        </p:txBody>
      </p:sp>
      <p:sp>
        <p:nvSpPr>
          <p:cNvPr id="45" name="Text 43"/>
          <p:cNvSpPr/>
          <p:nvPr/>
        </p:nvSpPr>
        <p:spPr>
          <a:xfrm>
            <a:off x="898525" y="3913584"/>
            <a:ext cx="2530862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Route to that single agent directly.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3462834" y="3589734"/>
            <a:ext cx="2599234" cy="723900"/>
          </a:xfrm>
          <a:prstGeom prst="roundRect">
            <a:avLst>
              <a:gd name="adj" fmla="val 14474"/>
            </a:avLst>
          </a:prstGeom>
          <a:solidFill>
            <a:srgbClr val="A78BFA">
              <a:alpha val="7000"/>
            </a:srgbClr>
          </a:solidFill>
          <a:ln w="635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12059" y="3710385"/>
            <a:ext cx="25308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2+ intents matched</a:t>
            </a:r>
            <a:endParaRPr lang="en-US" sz="938" dirty="0"/>
          </a:p>
        </p:txBody>
      </p:sp>
      <p:sp>
        <p:nvSpPr>
          <p:cNvPr id="48" name="Text 46"/>
          <p:cNvSpPr/>
          <p:nvPr/>
        </p:nvSpPr>
        <p:spPr>
          <a:xfrm>
            <a:off x="3612059" y="3913584"/>
            <a:ext cx="2376984" cy="317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4B5F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asyncio.gather </a:t>
            </a:r>
            <a:pPr algn="l" indent="0" marL="0"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— all matched agents run in parallel.</a:t>
            </a:r>
            <a:endParaRPr lang="en-US" sz="825" dirty="0"/>
          </a:p>
        </p:txBody>
      </p:sp>
      <p:sp>
        <p:nvSpPr>
          <p:cNvPr id="49" name="Shape 47"/>
          <p:cNvSpPr/>
          <p:nvPr/>
        </p:nvSpPr>
        <p:spPr>
          <a:xfrm>
            <a:off x="6176367" y="3589734"/>
            <a:ext cx="2599333" cy="723900"/>
          </a:xfrm>
          <a:prstGeom prst="roundRect">
            <a:avLst>
              <a:gd name="adj" fmla="val 14474"/>
            </a:avLst>
          </a:prstGeom>
          <a:solidFill>
            <a:srgbClr val="38BDF8">
              <a:alpha val="7000"/>
            </a:srgbClr>
          </a:solidFill>
          <a:ln w="635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25592" y="3710385"/>
            <a:ext cx="253097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 matched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6325592" y="3913584"/>
            <a:ext cx="253097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Default to </a:t>
            </a:r>
            <a:pPr algn="l" indent="0" marL="0">
              <a:buNone/>
            </a:pPr>
            <a:r>
              <a:rPr lang="en-US" sz="825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TEMPLE_OPS </a:t>
            </a:r>
            <a:pPr algn="l" indent="0" marL="0">
              <a:buNone/>
            </a:pPr>
            <a:r>
              <a:rPr lang="en-US" sz="825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agent.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749300" y="4485084"/>
            <a:ext cx="8026400" cy="1549400"/>
          </a:xfrm>
          <a:prstGeom prst="roundRect">
            <a:avLst>
              <a:gd name="adj" fmla="val 6762"/>
            </a:avLst>
          </a:prstGeom>
          <a:ln w="635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5650" y="4491435"/>
            <a:ext cx="8013700" cy="273050"/>
          </a:xfrm>
          <a:prstGeom prst="rect">
            <a:avLst/>
          </a:prstGeom>
          <a:solidFill>
            <a:srgbClr val="E87722">
              <a:alpha val="1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55650" y="4758135"/>
            <a:ext cx="80137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89000" y="4567635"/>
            <a:ext cx="22537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endParaRPr lang="en-US" sz="713" dirty="0"/>
          </a:p>
        </p:txBody>
      </p:sp>
      <p:sp>
        <p:nvSpPr>
          <p:cNvPr id="56" name="Text 54"/>
          <p:cNvSpPr/>
          <p:nvPr/>
        </p:nvSpPr>
        <p:spPr>
          <a:xfrm>
            <a:off x="3052167" y="4567635"/>
            <a:ext cx="647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ITER</a:t>
            </a:r>
            <a:endParaRPr lang="en-US" sz="713" dirty="0"/>
          </a:p>
        </p:txBody>
      </p:sp>
      <p:sp>
        <p:nvSpPr>
          <p:cNvPr id="57" name="Text 55"/>
          <p:cNvSpPr/>
          <p:nvPr/>
        </p:nvSpPr>
        <p:spPr>
          <a:xfrm>
            <a:off x="3737967" y="4567635"/>
            <a:ext cx="64770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</a:t>
            </a:r>
            <a:endParaRPr lang="en-US" sz="713" dirty="0"/>
          </a:p>
        </p:txBody>
      </p:sp>
      <p:sp>
        <p:nvSpPr>
          <p:cNvPr id="58" name="Text 56"/>
          <p:cNvSpPr/>
          <p:nvPr/>
        </p:nvSpPr>
        <p:spPr>
          <a:xfrm>
            <a:off x="4423767" y="4567635"/>
            <a:ext cx="22538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TOOLS</a:t>
            </a:r>
            <a:endParaRPr lang="en-US" sz="713" dirty="0"/>
          </a:p>
        </p:txBody>
      </p:sp>
      <p:sp>
        <p:nvSpPr>
          <p:cNvPr id="59" name="Text 57"/>
          <p:cNvSpPr/>
          <p:nvPr/>
        </p:nvSpPr>
        <p:spPr>
          <a:xfrm>
            <a:off x="6587034" y="4567635"/>
            <a:ext cx="225375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RESPONSIBILITY</a:t>
            </a:r>
            <a:endParaRPr lang="en-US" sz="713" dirty="0"/>
          </a:p>
        </p:txBody>
      </p:sp>
      <p:sp>
        <p:nvSpPr>
          <p:cNvPr id="60" name="Shape 58"/>
          <p:cNvSpPr/>
          <p:nvPr/>
        </p:nvSpPr>
        <p:spPr>
          <a:xfrm>
            <a:off x="755650" y="5075635"/>
            <a:ext cx="8013700" cy="952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89000" y="4850210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· Scripture</a:t>
            </a:r>
            <a:endParaRPr lang="en-US" sz="863" dirty="0"/>
          </a:p>
        </p:txBody>
      </p:sp>
      <p:sp>
        <p:nvSpPr>
          <p:cNvPr id="62" name="Text 60"/>
          <p:cNvSpPr/>
          <p:nvPr/>
        </p:nvSpPr>
        <p:spPr>
          <a:xfrm>
            <a:off x="3052167" y="4850210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3737967" y="4850210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423767" y="4859735"/>
            <a:ext cx="225386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search_jain_texts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587034" y="4850210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RAG · Pinecone top-8 · 4-part answer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755650" y="5393135"/>
            <a:ext cx="8013700" cy="952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889000" y="5167710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 · TempleOps</a:t>
            </a:r>
            <a:endParaRPr lang="en-US" sz="863" dirty="0"/>
          </a:p>
        </p:txBody>
      </p:sp>
      <p:sp>
        <p:nvSpPr>
          <p:cNvPr id="68" name="Text 66"/>
          <p:cNvSpPr/>
          <p:nvPr/>
        </p:nvSpPr>
        <p:spPr>
          <a:xfrm>
            <a:off x="3052167" y="5167710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825" dirty="0"/>
          </a:p>
        </p:txBody>
      </p:sp>
      <p:sp>
        <p:nvSpPr>
          <p:cNvPr id="69" name="Text 67"/>
          <p:cNvSpPr/>
          <p:nvPr/>
        </p:nvSpPr>
        <p:spPr>
          <a:xfrm>
            <a:off x="3737967" y="5167710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4423767" y="5177235"/>
            <a:ext cx="225386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tools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6587034" y="5167710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Bookings, slots, payments, membership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755650" y="5710634"/>
            <a:ext cx="8013700" cy="9525"/>
          </a:xfrm>
          <a:prstGeom prst="rect">
            <a:avLst/>
          </a:prstGeom>
          <a:solidFill>
            <a:srgbClr val="94A3B8">
              <a:alpha val="10000"/>
            </a:srgbClr>
          </a:solidFill>
          <a:ln/>
        </p:spPr>
      </p:sp>
      <p:sp>
        <p:nvSpPr>
          <p:cNvPr id="73" name="Text 71"/>
          <p:cNvSpPr/>
          <p:nvPr/>
        </p:nvSpPr>
        <p:spPr>
          <a:xfrm>
            <a:off x="889000" y="5485209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CD34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 · Community</a:t>
            </a:r>
            <a:endParaRPr lang="en-US" sz="863" dirty="0"/>
          </a:p>
        </p:txBody>
      </p:sp>
      <p:sp>
        <p:nvSpPr>
          <p:cNvPr id="74" name="Text 72"/>
          <p:cNvSpPr/>
          <p:nvPr/>
        </p:nvSpPr>
        <p:spPr>
          <a:xfrm>
            <a:off x="3052167" y="5485209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25" dirty="0"/>
          </a:p>
        </p:txBody>
      </p:sp>
      <p:sp>
        <p:nvSpPr>
          <p:cNvPr id="75" name="Text 73"/>
          <p:cNvSpPr/>
          <p:nvPr/>
        </p:nvSpPr>
        <p:spPr>
          <a:xfrm>
            <a:off x="3737967" y="5485209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4423767" y="5494734"/>
            <a:ext cx="225386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tools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587034" y="5485209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News, events, wall of fame, feedback</a:t>
            </a:r>
            <a:endParaRPr lang="en-US" sz="825" dirty="0"/>
          </a:p>
        </p:txBody>
      </p:sp>
      <p:sp>
        <p:nvSpPr>
          <p:cNvPr id="78" name="Text 76"/>
          <p:cNvSpPr/>
          <p:nvPr/>
        </p:nvSpPr>
        <p:spPr>
          <a:xfrm>
            <a:off x="889000" y="5802711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9A8D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 · YouTube</a:t>
            </a:r>
            <a:endParaRPr lang="en-US" sz="863" dirty="0"/>
          </a:p>
        </p:txBody>
      </p:sp>
      <p:sp>
        <p:nvSpPr>
          <p:cNvPr id="79" name="Text 77"/>
          <p:cNvSpPr/>
          <p:nvPr/>
        </p:nvSpPr>
        <p:spPr>
          <a:xfrm>
            <a:off x="3052167" y="5802711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825" dirty="0"/>
          </a:p>
        </p:txBody>
      </p:sp>
      <p:sp>
        <p:nvSpPr>
          <p:cNvPr id="80" name="Text 78"/>
          <p:cNvSpPr/>
          <p:nvPr/>
        </p:nvSpPr>
        <p:spPr>
          <a:xfrm>
            <a:off x="3737967" y="5802711"/>
            <a:ext cx="64770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4423767" y="5812236"/>
            <a:ext cx="2253863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 tools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6587034" y="5802711"/>
            <a:ext cx="2253754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Transcript extract + LLM format</a:t>
            </a:r>
            <a:endParaRPr lang="en-US" sz="825" dirty="0"/>
          </a:p>
        </p:txBody>
      </p:sp>
      <p:sp>
        <p:nvSpPr>
          <p:cNvPr id="83" name="Shape 81"/>
          <p:cNvSpPr/>
          <p:nvPr/>
        </p:nvSpPr>
        <p:spPr>
          <a:xfrm>
            <a:off x="533400" y="12960351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4" name="Text 82"/>
          <p:cNvSpPr/>
          <p:nvPr/>
        </p:nvSpPr>
        <p:spPr>
          <a:xfrm>
            <a:off x="533400" y="13042902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85" name="Text 83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10</a:t>
            </a:r>
            <a:endParaRPr lang="en-US" sz="788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2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1"/>
            <a:ext cx="550428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Specialist Agent Swimlanes + RAG Tool Steps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1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agent is an independent execution context. The Scripture agent's RAG pipeline runs four internal steps per Groq tool-call round before synthesising an answer.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747045"/>
            <a:ext cx="8458200" cy="11035507"/>
          </a:xfrm>
          <a:prstGeom prst="roundRect">
            <a:avLst>
              <a:gd name="adj" fmla="val 1802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" y="1943895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11 · AGENT SWIMLANES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300" y="2197894"/>
            <a:ext cx="1920875" cy="8781455"/>
          </a:xfrm>
          <a:prstGeom prst="roundRect">
            <a:avLst>
              <a:gd name="adj" fmla="val 5455"/>
            </a:avLst>
          </a:prstGeom>
          <a:solidFill>
            <a:srgbClr val="34D399">
              <a:alpha val="6000"/>
            </a:srgbClr>
          </a:solidFill>
          <a:ln w="6350">
            <a:solidFill>
              <a:srgbClr val="34D399">
                <a:alpha val="26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650" y="2204245"/>
            <a:ext cx="1908175" cy="530225"/>
          </a:xfrm>
          <a:prstGeom prst="rect">
            <a:avLst/>
          </a:prstGeom>
          <a:solidFill>
            <a:srgbClr val="34D399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5650" y="2728120"/>
            <a:ext cx="1908175" cy="9525"/>
          </a:xfrm>
          <a:prstGeom prst="rect">
            <a:avLst/>
          </a:prstGeom>
          <a:solidFill>
            <a:srgbClr val="34D399">
              <a:alpha val="2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9475" y="2309020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A · MAX 4 · TEMP 0.5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879475" y="2451895"/>
            <a:ext cx="1826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Scripture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79475" y="2839245"/>
            <a:ext cx="173672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4-part answer: Context → Sacred Text → Meaning → Practical Wisdom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879475" y="3233937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38" kern="0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TOOL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879475" y="3414912"/>
            <a:ext cx="1660525" cy="542925"/>
          </a:xfrm>
          <a:prstGeom prst="roundRect">
            <a:avLst>
              <a:gd name="adj" fmla="val 12281"/>
            </a:avLst>
          </a:prstGeom>
          <a:solidFill>
            <a:srgbClr val="34D399">
              <a:alpha val="6000"/>
            </a:srgbClr>
          </a:solidFill>
          <a:ln w="635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1075" y="3497461"/>
            <a:ext cx="160305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search_jain_texts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81075" y="3646687"/>
            <a:ext cx="153352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Gemini embed → Pinecone top-8</a:t>
            </a:r>
            <a:endParaRPr lang="en-US" sz="675" dirty="0"/>
          </a:p>
        </p:txBody>
      </p:sp>
      <p:sp>
        <p:nvSpPr>
          <p:cNvPr id="21" name="Shape 19"/>
          <p:cNvSpPr/>
          <p:nvPr/>
        </p:nvSpPr>
        <p:spPr>
          <a:xfrm>
            <a:off x="2784475" y="2197894"/>
            <a:ext cx="1920875" cy="8781455"/>
          </a:xfrm>
          <a:prstGeom prst="roundRect">
            <a:avLst>
              <a:gd name="adj" fmla="val 5455"/>
            </a:avLst>
          </a:prstGeom>
          <a:solidFill>
            <a:srgbClr val="38BDF8">
              <a:alpha val="6000"/>
            </a:srgbClr>
          </a:solidFill>
          <a:ln w="6350">
            <a:solidFill>
              <a:srgbClr val="38BDF8">
                <a:alpha val="2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90825" y="2204245"/>
            <a:ext cx="1908175" cy="530225"/>
          </a:xfrm>
          <a:prstGeom prst="rect">
            <a:avLst/>
          </a:prstGeom>
          <a:solidFill>
            <a:srgbClr val="38BDF8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90825" y="2728120"/>
            <a:ext cx="1908175" cy="9525"/>
          </a:xfrm>
          <a:prstGeom prst="rect">
            <a:avLst/>
          </a:prstGeom>
          <a:solidFill>
            <a:srgbClr val="38BDF8">
              <a:alpha val="2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2914650" y="2309020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B · MAX 5 · TEMP 0.5</a:t>
            </a:r>
            <a:endParaRPr lang="en-US" sz="675" dirty="0"/>
          </a:p>
        </p:txBody>
      </p:sp>
      <p:sp>
        <p:nvSpPr>
          <p:cNvPr id="25" name="Text 23"/>
          <p:cNvSpPr/>
          <p:nvPr/>
        </p:nvSpPr>
        <p:spPr>
          <a:xfrm>
            <a:off x="2914650" y="2451895"/>
            <a:ext cx="1826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TempleOps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14650" y="2839245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38" kern="0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TOOLS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2914650" y="3010695"/>
            <a:ext cx="1660525" cy="1140321"/>
          </a:xfrm>
          <a:prstGeom prst="roundRect">
            <a:avLst>
              <a:gd name="adj" fmla="val 5012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06725" y="3074195"/>
            <a:ext cx="1552575" cy="1051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get_shantidhara_slots book_shantidhara_slot get_my_bookings cancel_booking get_membership_status submit_membership get_temple_info ×2</a:t>
            </a:r>
            <a:endParaRPr lang="en-US" sz="713" dirty="0"/>
          </a:p>
        </p:txBody>
      </p:sp>
      <p:sp>
        <p:nvSpPr>
          <p:cNvPr id="29" name="Shape 27"/>
          <p:cNvSpPr/>
          <p:nvPr/>
        </p:nvSpPr>
        <p:spPr>
          <a:xfrm>
            <a:off x="4819650" y="2197894"/>
            <a:ext cx="1920875" cy="8781455"/>
          </a:xfrm>
          <a:prstGeom prst="roundRect">
            <a:avLst>
              <a:gd name="adj" fmla="val 5455"/>
            </a:avLst>
          </a:prstGeom>
          <a:solidFill>
            <a:srgbClr val="FBBF24">
              <a:alpha val="6000"/>
            </a:srgbClr>
          </a:solidFill>
          <a:ln w="6350">
            <a:solidFill>
              <a:srgbClr val="FBBF24">
                <a:alpha val="26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26000" y="2204245"/>
            <a:ext cx="1908175" cy="530225"/>
          </a:xfrm>
          <a:prstGeom prst="rect">
            <a:avLst/>
          </a:prstGeom>
          <a:solidFill>
            <a:srgbClr val="FBBF24">
              <a:alpha val="12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826000" y="2728120"/>
            <a:ext cx="1908175" cy="9525"/>
          </a:xfrm>
          <a:prstGeom prst="rect">
            <a:avLst/>
          </a:prstGeom>
          <a:solidFill>
            <a:srgbClr val="FBBF24">
              <a:alpha val="2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949825" y="2309020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FBBF2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C · MAX 4 · TEMP 0.5</a:t>
            </a:r>
            <a:endParaRPr lang="en-US" sz="675" dirty="0"/>
          </a:p>
        </p:txBody>
      </p:sp>
      <p:sp>
        <p:nvSpPr>
          <p:cNvPr id="33" name="Text 31"/>
          <p:cNvSpPr/>
          <p:nvPr/>
        </p:nvSpPr>
        <p:spPr>
          <a:xfrm>
            <a:off x="4949825" y="2451895"/>
            <a:ext cx="1826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49825" y="2839245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38" kern="0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TOOLS</a:t>
            </a:r>
            <a:endParaRPr lang="en-US" sz="675" dirty="0"/>
          </a:p>
        </p:txBody>
      </p:sp>
      <p:sp>
        <p:nvSpPr>
          <p:cNvPr id="35" name="Shape 33"/>
          <p:cNvSpPr/>
          <p:nvPr/>
        </p:nvSpPr>
        <p:spPr>
          <a:xfrm>
            <a:off x="4949825" y="3010695"/>
            <a:ext cx="1660525" cy="706041"/>
          </a:xfrm>
          <a:prstGeom prst="roundRect">
            <a:avLst>
              <a:gd name="adj" fmla="val 8094"/>
            </a:avLst>
          </a:prstGeom>
          <a:solidFill>
            <a:srgbClr val="FBBF24">
              <a:alpha val="5000"/>
            </a:srgbClr>
          </a:solidFill>
          <a:ln w="6350">
            <a:solidFill>
              <a:srgbClr val="FBBF24">
                <a:alpha val="16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1900" y="3074195"/>
            <a:ext cx="1552575" cy="617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FFCF4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get_temple_news (top 5) get_events (top 5) get_wall_of_fame (top 5) submit_feedback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6854825" y="2197894"/>
            <a:ext cx="1920875" cy="8781455"/>
          </a:xfrm>
          <a:prstGeom prst="roundRect">
            <a:avLst>
              <a:gd name="adj" fmla="val 5455"/>
            </a:avLst>
          </a:prstGeom>
          <a:solidFill>
            <a:srgbClr val="F472B6">
              <a:alpha val="6000"/>
            </a:srgbClr>
          </a:solidFill>
          <a:ln w="6350">
            <a:solidFill>
              <a:srgbClr val="F472B6">
                <a:alpha val="26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61175" y="2204245"/>
            <a:ext cx="1908175" cy="530225"/>
          </a:xfrm>
          <a:prstGeom prst="rect">
            <a:avLst/>
          </a:prstGeom>
          <a:solidFill>
            <a:srgbClr val="F472B6">
              <a:alpha val="12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61175" y="2728120"/>
            <a:ext cx="1908175" cy="9525"/>
          </a:xfrm>
          <a:prstGeom prst="rect">
            <a:avLst/>
          </a:prstGeom>
          <a:solidFill>
            <a:srgbClr val="F472B6">
              <a:alpha val="2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985000" y="2309020"/>
            <a:ext cx="182657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F472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AGENT D · MAX 1 · TEMP 0.2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985000" y="2451895"/>
            <a:ext cx="182657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85000" y="2839245"/>
            <a:ext cx="1736725" cy="3280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Overrides BaseAgent.run() entirely — no tools.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6985000" y="3214887"/>
            <a:ext cx="1660525" cy="1320800"/>
          </a:xfrm>
          <a:prstGeom prst="roundRect">
            <a:avLst>
              <a:gd name="adj" fmla="val 4327"/>
            </a:avLst>
          </a:prstGeom>
          <a:solidFill>
            <a:srgbClr val="F472B6">
              <a:alpha val="5000"/>
            </a:srgbClr>
          </a:solidFill>
          <a:ln w="6350">
            <a:solidFill>
              <a:srgbClr val="F472B6">
                <a:alpha val="16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77075" y="3278387"/>
            <a:ext cx="1552575" cy="1231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EF8FB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L1: youtube-transcript-api fetch(video_id,['hi','en']) ↓ if fails: L2: yt-dlp + Whisper base audio download → transcribe ↓ Groq format temp 0.2 SHANKA or PRAVACHAN prompt</a:t>
            </a:r>
            <a:endParaRPr lang="en-US" sz="713" dirty="0"/>
          </a:p>
        </p:txBody>
      </p:sp>
      <p:sp>
        <p:nvSpPr>
          <p:cNvPr id="45" name="Shape 43"/>
          <p:cNvSpPr/>
          <p:nvPr/>
        </p:nvSpPr>
        <p:spPr>
          <a:xfrm>
            <a:off x="749300" y="11112698"/>
            <a:ext cx="8026400" cy="1453952"/>
          </a:xfrm>
          <a:prstGeom prst="roundRect">
            <a:avLst>
              <a:gd name="adj" fmla="val 7206"/>
            </a:avLst>
          </a:prstGeom>
          <a:solidFill>
            <a:srgbClr val="34D399">
              <a:alpha val="4000"/>
            </a:srgbClr>
          </a:solidFill>
          <a:ln w="6350">
            <a:solidFill>
              <a:srgbClr val="34D399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08050" y="11252399"/>
            <a:ext cx="84797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Scripture Agent · RAG Tool Execution — 4 Steps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08050" y="11578335"/>
            <a:ext cx="1670050" cy="783034"/>
          </a:xfrm>
          <a:prstGeom prst="roundRect">
            <a:avLst>
              <a:gd name="adj" fmla="val 10948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1022350" y="11673585"/>
            <a:ext cx="1585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1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1022350" y="11816460"/>
            <a:ext cx="158559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decides</a:t>
            </a:r>
            <a:endParaRPr lang="en-US" sz="863" dirty="0"/>
          </a:p>
        </p:txBody>
      </p:sp>
      <p:sp>
        <p:nvSpPr>
          <p:cNvPr id="50" name="Text 48"/>
          <p:cNvSpPr/>
          <p:nvPr/>
        </p:nvSpPr>
        <p:spPr>
          <a:xfrm>
            <a:off x="1022350" y="12003784"/>
            <a:ext cx="1517650" cy="30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finish_reason=tool_calls → search_jain_texts({query})</a:t>
            </a:r>
            <a:endParaRPr lang="en-US" sz="713" dirty="0"/>
          </a:p>
        </p:txBody>
      </p:sp>
      <p:sp>
        <p:nvSpPr>
          <p:cNvPr id="51" name="Text 49"/>
          <p:cNvSpPr/>
          <p:nvPr/>
        </p:nvSpPr>
        <p:spPr>
          <a:xfrm>
            <a:off x="2673350" y="11868252"/>
            <a:ext cx="22860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921000" y="11578335"/>
            <a:ext cx="1670050" cy="783034"/>
          </a:xfrm>
          <a:prstGeom prst="roundRect">
            <a:avLst>
              <a:gd name="adj" fmla="val 10948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3035300" y="11673585"/>
            <a:ext cx="1585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2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3035300" y="11816460"/>
            <a:ext cx="158559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 query</a:t>
            </a:r>
            <a:endParaRPr lang="en-US" sz="863" dirty="0"/>
          </a:p>
        </p:txBody>
      </p:sp>
      <p:sp>
        <p:nvSpPr>
          <p:cNvPr id="55" name="Text 53"/>
          <p:cNvSpPr/>
          <p:nvPr/>
        </p:nvSpPr>
        <p:spPr>
          <a:xfrm>
            <a:off x="3035300" y="12003784"/>
            <a:ext cx="1517650" cy="30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RETRIEVAL_QUERY · 2048-dim → float[]</a:t>
            </a:r>
            <a:endParaRPr lang="en-US" sz="713" dirty="0"/>
          </a:p>
        </p:txBody>
      </p:sp>
      <p:sp>
        <p:nvSpPr>
          <p:cNvPr id="56" name="Text 54"/>
          <p:cNvSpPr/>
          <p:nvPr/>
        </p:nvSpPr>
        <p:spPr>
          <a:xfrm>
            <a:off x="4686300" y="11868252"/>
            <a:ext cx="22860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933950" y="11512748"/>
            <a:ext cx="1670050" cy="914202"/>
          </a:xfrm>
          <a:prstGeom prst="roundRect">
            <a:avLst>
              <a:gd name="adj" fmla="val 9377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5048250" y="11607998"/>
            <a:ext cx="1585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3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5048250" y="11750873"/>
            <a:ext cx="158559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Pinecone</a:t>
            </a:r>
            <a:endParaRPr lang="en-US" sz="863" dirty="0"/>
          </a:p>
        </p:txBody>
      </p:sp>
      <p:sp>
        <p:nvSpPr>
          <p:cNvPr id="60" name="Text 58"/>
          <p:cNvSpPr/>
          <p:nvPr/>
        </p:nvSpPr>
        <p:spPr>
          <a:xfrm>
            <a:off x="5048250" y="11938202"/>
            <a:ext cx="1517650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index.query(vector, top_k=8, include_metadata=True)</a:t>
            </a:r>
            <a:endParaRPr lang="en-US" sz="713" dirty="0"/>
          </a:p>
        </p:txBody>
      </p:sp>
      <p:sp>
        <p:nvSpPr>
          <p:cNvPr id="61" name="Text 59"/>
          <p:cNvSpPr/>
          <p:nvPr/>
        </p:nvSpPr>
        <p:spPr>
          <a:xfrm>
            <a:off x="6699250" y="11868252"/>
            <a:ext cx="228600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6946900" y="11578335"/>
            <a:ext cx="1670050" cy="783034"/>
          </a:xfrm>
          <a:prstGeom prst="roundRect">
            <a:avLst>
              <a:gd name="adj" fmla="val 10948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7061200" y="11673585"/>
            <a:ext cx="1585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STEP 4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7061200" y="11816460"/>
            <a:ext cx="1585595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synthesises</a:t>
            </a:r>
            <a:endParaRPr lang="en-US" sz="863" dirty="0"/>
          </a:p>
        </p:txBody>
      </p:sp>
      <p:sp>
        <p:nvSpPr>
          <p:cNvPr id="65" name="Text 63"/>
          <p:cNvSpPr/>
          <p:nvPr/>
        </p:nvSpPr>
        <p:spPr>
          <a:xfrm>
            <a:off x="7061200" y="12003784"/>
            <a:ext cx="1517650" cy="30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passages injected · temp 0.5 · min 120 words</a:t>
            </a:r>
            <a:endParaRPr lang="en-US" sz="713" dirty="0"/>
          </a:p>
        </p:txBody>
      </p:sp>
      <p:sp>
        <p:nvSpPr>
          <p:cNvPr id="66" name="Shape 64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/>
          <p:nvPr/>
        </p:nvSpPr>
        <p:spPr>
          <a:xfrm>
            <a:off x="533400" y="13042902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68" name="Text 66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11</a:t>
            </a:r>
            <a:endParaRPr lang="en-US" sz="7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2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3"/>
            <a:ext cx="53962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Tool-Call Loop + PDF Ingestion Pipeline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3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Groq loop runs up to </a:t>
            </a:r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max_iterations </a:t>
            </a:r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rounds per agent. The ingestion pipeline is an offline admin operation that populates the Pinecone index.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747047"/>
            <a:ext cx="8458200" cy="2665413"/>
          </a:xfrm>
          <a:prstGeom prst="roundRect">
            <a:avLst>
              <a:gd name="adj" fmla="val 5718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300" y="1924845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12A · GROQ TOOL-CALL ROUND-TRIP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300" y="2178844"/>
            <a:ext cx="3706416" cy="2055813"/>
          </a:xfrm>
          <a:prstGeom prst="roundRect">
            <a:avLst>
              <a:gd name="adj" fmla="val 5097"/>
            </a:avLst>
          </a:prstGeom>
          <a:solidFill>
            <a:srgbClr val="A78BFA">
              <a:alpha val="7000"/>
            </a:srgbClr>
          </a:solidFill>
          <a:ln w="635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5650" y="2185197"/>
            <a:ext cx="3693716" cy="381000"/>
          </a:xfrm>
          <a:prstGeom prst="rect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55650" y="2559847"/>
            <a:ext cx="3693716" cy="9525"/>
          </a:xfrm>
          <a:prstGeom prst="rect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270922"/>
            <a:ext cx="3537827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Round 1 · request a tool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898525" y="2690022"/>
            <a:ext cx="3518777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[system_prompt, history×8, user_message]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tool_definitions[]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temperature: 0.5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+ tool_choice: "auto"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Groq returns: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finish_reason: "tool_calls",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tool_calls: [{ id, function:{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name, arguments: "{…json…}" }}] }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↳ code executes the tool → result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608116" y="3019425"/>
            <a:ext cx="384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A78BF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append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4676676" y="3171825"/>
            <a:ext cx="247650" cy="260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A78BF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069185" y="2178844"/>
            <a:ext cx="3706515" cy="2055813"/>
          </a:xfrm>
          <a:prstGeom prst="roundRect">
            <a:avLst>
              <a:gd name="adj" fmla="val 5097"/>
            </a:avLst>
          </a:prstGeom>
          <a:solidFill>
            <a:srgbClr val="A78BFA">
              <a:alpha val="7000"/>
            </a:srgbClr>
          </a:solidFill>
          <a:ln w="6350">
            <a:solidFill>
              <a:srgbClr val="A78BFA">
                <a:alpha val="2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75536" y="2185197"/>
            <a:ext cx="3693815" cy="381000"/>
          </a:xfrm>
          <a:prstGeom prst="rect">
            <a:avLst/>
          </a:prstGeom>
          <a:solidFill>
            <a:srgbClr val="A78BFA">
              <a:alpha val="12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75536" y="2559847"/>
            <a:ext cx="3693815" cy="9525"/>
          </a:xfrm>
          <a:prstGeom prst="rect">
            <a:avLst/>
          </a:prstGeom>
          <a:solidFill>
            <a:srgbClr val="A78BFA">
              <a:alpha val="22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208886" y="2270922"/>
            <a:ext cx="3537929" cy="241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4B5FD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Round 2 · final answer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218411" y="2690022"/>
            <a:ext cx="3518879" cy="1452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[system, history…, user,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{role:"assistant", tool_calls:[…]},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{role:"tool", tool_call_id,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content: json_result}]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Groq returns: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 finish_reason: "stop",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message:{ content: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"Here are the slots for Jan 15…" }}</a:t>
            </a:r>
            <a:endParaRPr lang="en-US" sz="7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✓ DONE — return final text to caller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33400" y="4564856"/>
            <a:ext cx="8458200" cy="8217694"/>
          </a:xfrm>
          <a:prstGeom prst="roundRect">
            <a:avLst>
              <a:gd name="adj" fmla="val 1855"/>
            </a:avLst>
          </a:prstGeom>
          <a:gradFill rotWithShape="1">
            <a:gsLst>
              <a:gs pos="0">
                <a:srgbClr val="1A120A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FB923C">
                <a:alpha val="26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300" y="4742659"/>
            <a:ext cx="88290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12B · PDF INGESTION PIPELINE (OFFLINE · ADMIN-ONLY)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49300" y="5062240"/>
            <a:ext cx="1369020" cy="965002"/>
          </a:xfrm>
          <a:prstGeom prst="roundRect">
            <a:avLst>
              <a:gd name="adj" fmla="val 9870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49300" y="6020891"/>
            <a:ext cx="1369020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49300" y="5062240"/>
            <a:ext cx="136902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Shape 26"/>
          <p:cNvSpPr/>
          <p:nvPr/>
        </p:nvSpPr>
        <p:spPr>
          <a:xfrm>
            <a:off x="749300" y="5062240"/>
            <a:ext cx="9525" cy="965002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111970" y="5062240"/>
            <a:ext cx="9525" cy="965002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879475" y="5186065"/>
            <a:ext cx="1184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UPLOAD</a:t>
            </a:r>
            <a:endParaRPr lang="en-US" sz="675" dirty="0"/>
          </a:p>
        </p:txBody>
      </p:sp>
      <p:sp>
        <p:nvSpPr>
          <p:cNvPr id="31" name="Text 29"/>
          <p:cNvSpPr/>
          <p:nvPr/>
        </p:nvSpPr>
        <p:spPr>
          <a:xfrm>
            <a:off x="879475" y="5328940"/>
            <a:ext cx="11848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 uploads PDF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9475" y="5522616"/>
            <a:ext cx="1184870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POST /api/v1/ingest/upload multipart/form-data</a:t>
            </a:r>
            <a:endParaRPr lang="en-US" sz="713" dirty="0"/>
          </a:p>
        </p:txBody>
      </p:sp>
      <p:sp>
        <p:nvSpPr>
          <p:cNvPr id="33" name="Text 31"/>
          <p:cNvSpPr/>
          <p:nvPr/>
        </p:nvSpPr>
        <p:spPr>
          <a:xfrm>
            <a:off x="2194520" y="5452667"/>
            <a:ext cx="2190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2413595" y="5127827"/>
            <a:ext cx="1369120" cy="833834"/>
          </a:xfrm>
          <a:prstGeom prst="roundRect">
            <a:avLst>
              <a:gd name="adj" fmla="val 11423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413595" y="5955311"/>
            <a:ext cx="1369120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13595" y="5127827"/>
            <a:ext cx="136912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37" name="Shape 35"/>
          <p:cNvSpPr/>
          <p:nvPr/>
        </p:nvSpPr>
        <p:spPr>
          <a:xfrm>
            <a:off x="2413595" y="5127827"/>
            <a:ext cx="9525" cy="833834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776365" y="5127827"/>
            <a:ext cx="9525" cy="833834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543770" y="5251652"/>
            <a:ext cx="11849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EXTRACT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2543770" y="5394527"/>
            <a:ext cx="11849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pypdf extraction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43770" y="5588198"/>
            <a:ext cx="1184970" cy="300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page.extract_text() → re.sub(\s+,' ')</a:t>
            </a:r>
            <a:endParaRPr lang="en-US" sz="713" dirty="0"/>
          </a:p>
        </p:txBody>
      </p:sp>
      <p:sp>
        <p:nvSpPr>
          <p:cNvPr id="42" name="Text 40"/>
          <p:cNvSpPr/>
          <p:nvPr/>
        </p:nvSpPr>
        <p:spPr>
          <a:xfrm>
            <a:off x="3858915" y="5452667"/>
            <a:ext cx="2190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4077990" y="5062240"/>
            <a:ext cx="1369020" cy="965002"/>
          </a:xfrm>
          <a:prstGeom prst="roundRect">
            <a:avLst>
              <a:gd name="adj" fmla="val 9870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77990" y="6020891"/>
            <a:ext cx="1369020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077990" y="5062240"/>
            <a:ext cx="136902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46" name="Shape 44"/>
          <p:cNvSpPr/>
          <p:nvPr/>
        </p:nvSpPr>
        <p:spPr>
          <a:xfrm>
            <a:off x="4077990" y="5062240"/>
            <a:ext cx="9525" cy="965002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440660" y="5062240"/>
            <a:ext cx="9525" cy="965002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4208165" y="5186065"/>
            <a:ext cx="1184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SPLIT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4208165" y="5328940"/>
            <a:ext cx="11848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Chunk text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208165" y="5522616"/>
            <a:ext cx="1184870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size 800 · overlap 100 → [{text, page, idx}]</a:t>
            </a:r>
            <a:endParaRPr lang="en-US" sz="713" dirty="0"/>
          </a:p>
        </p:txBody>
      </p:sp>
      <p:sp>
        <p:nvSpPr>
          <p:cNvPr id="51" name="Text 49"/>
          <p:cNvSpPr/>
          <p:nvPr/>
        </p:nvSpPr>
        <p:spPr>
          <a:xfrm>
            <a:off x="5523211" y="5452667"/>
            <a:ext cx="2190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5742286" y="4996658"/>
            <a:ext cx="1369120" cy="1096169"/>
          </a:xfrm>
          <a:prstGeom prst="roundRect">
            <a:avLst>
              <a:gd name="adj" fmla="val 8689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42286" y="6086477"/>
            <a:ext cx="1369120" cy="9525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742286" y="4996658"/>
            <a:ext cx="136912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5" name="Shape 53"/>
          <p:cNvSpPr/>
          <p:nvPr/>
        </p:nvSpPr>
        <p:spPr>
          <a:xfrm>
            <a:off x="5742286" y="4996658"/>
            <a:ext cx="9525" cy="1096169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105055" y="4996658"/>
            <a:ext cx="9525" cy="1096169"/>
          </a:xfrm>
          <a:prstGeom prst="rect">
            <a:avLst/>
          </a:prstGeom>
          <a:solidFill>
            <a:srgbClr val="FB923C">
              <a:alpha val="22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5872460" y="5120483"/>
            <a:ext cx="11849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5872460" y="5263358"/>
            <a:ext cx="11849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Batch embed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72460" y="5457034"/>
            <a:ext cx="1184970" cy="562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 batchEmbedContents · RETRIEVAL_DOCUMENT · 100/batch · 2048d</a:t>
            </a:r>
            <a:endParaRPr lang="en-US" sz="713" dirty="0"/>
          </a:p>
        </p:txBody>
      </p:sp>
      <p:sp>
        <p:nvSpPr>
          <p:cNvPr id="60" name="Text 58"/>
          <p:cNvSpPr/>
          <p:nvPr/>
        </p:nvSpPr>
        <p:spPr>
          <a:xfrm>
            <a:off x="7187605" y="5452667"/>
            <a:ext cx="219075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FB923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7406680" y="5062240"/>
            <a:ext cx="1369020" cy="965002"/>
          </a:xfrm>
          <a:prstGeom prst="roundRect">
            <a:avLst>
              <a:gd name="adj" fmla="val 9870"/>
            </a:avLst>
          </a:prstGeom>
          <a:solidFill>
            <a:srgbClr val="22D3EE">
              <a:alpha val="7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06680" y="6020891"/>
            <a:ext cx="1369020" cy="9525"/>
          </a:xfrm>
          <a:prstGeom prst="rect">
            <a:avLst/>
          </a:prstGeom>
          <a:solidFill>
            <a:srgbClr val="22D3EE">
              <a:alpha val="26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406680" y="5062240"/>
            <a:ext cx="1369020" cy="1905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4" name="Shape 62"/>
          <p:cNvSpPr/>
          <p:nvPr/>
        </p:nvSpPr>
        <p:spPr>
          <a:xfrm>
            <a:off x="7406680" y="5062240"/>
            <a:ext cx="9525" cy="965002"/>
          </a:xfrm>
          <a:prstGeom prst="rect">
            <a:avLst/>
          </a:prstGeom>
          <a:solidFill>
            <a:srgbClr val="22D3EE">
              <a:alpha val="26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9350" y="5062240"/>
            <a:ext cx="9525" cy="965002"/>
          </a:xfrm>
          <a:prstGeom prst="rect">
            <a:avLst/>
          </a:prstGeom>
          <a:solidFill>
            <a:srgbClr val="22D3EE">
              <a:alpha val="26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7536855" y="5186065"/>
            <a:ext cx="118487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22D3E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UPSERT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7536855" y="5328940"/>
            <a:ext cx="118487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Pinecone upsert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536855" y="5522616"/>
            <a:ext cx="1184870" cy="4316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713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 "jain-texts" · 2048-dim · cosine · id="src:pg:chunk"</a:t>
            </a:r>
            <a:endParaRPr lang="en-US" sz="713" dirty="0"/>
          </a:p>
        </p:txBody>
      </p:sp>
      <p:sp>
        <p:nvSpPr>
          <p:cNvPr id="69" name="Shape 67"/>
          <p:cNvSpPr/>
          <p:nvPr/>
        </p:nvSpPr>
        <p:spPr>
          <a:xfrm>
            <a:off x="749300" y="6245228"/>
            <a:ext cx="8026400" cy="1206500"/>
          </a:xfrm>
          <a:prstGeom prst="roundRect">
            <a:avLst>
              <a:gd name="adj" fmla="val 7895"/>
            </a:avLst>
          </a:prstGeom>
          <a:solidFill>
            <a:srgbClr val="000000">
              <a:alpha val="3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901700" y="6369053"/>
            <a:ext cx="849376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Chunking · 800 chars, 100-char overlap</a:t>
            </a:r>
            <a:endParaRPr lang="en-US" sz="713" dirty="0"/>
          </a:p>
        </p:txBody>
      </p:sp>
      <p:sp>
        <p:nvSpPr>
          <p:cNvPr id="71" name="Shape 69"/>
          <p:cNvSpPr/>
          <p:nvPr/>
        </p:nvSpPr>
        <p:spPr>
          <a:xfrm>
            <a:off x="977900" y="6584952"/>
            <a:ext cx="7569200" cy="114300"/>
          </a:xfrm>
          <a:prstGeom prst="roundRect">
            <a:avLst>
              <a:gd name="adj" fmla="val 25000"/>
            </a:avLst>
          </a:prstGeom>
          <a:blipFill>
            <a:blip r:embed="rId1"/>
            <a:tile tx="0" ty="0" sx="100000" sy="100000" flip="none" algn="tl"/>
          </a:blipFill>
          <a:ln/>
        </p:spPr>
      </p:sp>
      <p:sp>
        <p:nvSpPr>
          <p:cNvPr id="72" name="Shape 70"/>
          <p:cNvSpPr/>
          <p:nvPr/>
        </p:nvSpPr>
        <p:spPr>
          <a:xfrm>
            <a:off x="977900" y="6775452"/>
            <a:ext cx="2649141" cy="152400"/>
          </a:xfrm>
          <a:prstGeom prst="roundRect">
            <a:avLst>
              <a:gd name="adj" fmla="val 25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68103" y="6794502"/>
            <a:ext cx="7449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DB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 0 (800)</a:t>
            </a:r>
            <a:endParaRPr lang="en-US" sz="675" dirty="0"/>
          </a:p>
        </p:txBody>
      </p:sp>
      <p:sp>
        <p:nvSpPr>
          <p:cNvPr id="74" name="Shape 72"/>
          <p:cNvSpPr/>
          <p:nvPr/>
        </p:nvSpPr>
        <p:spPr>
          <a:xfrm>
            <a:off x="3248620" y="6965952"/>
            <a:ext cx="2649141" cy="152400"/>
          </a:xfrm>
          <a:prstGeom prst="roundRect">
            <a:avLst>
              <a:gd name="adj" fmla="val 25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238824" y="6985002"/>
            <a:ext cx="7449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DB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 1 (800)</a:t>
            </a:r>
            <a:endParaRPr lang="en-US" sz="675" dirty="0"/>
          </a:p>
        </p:txBody>
      </p:sp>
      <p:sp>
        <p:nvSpPr>
          <p:cNvPr id="76" name="Shape 74"/>
          <p:cNvSpPr/>
          <p:nvPr/>
        </p:nvSpPr>
        <p:spPr>
          <a:xfrm>
            <a:off x="5670749" y="6775452"/>
            <a:ext cx="2649141" cy="152400"/>
          </a:xfrm>
          <a:prstGeom prst="roundRect">
            <a:avLst>
              <a:gd name="adj" fmla="val 25000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60952" y="6794502"/>
            <a:ext cx="74493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DBA7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 2 (800)</a:t>
            </a:r>
            <a:endParaRPr lang="en-US" sz="675" dirty="0"/>
          </a:p>
        </p:txBody>
      </p:sp>
      <p:sp>
        <p:nvSpPr>
          <p:cNvPr id="78" name="Text 76"/>
          <p:cNvSpPr/>
          <p:nvPr/>
        </p:nvSpPr>
        <p:spPr>
          <a:xfrm>
            <a:off x="901700" y="7213602"/>
            <a:ext cx="8493760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B6B8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shaded overlap band = 100 chars shared between adjacent chunks for context continuity</a:t>
            </a:r>
            <a:endParaRPr lang="en-US" sz="675" dirty="0"/>
          </a:p>
        </p:txBody>
      </p:sp>
      <p:sp>
        <p:nvSpPr>
          <p:cNvPr id="79" name="Shape 77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0" name="Text 78"/>
          <p:cNvSpPr/>
          <p:nvPr/>
        </p:nvSpPr>
        <p:spPr>
          <a:xfrm>
            <a:off x="533400" y="13042902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81" name="Text 79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12</a:t>
            </a:r>
            <a:endParaRPr lang="en-US" sz="788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2"/>
            <a:ext cx="24378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5280" y="920753"/>
            <a:ext cx="610478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 Search · Temple Sync · Response Assembly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6365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vector search beats keyword search, how live temple data stays fresh, and how the final response is assembled before returning to the app.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562500"/>
            <a:ext cx="8458200" cy="1841897"/>
          </a:xfrm>
          <a:prstGeom prst="roundRect">
            <a:avLst>
              <a:gd name="adj" fmla="val 7240"/>
            </a:avLst>
          </a:prstGeom>
          <a:gradFill rotWithShape="1">
            <a:gsLst>
              <a:gs pos="0">
                <a:srgbClr val="0C1F10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34D399">
                <a:alpha val="2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0250" y="1721248"/>
            <a:ext cx="88709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13A · WHY VECTOR SEARCH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0250" y="1956197"/>
            <a:ext cx="3965575" cy="1175147"/>
          </a:xfrm>
          <a:prstGeom prst="roundRect">
            <a:avLst>
              <a:gd name="adj" fmla="val 8105"/>
            </a:avLst>
          </a:prstGeom>
          <a:solidFill>
            <a:srgbClr val="EF4444">
              <a:alpha val="6000"/>
            </a:srgbClr>
          </a:solidFill>
          <a:ln w="6350">
            <a:solidFill>
              <a:srgbClr val="EF4444">
                <a:alpha val="24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9950" y="2076850"/>
            <a:ext cx="40547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CA5A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✗ SQL LIKE '%keyword%' fails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9950" y="2295925"/>
            <a:ext cx="4054793" cy="200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25" dirty="0">
                <a:solidFill>
                  <a:srgbClr val="C7D0E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Query: "What does Jain philosophy say about the soul?"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869950" y="2515395"/>
            <a:ext cx="37967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DB has: "आत्मा नित्य और अमर है" (Hindi — zero keyword overlap)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69950" y="2877345"/>
            <a:ext cx="40547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FCA5A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0 rows found ✗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4829175" y="1956197"/>
            <a:ext cx="3965575" cy="1175147"/>
          </a:xfrm>
          <a:prstGeom prst="roundRect">
            <a:avLst>
              <a:gd name="adj" fmla="val 8105"/>
            </a:avLst>
          </a:prstGeom>
          <a:solidFill>
            <a:srgbClr val="34D399">
              <a:alpha val="6000"/>
            </a:srgbClr>
          </a:solidFill>
          <a:ln w="6350">
            <a:solidFill>
              <a:srgbClr val="34D399">
                <a:alpha val="2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8875" y="2076850"/>
            <a:ext cx="40547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✓ Vector search succeeds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8875" y="2295925"/>
            <a:ext cx="379676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750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"soul" → [0.45,-0.23,…,0.67] "आत्मा" → [0.47,-0.21,…,0.65]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68875" y="2676925"/>
            <a:ext cx="4054793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6EE7B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cosine sim = 0.94 → top match ✓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968875" y="2848375"/>
            <a:ext cx="4054793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 = (A·B) / (|A| × |B|)</a:t>
            </a:r>
            <a:endParaRPr lang="en-US" sz="788" dirty="0"/>
          </a:p>
        </p:txBody>
      </p:sp>
      <p:sp>
        <p:nvSpPr>
          <p:cNvPr id="21" name="Shape 19"/>
          <p:cNvSpPr/>
          <p:nvPr/>
        </p:nvSpPr>
        <p:spPr>
          <a:xfrm>
            <a:off x="533400" y="3537747"/>
            <a:ext cx="8458200" cy="2185988"/>
          </a:xfrm>
          <a:prstGeom prst="roundRect">
            <a:avLst>
              <a:gd name="adj" fmla="val 6100"/>
            </a:avLst>
          </a:prstGeom>
          <a:gradFill rotWithShape="1">
            <a:gsLst>
              <a:gs pos="0">
                <a:srgbClr val="0A1520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38BDF8">
                <a:alpha val="22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0250" y="3696495"/>
            <a:ext cx="88709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13B · TEMPLE KNOWLEDGE SYNC (300S TTL · LIVE RAG)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0250" y="3931444"/>
            <a:ext cx="1809750" cy="1633538"/>
          </a:xfrm>
          <a:prstGeom prst="roundRect">
            <a:avLst>
              <a:gd name="adj" fmla="val 5831"/>
            </a:avLst>
          </a:prstGeom>
          <a:solidFill>
            <a:srgbClr val="0B1120"/>
          </a:solidFill>
          <a:ln w="6350">
            <a:solidFill>
              <a:srgbClr val="2330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9950" y="4052097"/>
            <a:ext cx="16833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DD3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TTL gate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9950" y="4274344"/>
            <a:ext cx="1683385" cy="193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sync_if_needed(temple_id)</a:t>
            </a:r>
            <a:endParaRPr lang="en-US" sz="788" dirty="0"/>
          </a:p>
        </p:txBody>
      </p:sp>
      <p:sp>
        <p:nvSpPr>
          <p:cNvPr id="26" name="Shape 24"/>
          <p:cNvSpPr/>
          <p:nvPr/>
        </p:nvSpPr>
        <p:spPr>
          <a:xfrm>
            <a:off x="869950" y="4505525"/>
            <a:ext cx="1530350" cy="247650"/>
          </a:xfrm>
          <a:prstGeom prst="roundRect">
            <a:avLst>
              <a:gd name="adj" fmla="val 23077"/>
            </a:avLst>
          </a:prstGeom>
          <a:solidFill>
            <a:srgbClr val="34D399">
              <a:alpha val="8000"/>
            </a:srgbClr>
          </a:solidFill>
          <a:ln w="6350">
            <a:solidFill>
              <a:srgbClr val="34D399">
                <a:alpha val="22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2025" y="4569025"/>
            <a:ext cx="14224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6EE7B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&lt;300s → use SQLite cache</a:t>
            </a:r>
            <a:endParaRPr lang="en-US" sz="713" dirty="0"/>
          </a:p>
        </p:txBody>
      </p:sp>
      <p:sp>
        <p:nvSpPr>
          <p:cNvPr id="28" name="Shape 26"/>
          <p:cNvSpPr/>
          <p:nvPr/>
        </p:nvSpPr>
        <p:spPr>
          <a:xfrm>
            <a:off x="869950" y="4810325"/>
            <a:ext cx="1530350" cy="247650"/>
          </a:xfrm>
          <a:prstGeom prst="roundRect">
            <a:avLst>
              <a:gd name="adj" fmla="val 23077"/>
            </a:avLst>
          </a:prstGeom>
          <a:solidFill>
            <a:srgbClr val="E87722">
              <a:alpha val="8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2025" y="4873825"/>
            <a:ext cx="14224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&gt;300s → full re-sync ↓</a:t>
            </a:r>
            <a:endParaRPr lang="en-US" sz="713" dirty="0"/>
          </a:p>
        </p:txBody>
      </p:sp>
      <p:sp>
        <p:nvSpPr>
          <p:cNvPr id="30" name="Shape 28"/>
          <p:cNvSpPr/>
          <p:nvPr/>
        </p:nvSpPr>
        <p:spPr>
          <a:xfrm>
            <a:off x="2673350" y="3931444"/>
            <a:ext cx="6121400" cy="1633538"/>
          </a:xfrm>
          <a:prstGeom prst="roundRect">
            <a:avLst>
              <a:gd name="adj" fmla="val 5831"/>
            </a:avLst>
          </a:prstGeom>
          <a:solidFill>
            <a:srgbClr val="0B1120"/>
          </a:solidFill>
          <a:ln w="6350">
            <a:solidFill>
              <a:srgbClr val="2330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3050" y="4052097"/>
            <a:ext cx="642620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38" kern="0" dirty="0">
                <a:solidFill>
                  <a:srgbClr val="38BDF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 PARALLEL CALLS · ASYNCIO.GATHER</a:t>
            </a:r>
            <a:endParaRPr lang="en-US" sz="713" dirty="0"/>
          </a:p>
        </p:txBody>
      </p:sp>
      <p:sp>
        <p:nvSpPr>
          <p:cNvPr id="32" name="Shape 30"/>
          <p:cNvSpPr/>
          <p:nvPr/>
        </p:nvSpPr>
        <p:spPr>
          <a:xfrm>
            <a:off x="2813050" y="424894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95600" y="430292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admin:8003/temples/{id}</a:t>
            </a:r>
            <a:endParaRPr lang="en-US" sz="713" dirty="0"/>
          </a:p>
        </p:txBody>
      </p:sp>
      <p:sp>
        <p:nvSpPr>
          <p:cNvPr id="34" name="Shape 32"/>
          <p:cNvSpPr/>
          <p:nvPr/>
        </p:nvSpPr>
        <p:spPr>
          <a:xfrm>
            <a:off x="5762625" y="424894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45175" y="430292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admin:8003/shantidhara/slots</a:t>
            </a:r>
            <a:endParaRPr lang="en-US" sz="713" dirty="0"/>
          </a:p>
        </p:txBody>
      </p:sp>
      <p:sp>
        <p:nvSpPr>
          <p:cNvPr id="36" name="Shape 34"/>
          <p:cNvSpPr/>
          <p:nvPr/>
        </p:nvSpPr>
        <p:spPr>
          <a:xfrm>
            <a:off x="2813050" y="453469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95600" y="458867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admin:8003/news-feed</a:t>
            </a:r>
            <a:endParaRPr lang="en-US" sz="713" dirty="0"/>
          </a:p>
        </p:txBody>
      </p:sp>
      <p:sp>
        <p:nvSpPr>
          <p:cNvPr id="38" name="Shape 36"/>
          <p:cNvSpPr/>
          <p:nvPr/>
        </p:nvSpPr>
        <p:spPr>
          <a:xfrm>
            <a:off x="5762625" y="453469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45175" y="458867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admin:8003/events</a:t>
            </a:r>
            <a:endParaRPr lang="en-US" sz="713" dirty="0"/>
          </a:p>
        </p:txBody>
      </p:sp>
      <p:sp>
        <p:nvSpPr>
          <p:cNvPr id="40" name="Shape 38"/>
          <p:cNvSpPr/>
          <p:nvPr/>
        </p:nvSpPr>
        <p:spPr>
          <a:xfrm>
            <a:off x="2813050" y="482044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95600" y="487442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admin:8003/wall-of-fame</a:t>
            </a:r>
            <a:endParaRPr lang="en-US" sz="713" dirty="0"/>
          </a:p>
        </p:txBody>
      </p:sp>
      <p:sp>
        <p:nvSpPr>
          <p:cNvPr id="42" name="Shape 40"/>
          <p:cNvSpPr/>
          <p:nvPr/>
        </p:nvSpPr>
        <p:spPr>
          <a:xfrm>
            <a:off x="5762625" y="4820445"/>
            <a:ext cx="2892425" cy="228600"/>
          </a:xfrm>
          <a:prstGeom prst="roundRect">
            <a:avLst>
              <a:gd name="adj" fmla="val 20833"/>
            </a:avLst>
          </a:prstGeom>
          <a:solidFill>
            <a:srgbClr val="38BDF8">
              <a:alpha val="5000"/>
            </a:srgbClr>
          </a:solidFill>
          <a:ln w="6350">
            <a:solidFill>
              <a:srgbClr val="38BDF8">
                <a:alpha val="16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45175" y="4874420"/>
            <a:ext cx="2814098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GET </a:t>
            </a:r>
            <a:pPr algn="l" indent="0" marL="0">
              <a:buNone/>
            </a:pPr>
            <a:r>
              <a:rPr lang="en-US" sz="713" dirty="0">
                <a:solidFill>
                  <a:srgbClr val="C7D0E0"/>
                </a:solidFill>
                <a:highlight>
                  <a:srgbClr val="F5FCFF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admin:8003/payment-profile</a:t>
            </a:r>
            <a:endParaRPr lang="en-US" sz="713" dirty="0"/>
          </a:p>
        </p:txBody>
      </p:sp>
      <p:sp>
        <p:nvSpPr>
          <p:cNvPr id="44" name="Text 42"/>
          <p:cNvSpPr/>
          <p:nvPr/>
        </p:nvSpPr>
        <p:spPr>
          <a:xfrm>
            <a:off x="2813050" y="5144295"/>
            <a:ext cx="601726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SHA-256 checksum per response → changed? re-chunk + embed → SQLite. Unchanged? skip. In-memory cosine search → top </a:t>
            </a:r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 </a:t>
            </a:r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(retrieval_limit).</a:t>
            </a:r>
            <a:endParaRPr lang="en-US" sz="788" dirty="0"/>
          </a:p>
        </p:txBody>
      </p:sp>
      <p:sp>
        <p:nvSpPr>
          <p:cNvPr id="45" name="Shape 43"/>
          <p:cNvSpPr/>
          <p:nvPr/>
        </p:nvSpPr>
        <p:spPr>
          <a:xfrm>
            <a:off x="533400" y="5857084"/>
            <a:ext cx="8458200" cy="6925469"/>
          </a:xfrm>
          <a:prstGeom prst="roundRect">
            <a:avLst>
              <a:gd name="adj" fmla="val 1926"/>
            </a:avLst>
          </a:prstGeom>
          <a:gradFill rotWithShape="1">
            <a:gsLst>
              <a:gs pos="0">
                <a:srgbClr val="1A1208">
                  <a:alpha val="100000"/>
                </a:srgbClr>
              </a:gs>
              <a:gs pos="60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E87722">
                <a:alpha val="24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0250" y="6015833"/>
            <a:ext cx="887095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13C · RESPONSE ASSEMBLY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0250" y="6250781"/>
            <a:ext cx="3959225" cy="504825"/>
          </a:xfrm>
          <a:prstGeom prst="roundRect">
            <a:avLst>
              <a:gd name="adj" fmla="val 16981"/>
            </a:avLst>
          </a:prstGeom>
          <a:solidFill>
            <a:srgbClr val="0B1120"/>
          </a:solidFill>
          <a:ln/>
        </p:spPr>
      </p:sp>
      <p:sp>
        <p:nvSpPr>
          <p:cNvPr id="48" name="Shape 46"/>
          <p:cNvSpPr/>
          <p:nvPr/>
        </p:nvSpPr>
        <p:spPr>
          <a:xfrm>
            <a:off x="730250" y="6749256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49" name="Shape 47"/>
          <p:cNvSpPr/>
          <p:nvPr/>
        </p:nvSpPr>
        <p:spPr>
          <a:xfrm>
            <a:off x="730250" y="6250781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50" name="Shape 48"/>
          <p:cNvSpPr/>
          <p:nvPr/>
        </p:nvSpPr>
        <p:spPr>
          <a:xfrm>
            <a:off x="730250" y="6250781"/>
            <a:ext cx="19050" cy="5048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1" name="Shape 49"/>
          <p:cNvSpPr/>
          <p:nvPr/>
        </p:nvSpPr>
        <p:spPr>
          <a:xfrm>
            <a:off x="4683125" y="6250781"/>
            <a:ext cx="9525" cy="5048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52" name="Shape 50"/>
          <p:cNvSpPr/>
          <p:nvPr/>
        </p:nvSpPr>
        <p:spPr>
          <a:xfrm>
            <a:off x="873125" y="6352384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E87722">
              <a:alpha val="12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873125" y="6352384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1149350" y="6352384"/>
            <a:ext cx="3358585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Persist to SQLite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49350" y="6527006"/>
            <a:ext cx="335858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INSERT user + assistant · TRIM to 100 rows per (user_id, temple_id)</a:t>
            </a:r>
            <a:endParaRPr lang="en-US" sz="788" dirty="0"/>
          </a:p>
        </p:txBody>
      </p:sp>
      <p:sp>
        <p:nvSpPr>
          <p:cNvPr id="56" name="Shape 54"/>
          <p:cNvSpPr/>
          <p:nvPr/>
        </p:nvSpPr>
        <p:spPr>
          <a:xfrm>
            <a:off x="730250" y="6831806"/>
            <a:ext cx="3959225" cy="820738"/>
          </a:xfrm>
          <a:prstGeom prst="roundRect">
            <a:avLst>
              <a:gd name="adj" fmla="val 10445"/>
            </a:avLst>
          </a:prstGeom>
          <a:solidFill>
            <a:srgbClr val="0B1120"/>
          </a:solidFill>
          <a:ln/>
        </p:spPr>
      </p:sp>
      <p:sp>
        <p:nvSpPr>
          <p:cNvPr id="57" name="Shape 55"/>
          <p:cNvSpPr/>
          <p:nvPr/>
        </p:nvSpPr>
        <p:spPr>
          <a:xfrm>
            <a:off x="730250" y="7646194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58" name="Shape 56"/>
          <p:cNvSpPr/>
          <p:nvPr/>
        </p:nvSpPr>
        <p:spPr>
          <a:xfrm>
            <a:off x="730250" y="6831806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59" name="Shape 57"/>
          <p:cNvSpPr/>
          <p:nvPr/>
        </p:nvSpPr>
        <p:spPr>
          <a:xfrm>
            <a:off x="730250" y="6831806"/>
            <a:ext cx="19050" cy="82073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0" name="Shape 58"/>
          <p:cNvSpPr/>
          <p:nvPr/>
        </p:nvSpPr>
        <p:spPr>
          <a:xfrm>
            <a:off x="4683125" y="6831806"/>
            <a:ext cx="9525" cy="820738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61" name="Shape 59"/>
          <p:cNvSpPr/>
          <p:nvPr/>
        </p:nvSpPr>
        <p:spPr>
          <a:xfrm>
            <a:off x="873125" y="6933409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E87722">
              <a:alpha val="12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873125" y="6933409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1149350" y="6933409"/>
            <a:ext cx="188071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Action-card matching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49350" y="7108031"/>
            <a:ext cx="178593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"book/shantidhara/slot" → book "donate/payment" → donate "news/update/notice" → home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30250" y="7728747"/>
            <a:ext cx="3959225" cy="504825"/>
          </a:xfrm>
          <a:prstGeom prst="roundRect">
            <a:avLst>
              <a:gd name="adj" fmla="val 16981"/>
            </a:avLst>
          </a:prstGeom>
          <a:solidFill>
            <a:srgbClr val="0B1120"/>
          </a:solidFill>
          <a:ln/>
        </p:spPr>
      </p:sp>
      <p:sp>
        <p:nvSpPr>
          <p:cNvPr id="66" name="Shape 64"/>
          <p:cNvSpPr/>
          <p:nvPr/>
        </p:nvSpPr>
        <p:spPr>
          <a:xfrm>
            <a:off x="730250" y="8227222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67" name="Shape 65"/>
          <p:cNvSpPr/>
          <p:nvPr/>
        </p:nvSpPr>
        <p:spPr>
          <a:xfrm>
            <a:off x="730250" y="7728747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68" name="Shape 66"/>
          <p:cNvSpPr/>
          <p:nvPr/>
        </p:nvSpPr>
        <p:spPr>
          <a:xfrm>
            <a:off x="730250" y="7728747"/>
            <a:ext cx="19050" cy="50482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9" name="Shape 67"/>
          <p:cNvSpPr/>
          <p:nvPr/>
        </p:nvSpPr>
        <p:spPr>
          <a:xfrm>
            <a:off x="4683125" y="7728747"/>
            <a:ext cx="9525" cy="5048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70" name="Shape 68"/>
          <p:cNvSpPr/>
          <p:nvPr/>
        </p:nvSpPr>
        <p:spPr>
          <a:xfrm>
            <a:off x="873125" y="7830345"/>
            <a:ext cx="190500" cy="190500"/>
          </a:xfrm>
          <a:prstGeom prst="roundRect">
            <a:avLst>
              <a:gd name="adj" fmla="val 25000"/>
            </a:avLst>
          </a:prstGeom>
          <a:solidFill>
            <a:srgbClr val="34D399">
              <a:alpha val="12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873125" y="783034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1149350" y="7830345"/>
            <a:ext cx="3010753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Return + render in app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1149350" y="8004972"/>
            <a:ext cx="3010753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React Native renders bubble · action_cards as tappable chips</a:t>
            </a:r>
            <a:endParaRPr lang="en-US" sz="788" dirty="0"/>
          </a:p>
        </p:txBody>
      </p:sp>
      <p:sp>
        <p:nvSpPr>
          <p:cNvPr id="74" name="Shape 72"/>
          <p:cNvSpPr/>
          <p:nvPr/>
        </p:nvSpPr>
        <p:spPr>
          <a:xfrm>
            <a:off x="4822825" y="6250781"/>
            <a:ext cx="3971925" cy="2759869"/>
          </a:xfrm>
          <a:prstGeom prst="roundRect">
            <a:avLst>
              <a:gd name="adj" fmla="val 3796"/>
            </a:avLst>
          </a:prstGeom>
          <a:solidFill>
            <a:srgbClr val="0B1120"/>
          </a:solidFill>
          <a:ln w="6350">
            <a:solidFill>
              <a:srgbClr val="233047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829175" y="6257134"/>
            <a:ext cx="3959225" cy="361950"/>
          </a:xfrm>
          <a:prstGeom prst="rect">
            <a:avLst/>
          </a:prstGeom>
          <a:solidFill>
            <a:srgbClr val="E87722">
              <a:alpha val="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4829175" y="6612734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77" name="Text 75"/>
          <p:cNvSpPr/>
          <p:nvPr/>
        </p:nvSpPr>
        <p:spPr>
          <a:xfrm>
            <a:off x="4962525" y="6396833"/>
            <a:ext cx="1614626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spc="75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TEMPLEASSISTANTRESPONSE</a:t>
            </a:r>
            <a:endParaRPr lang="en-US" sz="713" dirty="0"/>
          </a:p>
        </p:txBody>
      </p:sp>
      <p:sp>
        <p:nvSpPr>
          <p:cNvPr id="78" name="Text 76"/>
          <p:cNvSpPr/>
          <p:nvPr/>
        </p:nvSpPr>
        <p:spPr>
          <a:xfrm>
            <a:off x="4972050" y="6742909"/>
            <a:ext cx="3792252" cy="17883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{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"message"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"The Navakar Mantra is…"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"mode"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  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"agent"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"citations"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[],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"action_cards"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[{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title, action_label,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action_target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}],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</a:t>
            </a:r>
            <a:endParaRPr lang="en-US" sz="788" dirty="0"/>
          </a:p>
          <a:p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7DD3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"phase"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: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A5E8B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"temple_ai" </a:t>
            </a:r>
            <a:pPr algn="l" indent="0" marL="0">
              <a:lnSpc>
                <a:spcPct val="175000"/>
              </a:lnSpc>
              <a:buNone/>
            </a:pPr>
            <a:r>
              <a:rPr lang="en-US" sz="788" dirty="0">
                <a:solidFill>
                  <a:srgbClr val="C7D0E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}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4829175" y="8616953"/>
            <a:ext cx="3959225" cy="9525"/>
          </a:xfrm>
          <a:prstGeom prst="rect">
            <a:avLst/>
          </a:prstGeom>
          <a:solidFill>
            <a:srgbClr val="233047"/>
          </a:solidFill>
          <a:ln/>
        </p:spPr>
      </p:sp>
      <p:sp>
        <p:nvSpPr>
          <p:cNvPr id="80" name="Shape 78"/>
          <p:cNvSpPr/>
          <p:nvPr/>
        </p:nvSpPr>
        <p:spPr>
          <a:xfrm>
            <a:off x="4962525" y="8718552"/>
            <a:ext cx="1176338" cy="190500"/>
          </a:xfrm>
          <a:prstGeom prst="roundRect">
            <a:avLst>
              <a:gd name="adj" fmla="val 50000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54600" y="8753477"/>
            <a:ext cx="1068387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📿 Book Shantidhara</a:t>
            </a:r>
            <a:endParaRPr lang="en-US" sz="675" dirty="0"/>
          </a:p>
        </p:txBody>
      </p:sp>
      <p:sp>
        <p:nvSpPr>
          <p:cNvPr id="82" name="Shape 80"/>
          <p:cNvSpPr/>
          <p:nvPr/>
        </p:nvSpPr>
        <p:spPr>
          <a:xfrm>
            <a:off x="6205538" y="8718552"/>
            <a:ext cx="661988" cy="190500"/>
          </a:xfrm>
          <a:prstGeom prst="roundRect">
            <a:avLst>
              <a:gd name="adj" fmla="val 50000"/>
            </a:avLst>
          </a:prstGeom>
          <a:solidFill>
            <a:srgbClr val="E87722">
              <a:alpha val="10000"/>
            </a:srgbClr>
          </a:solidFill>
          <a:ln w="6350">
            <a:solidFill>
              <a:srgbClr val="E87722">
                <a:alpha val="22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297613" y="8753477"/>
            <a:ext cx="554037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🪔 Donate</a:t>
            </a:r>
            <a:endParaRPr lang="en-US" sz="675" dirty="0"/>
          </a:p>
        </p:txBody>
      </p:sp>
      <p:sp>
        <p:nvSpPr>
          <p:cNvPr id="84" name="Shape 82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533400" y="13042902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86" name="Text 84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13</a:t>
            </a:r>
            <a:endParaRPr lang="en-US" sz="78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2"/>
            <a:ext cx="242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4189" y="920753"/>
            <a:ext cx="445446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Pipeline — Scripture Knowledge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Jain scripture PDFs are chunked, embedded into 2048-dim Gemini vectors, and stored in Pinecone. At query time the question is embedded with the same model (RETRIEVAL_QUERY) and the top-8 passages are retrieved and synthesised by Groq.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97"/>
            <a:ext cx="8458200" cy="5683250"/>
          </a:xfrm>
          <a:prstGeom prst="roundRect">
            <a:avLst>
              <a:gd name="adj" fmla="val 2682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2020095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4 · INDEXING &amp; RETRIEVAL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19150" y="2293144"/>
            <a:ext cx="39814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INDEXING · DONE ONCE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000125" y="2553495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00125" y="3026570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00125" y="2553495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0125" y="2553495"/>
            <a:ext cx="25400" cy="4794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3275" y="2553495"/>
            <a:ext cx="9525" cy="4794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149350" y="2645569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Jain Scripture PDFs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9350" y="2820195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8FBD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admin uploads /api/v1/ingest/upload</a:t>
            </a:r>
            <a:endParaRPr lang="en-US" sz="713" dirty="0"/>
          </a:p>
        </p:txBody>
      </p:sp>
      <p:sp>
        <p:nvSpPr>
          <p:cNvPr id="19" name="Shape 17"/>
          <p:cNvSpPr/>
          <p:nvPr/>
        </p:nvSpPr>
        <p:spPr>
          <a:xfrm>
            <a:off x="2800350" y="3071022"/>
            <a:ext cx="19050" cy="952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Shape 18"/>
          <p:cNvSpPr/>
          <p:nvPr/>
        </p:nvSpPr>
        <p:spPr>
          <a:xfrm>
            <a:off x="2771775" y="3166272"/>
            <a:ext cx="76200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00125" y="3261522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000125" y="3734597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00125" y="3261522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00125" y="3261522"/>
            <a:ext cx="25400" cy="4794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3275" y="3261522"/>
            <a:ext cx="9525" cy="4794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149350" y="3353595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pypdf extraction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9350" y="3528222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8FBD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page-by-page · clean whitespace</a:t>
            </a:r>
            <a:endParaRPr lang="en-US" sz="713" dirty="0"/>
          </a:p>
        </p:txBody>
      </p:sp>
      <p:sp>
        <p:nvSpPr>
          <p:cNvPr id="28" name="Shape 26"/>
          <p:cNvSpPr/>
          <p:nvPr/>
        </p:nvSpPr>
        <p:spPr>
          <a:xfrm>
            <a:off x="2800350" y="3779044"/>
            <a:ext cx="19050" cy="952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Shape 27"/>
          <p:cNvSpPr/>
          <p:nvPr/>
        </p:nvSpPr>
        <p:spPr>
          <a:xfrm>
            <a:off x="2771775" y="3874294"/>
            <a:ext cx="76200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00125" y="3969544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00125" y="4442619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00125" y="3969544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000125" y="3969544"/>
            <a:ext cx="25400" cy="4794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4" name="Shape 32"/>
          <p:cNvSpPr/>
          <p:nvPr/>
        </p:nvSpPr>
        <p:spPr>
          <a:xfrm>
            <a:off x="4613275" y="3969544"/>
            <a:ext cx="9525" cy="4794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149350" y="4061622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Chunker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9350" y="4236244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8FBD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chunk_size 800 · overlap 100</a:t>
            </a:r>
            <a:endParaRPr lang="en-US" sz="713" dirty="0"/>
          </a:p>
        </p:txBody>
      </p:sp>
      <p:sp>
        <p:nvSpPr>
          <p:cNvPr id="37" name="Shape 35"/>
          <p:cNvSpPr/>
          <p:nvPr/>
        </p:nvSpPr>
        <p:spPr>
          <a:xfrm>
            <a:off x="2800350" y="4487070"/>
            <a:ext cx="19050" cy="952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8" name="Shape 36"/>
          <p:cNvSpPr/>
          <p:nvPr/>
        </p:nvSpPr>
        <p:spPr>
          <a:xfrm>
            <a:off x="2771775" y="4582320"/>
            <a:ext cx="76200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39" name="Shape 37"/>
          <p:cNvSpPr/>
          <p:nvPr/>
        </p:nvSpPr>
        <p:spPr>
          <a:xfrm>
            <a:off x="1000125" y="4677570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1000125" y="5150645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1000125" y="4677570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000125" y="4677570"/>
            <a:ext cx="25400" cy="4794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3" name="Shape 41"/>
          <p:cNvSpPr/>
          <p:nvPr/>
        </p:nvSpPr>
        <p:spPr>
          <a:xfrm>
            <a:off x="4613275" y="4677570"/>
            <a:ext cx="9525" cy="4794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149350" y="4769644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Embedding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49350" y="4944270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8FBD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gemini-embedding-001 · 2048d</a:t>
            </a:r>
            <a:endParaRPr lang="en-US" sz="713" dirty="0"/>
          </a:p>
        </p:txBody>
      </p:sp>
      <p:sp>
        <p:nvSpPr>
          <p:cNvPr id="46" name="Shape 44"/>
          <p:cNvSpPr/>
          <p:nvPr/>
        </p:nvSpPr>
        <p:spPr>
          <a:xfrm>
            <a:off x="2800350" y="5195097"/>
            <a:ext cx="19050" cy="952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7" name="Shape 45"/>
          <p:cNvSpPr/>
          <p:nvPr/>
        </p:nvSpPr>
        <p:spPr>
          <a:xfrm>
            <a:off x="2771775" y="5290347"/>
            <a:ext cx="76200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0125" y="5385597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2DD4BF">
              <a:alpha val="6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1000125" y="5858672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1000125" y="5385597"/>
            <a:ext cx="3619500" cy="95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00125" y="5385597"/>
            <a:ext cx="25400" cy="479425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2" name="Shape 50"/>
          <p:cNvSpPr/>
          <p:nvPr/>
        </p:nvSpPr>
        <p:spPr>
          <a:xfrm>
            <a:off x="4613275" y="5385597"/>
            <a:ext cx="9525" cy="479425"/>
          </a:xfrm>
          <a:prstGeom prst="rect">
            <a:avLst/>
          </a:prstGeom>
          <a:solidFill>
            <a:srgbClr val="2DD4BF">
              <a:alpha val="2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1149350" y="5477670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Pinecone Upsert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49350" y="5652297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8FBDB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= source:page:chunk</a:t>
            </a:r>
            <a:endParaRPr lang="en-US" sz="713" dirty="0"/>
          </a:p>
        </p:txBody>
      </p:sp>
      <p:sp>
        <p:nvSpPr>
          <p:cNvPr id="55" name="Shape 53"/>
          <p:cNvSpPr/>
          <p:nvPr/>
        </p:nvSpPr>
        <p:spPr>
          <a:xfrm>
            <a:off x="2800350" y="5903119"/>
            <a:ext cx="19050" cy="952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6" name="Shape 54"/>
          <p:cNvSpPr/>
          <p:nvPr/>
        </p:nvSpPr>
        <p:spPr>
          <a:xfrm>
            <a:off x="2771775" y="5998369"/>
            <a:ext cx="76200" cy="5715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7" name="Text 55"/>
          <p:cNvSpPr/>
          <p:nvPr/>
        </p:nvSpPr>
        <p:spPr>
          <a:xfrm>
            <a:off x="4724400" y="2293144"/>
            <a:ext cx="398145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RETRIEVAL · EVERY QUESTION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905375" y="2553495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905375" y="3026570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4905375" y="2553495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4905375" y="2553495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2" name="Shape 60"/>
          <p:cNvSpPr/>
          <p:nvPr/>
        </p:nvSpPr>
        <p:spPr>
          <a:xfrm>
            <a:off x="8518525" y="2553495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5054600" y="2645569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Question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54600" y="2820195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"What is Navakar Mantra?"</a:t>
            </a:r>
            <a:endParaRPr lang="en-US" sz="713" dirty="0"/>
          </a:p>
        </p:txBody>
      </p:sp>
      <p:sp>
        <p:nvSpPr>
          <p:cNvPr id="65" name="Shape 63"/>
          <p:cNvSpPr/>
          <p:nvPr/>
        </p:nvSpPr>
        <p:spPr>
          <a:xfrm>
            <a:off x="6705600" y="3071022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6" name="Shape 64"/>
          <p:cNvSpPr/>
          <p:nvPr/>
        </p:nvSpPr>
        <p:spPr>
          <a:xfrm>
            <a:off x="6677025" y="3166272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7" name="Shape 65"/>
          <p:cNvSpPr/>
          <p:nvPr/>
        </p:nvSpPr>
        <p:spPr>
          <a:xfrm>
            <a:off x="4905375" y="3261522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905375" y="3734597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905375" y="3261522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905375" y="3261522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1" name="Shape 69"/>
          <p:cNvSpPr/>
          <p:nvPr/>
        </p:nvSpPr>
        <p:spPr>
          <a:xfrm>
            <a:off x="8518525" y="3261522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5054600" y="3353595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Embed (QUERY)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5054600" y="3528222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RETRIEVAL_QUERY · 2048d</a:t>
            </a:r>
            <a:endParaRPr lang="en-US" sz="713" dirty="0"/>
          </a:p>
        </p:txBody>
      </p:sp>
      <p:sp>
        <p:nvSpPr>
          <p:cNvPr id="74" name="Shape 72"/>
          <p:cNvSpPr/>
          <p:nvPr/>
        </p:nvSpPr>
        <p:spPr>
          <a:xfrm>
            <a:off x="6705600" y="3779044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5" name="Shape 73"/>
          <p:cNvSpPr/>
          <p:nvPr/>
        </p:nvSpPr>
        <p:spPr>
          <a:xfrm>
            <a:off x="6677025" y="3874294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76" name="Shape 74"/>
          <p:cNvSpPr/>
          <p:nvPr/>
        </p:nvSpPr>
        <p:spPr>
          <a:xfrm>
            <a:off x="4905375" y="3969544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4905375" y="4442619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4905375" y="3969544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4905375" y="3969544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0" name="Shape 78"/>
          <p:cNvSpPr/>
          <p:nvPr/>
        </p:nvSpPr>
        <p:spPr>
          <a:xfrm>
            <a:off x="8518525" y="3969544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81" name="Text 79"/>
          <p:cNvSpPr/>
          <p:nvPr/>
        </p:nvSpPr>
        <p:spPr>
          <a:xfrm>
            <a:off x="5054600" y="4061622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Pinecone Query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054600" y="4236244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top_k 8 · cosine</a:t>
            </a:r>
            <a:endParaRPr lang="en-US" sz="713" dirty="0"/>
          </a:p>
        </p:txBody>
      </p:sp>
      <p:sp>
        <p:nvSpPr>
          <p:cNvPr id="83" name="Shape 81"/>
          <p:cNvSpPr/>
          <p:nvPr/>
        </p:nvSpPr>
        <p:spPr>
          <a:xfrm>
            <a:off x="6705600" y="4487070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4" name="Shape 82"/>
          <p:cNvSpPr/>
          <p:nvPr/>
        </p:nvSpPr>
        <p:spPr>
          <a:xfrm>
            <a:off x="6677025" y="4582320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5" name="Shape 83"/>
          <p:cNvSpPr/>
          <p:nvPr/>
        </p:nvSpPr>
        <p:spPr>
          <a:xfrm>
            <a:off x="4905375" y="4677570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4905375" y="5150645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4905375" y="4677570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4905375" y="4677570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89" name="Shape 87"/>
          <p:cNvSpPr/>
          <p:nvPr/>
        </p:nvSpPr>
        <p:spPr>
          <a:xfrm>
            <a:off x="8518525" y="4677570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90" name="Text 88"/>
          <p:cNvSpPr/>
          <p:nvPr/>
        </p:nvSpPr>
        <p:spPr>
          <a:xfrm>
            <a:off x="5054600" y="4769644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Retrieved Passages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5054600" y="4944270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chunks + source + score</a:t>
            </a:r>
            <a:endParaRPr lang="en-US" sz="713" dirty="0"/>
          </a:p>
        </p:txBody>
      </p:sp>
      <p:sp>
        <p:nvSpPr>
          <p:cNvPr id="92" name="Shape 90"/>
          <p:cNvSpPr/>
          <p:nvPr/>
        </p:nvSpPr>
        <p:spPr>
          <a:xfrm>
            <a:off x="6705600" y="5195097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3" name="Shape 91"/>
          <p:cNvSpPr/>
          <p:nvPr/>
        </p:nvSpPr>
        <p:spPr>
          <a:xfrm>
            <a:off x="6677025" y="5290347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4" name="Shape 92"/>
          <p:cNvSpPr/>
          <p:nvPr/>
        </p:nvSpPr>
        <p:spPr>
          <a:xfrm>
            <a:off x="4905375" y="5385597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4905375" y="5858672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4905375" y="5385597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4905375" y="5385597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98" name="Shape 96"/>
          <p:cNvSpPr/>
          <p:nvPr/>
        </p:nvSpPr>
        <p:spPr>
          <a:xfrm>
            <a:off x="8518525" y="5385597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99" name="Text 97"/>
          <p:cNvSpPr/>
          <p:nvPr/>
        </p:nvSpPr>
        <p:spPr>
          <a:xfrm>
            <a:off x="5054600" y="5477670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Synthesis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5054600" y="5652297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 0.3 · 4-part answer</a:t>
            </a:r>
            <a:endParaRPr lang="en-US" sz="713" dirty="0"/>
          </a:p>
        </p:txBody>
      </p:sp>
      <p:sp>
        <p:nvSpPr>
          <p:cNvPr id="101" name="Shape 99"/>
          <p:cNvSpPr/>
          <p:nvPr/>
        </p:nvSpPr>
        <p:spPr>
          <a:xfrm>
            <a:off x="6705600" y="5903119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2" name="Shape 100"/>
          <p:cNvSpPr/>
          <p:nvPr/>
        </p:nvSpPr>
        <p:spPr>
          <a:xfrm>
            <a:off x="6677025" y="5998369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905375" y="6093619"/>
            <a:ext cx="3619500" cy="479425"/>
          </a:xfrm>
          <a:prstGeom prst="roundRect">
            <a:avLst>
              <a:gd name="adj" fmla="val 17881"/>
            </a:avLst>
          </a:prstGeom>
          <a:solidFill>
            <a:srgbClr val="E87722">
              <a:alpha val="6000"/>
            </a:srgbClr>
          </a:solidFill>
          <a:ln/>
        </p:spPr>
      </p:sp>
      <p:sp>
        <p:nvSpPr>
          <p:cNvPr id="104" name="Shape 102"/>
          <p:cNvSpPr/>
          <p:nvPr/>
        </p:nvSpPr>
        <p:spPr>
          <a:xfrm>
            <a:off x="4905375" y="6566694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4905375" y="6093619"/>
            <a:ext cx="3619500" cy="95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106" name="Shape 104"/>
          <p:cNvSpPr/>
          <p:nvPr/>
        </p:nvSpPr>
        <p:spPr>
          <a:xfrm>
            <a:off x="4905375" y="6093619"/>
            <a:ext cx="25400" cy="47942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07" name="Shape 105"/>
          <p:cNvSpPr/>
          <p:nvPr/>
        </p:nvSpPr>
        <p:spPr>
          <a:xfrm>
            <a:off x="8518525" y="6093619"/>
            <a:ext cx="9525" cy="479425"/>
          </a:xfrm>
          <a:prstGeom prst="rect">
            <a:avLst/>
          </a:prstGeom>
          <a:solidFill>
            <a:srgbClr val="E87722">
              <a:alpha val="22000"/>
            </a:srgbClr>
          </a:solidFill>
          <a:ln/>
        </p:spPr>
      </p:sp>
      <p:sp>
        <p:nvSpPr>
          <p:cNvPr id="108" name="Text 106"/>
          <p:cNvSpPr/>
          <p:nvPr/>
        </p:nvSpPr>
        <p:spPr>
          <a:xfrm>
            <a:off x="5054600" y="6185697"/>
            <a:ext cx="367411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Final Answer</a:t>
            </a:r>
            <a:endParaRPr lang="en-US" sz="900" dirty="0"/>
          </a:p>
        </p:txBody>
      </p:sp>
      <p:sp>
        <p:nvSpPr>
          <p:cNvPr id="109" name="Text 107"/>
          <p:cNvSpPr/>
          <p:nvPr/>
        </p:nvSpPr>
        <p:spPr>
          <a:xfrm>
            <a:off x="5054600" y="6360319"/>
            <a:ext cx="367411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13" dirty="0">
                <a:solidFill>
                  <a:srgbClr val="CBB6A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citations + action cards</a:t>
            </a:r>
            <a:endParaRPr lang="en-US" sz="713" dirty="0"/>
          </a:p>
        </p:txBody>
      </p:sp>
      <p:sp>
        <p:nvSpPr>
          <p:cNvPr id="110" name="Shape 108"/>
          <p:cNvSpPr/>
          <p:nvPr/>
        </p:nvSpPr>
        <p:spPr>
          <a:xfrm>
            <a:off x="6705600" y="6611145"/>
            <a:ext cx="19050" cy="952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1" name="Shape 109"/>
          <p:cNvSpPr/>
          <p:nvPr/>
        </p:nvSpPr>
        <p:spPr>
          <a:xfrm>
            <a:off x="6677025" y="6706395"/>
            <a:ext cx="762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2" name="Shape 110"/>
          <p:cNvSpPr/>
          <p:nvPr/>
        </p:nvSpPr>
        <p:spPr>
          <a:xfrm>
            <a:off x="768350" y="6954045"/>
            <a:ext cx="79883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3" name="Text 111"/>
          <p:cNvSpPr/>
          <p:nvPr/>
        </p:nvSpPr>
        <p:spPr>
          <a:xfrm>
            <a:off x="648526" y="7093745"/>
            <a:ext cx="8227949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Both phases share </a:t>
            </a:r>
            <a:pPr algn="ctr" indent="0" marL="0">
              <a:buNone/>
            </a:pPr>
            <a:r>
              <a:rPr lang="en-US" sz="825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gemini-embedding-001 </a:t>
            </a:r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(2048-dim) and the Pinecone index </a:t>
            </a:r>
            <a:pPr algn="ctr" indent="0" marL="0">
              <a:buNone/>
            </a:pPr>
            <a:r>
              <a:rPr lang="en-US" sz="825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"jain-texts"</a:t>
            </a:r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825" dirty="0"/>
          </a:p>
        </p:txBody>
      </p:sp>
      <p:sp>
        <p:nvSpPr>
          <p:cNvPr id="114" name="Shape 112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5" name="Text 113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116" name="Text 114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14</a:t>
            </a:r>
            <a:endParaRPr lang="en-US" sz="7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42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4189" y="920753"/>
            <a:ext cx="371405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Embedding &amp; Chunking Config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tunable that shapes how scripture is split, embedded and retrieved — and exactly where each value lives in the codebase.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50"/>
            <a:ext cx="2436912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902225"/>
            <a:ext cx="2436912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705375"/>
            <a:ext cx="2303562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PARAMETER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70312" y="1619650"/>
            <a:ext cx="2376289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2970312" y="1902225"/>
            <a:ext cx="2376289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3075087" y="1705375"/>
            <a:ext cx="2242939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VALUE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346601" y="1619650"/>
            <a:ext cx="3644999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5346601" y="1902225"/>
            <a:ext cx="3644999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5451376" y="1705375"/>
            <a:ext cx="3544799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SET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3400" y="2226078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38175" y="1997478"/>
            <a:ext cx="2303562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model</a:t>
            </a:r>
            <a:endParaRPr lang="en-US" sz="863" dirty="0"/>
          </a:p>
        </p:txBody>
      </p:sp>
      <p:sp>
        <p:nvSpPr>
          <p:cNvPr id="20" name="Shape 18"/>
          <p:cNvSpPr/>
          <p:nvPr/>
        </p:nvSpPr>
        <p:spPr>
          <a:xfrm>
            <a:off x="2970312" y="2226078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3075087" y="1997478"/>
            <a:ext cx="224293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gemini-embedding-001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5346601" y="2226078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3" name="Text 21"/>
          <p:cNvSpPr/>
          <p:nvPr/>
        </p:nvSpPr>
        <p:spPr>
          <a:xfrm>
            <a:off x="5451376" y="1997478"/>
            <a:ext cx="35447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embedder.py ENDPOINT const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533400" y="25308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" y="23086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 dimensions</a:t>
            </a:r>
            <a:endParaRPr lang="en-US" sz="863" dirty="0"/>
          </a:p>
        </p:txBody>
      </p:sp>
      <p:sp>
        <p:nvSpPr>
          <p:cNvPr id="26" name="Shape 24"/>
          <p:cNvSpPr/>
          <p:nvPr/>
        </p:nvSpPr>
        <p:spPr>
          <a:xfrm>
            <a:off x="2970312" y="25308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7" name="Text 25"/>
          <p:cNvSpPr/>
          <p:nvPr/>
        </p:nvSpPr>
        <p:spPr>
          <a:xfrm>
            <a:off x="3075087" y="23086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2048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5346601" y="25308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5451376" y="23086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embedder.py _OUTPUT_DIMENSIONS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533400" y="28356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" y="26134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Batch size</a:t>
            </a:r>
            <a:endParaRPr lang="en-US" sz="863" dirty="0"/>
          </a:p>
        </p:txBody>
      </p:sp>
      <p:sp>
        <p:nvSpPr>
          <p:cNvPr id="32" name="Shape 30"/>
          <p:cNvSpPr/>
          <p:nvPr/>
        </p:nvSpPr>
        <p:spPr>
          <a:xfrm>
            <a:off x="2970312" y="28356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3" name="Text 31"/>
          <p:cNvSpPr/>
          <p:nvPr/>
        </p:nvSpPr>
        <p:spPr>
          <a:xfrm>
            <a:off x="3075087" y="26134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texts / call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5346601" y="28356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5" name="Text 33"/>
          <p:cNvSpPr/>
          <p:nvPr/>
        </p:nvSpPr>
        <p:spPr>
          <a:xfrm>
            <a:off x="5451376" y="26134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embedder.py _BATCH_SIZE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533400" y="31404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" y="29182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Storage task type</a:t>
            </a:r>
            <a:endParaRPr lang="en-US" sz="863" dirty="0"/>
          </a:p>
        </p:txBody>
      </p:sp>
      <p:sp>
        <p:nvSpPr>
          <p:cNvPr id="38" name="Shape 36"/>
          <p:cNvSpPr/>
          <p:nvPr/>
        </p:nvSpPr>
        <p:spPr>
          <a:xfrm>
            <a:off x="2970312" y="31404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9" name="Text 37"/>
          <p:cNvSpPr/>
          <p:nvPr/>
        </p:nvSpPr>
        <p:spPr>
          <a:xfrm>
            <a:off x="3075087" y="29182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RETRIEVAL_DOCUMENT</a:t>
            </a:r>
            <a:endParaRPr lang="en-US" sz="825" dirty="0"/>
          </a:p>
        </p:txBody>
      </p:sp>
      <p:sp>
        <p:nvSpPr>
          <p:cNvPr id="40" name="Shape 38"/>
          <p:cNvSpPr/>
          <p:nvPr/>
        </p:nvSpPr>
        <p:spPr>
          <a:xfrm>
            <a:off x="5346601" y="31404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1" name="Text 39"/>
          <p:cNvSpPr/>
          <p:nvPr/>
        </p:nvSpPr>
        <p:spPr>
          <a:xfrm>
            <a:off x="5451376" y="29182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embedder.py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533400" y="34452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" y="32230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task type</a:t>
            </a:r>
            <a:endParaRPr lang="en-US" sz="863" dirty="0"/>
          </a:p>
        </p:txBody>
      </p:sp>
      <p:sp>
        <p:nvSpPr>
          <p:cNvPr id="44" name="Shape 42"/>
          <p:cNvSpPr/>
          <p:nvPr/>
        </p:nvSpPr>
        <p:spPr>
          <a:xfrm>
            <a:off x="2970312" y="34452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3075087" y="32230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RETRIEVAL_QUERY</a:t>
            </a:r>
            <a:endParaRPr lang="en-US" sz="825" dirty="0"/>
          </a:p>
        </p:txBody>
      </p:sp>
      <p:sp>
        <p:nvSpPr>
          <p:cNvPr id="46" name="Shape 44"/>
          <p:cNvSpPr/>
          <p:nvPr/>
        </p:nvSpPr>
        <p:spPr>
          <a:xfrm>
            <a:off x="5346601" y="34452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7" name="Text 45"/>
          <p:cNvSpPr/>
          <p:nvPr/>
        </p:nvSpPr>
        <p:spPr>
          <a:xfrm>
            <a:off x="5451376" y="32230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embedder.py</a:t>
            </a:r>
            <a:endParaRPr lang="en-US" sz="788" dirty="0"/>
          </a:p>
        </p:txBody>
      </p:sp>
      <p:sp>
        <p:nvSpPr>
          <p:cNvPr id="48" name="Shape 46"/>
          <p:cNvSpPr/>
          <p:nvPr/>
        </p:nvSpPr>
        <p:spPr>
          <a:xfrm>
            <a:off x="533400" y="37500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9" name="Text 47"/>
          <p:cNvSpPr/>
          <p:nvPr/>
        </p:nvSpPr>
        <p:spPr>
          <a:xfrm>
            <a:off x="638175" y="35278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Chunk size</a:t>
            </a:r>
            <a:endParaRPr lang="en-US" sz="863" dirty="0"/>
          </a:p>
        </p:txBody>
      </p:sp>
      <p:sp>
        <p:nvSpPr>
          <p:cNvPr id="50" name="Shape 48"/>
          <p:cNvSpPr/>
          <p:nvPr/>
        </p:nvSpPr>
        <p:spPr>
          <a:xfrm>
            <a:off x="2970312" y="37500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1" name="Text 49"/>
          <p:cNvSpPr/>
          <p:nvPr/>
        </p:nvSpPr>
        <p:spPr>
          <a:xfrm>
            <a:off x="3075087" y="35278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800 characters</a:t>
            </a:r>
            <a:endParaRPr lang="en-US" sz="825" dirty="0"/>
          </a:p>
        </p:txBody>
      </p:sp>
      <p:sp>
        <p:nvSpPr>
          <p:cNvPr id="52" name="Shape 50"/>
          <p:cNvSpPr/>
          <p:nvPr/>
        </p:nvSpPr>
        <p:spPr>
          <a:xfrm>
            <a:off x="5346601" y="37500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3" name="Text 51"/>
          <p:cNvSpPr/>
          <p:nvPr/>
        </p:nvSpPr>
        <p:spPr>
          <a:xfrm>
            <a:off x="5451376" y="35278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config.py chunk_size_characters</a:t>
            </a:r>
            <a:endParaRPr lang="en-US" sz="788" dirty="0"/>
          </a:p>
        </p:txBody>
      </p:sp>
      <p:sp>
        <p:nvSpPr>
          <p:cNvPr id="54" name="Shape 52"/>
          <p:cNvSpPr/>
          <p:nvPr/>
        </p:nvSpPr>
        <p:spPr>
          <a:xfrm>
            <a:off x="533400" y="40548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5" name="Text 53"/>
          <p:cNvSpPr/>
          <p:nvPr/>
        </p:nvSpPr>
        <p:spPr>
          <a:xfrm>
            <a:off x="638175" y="38326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Chunk overlap</a:t>
            </a:r>
            <a:endParaRPr lang="en-US" sz="863" dirty="0"/>
          </a:p>
        </p:txBody>
      </p:sp>
      <p:sp>
        <p:nvSpPr>
          <p:cNvPr id="56" name="Shape 54"/>
          <p:cNvSpPr/>
          <p:nvPr/>
        </p:nvSpPr>
        <p:spPr>
          <a:xfrm>
            <a:off x="2970312" y="40548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7" name="Text 55"/>
          <p:cNvSpPr/>
          <p:nvPr/>
        </p:nvSpPr>
        <p:spPr>
          <a:xfrm>
            <a:off x="3075087" y="38326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 characters</a:t>
            </a:r>
            <a:endParaRPr lang="en-US" sz="825" dirty="0"/>
          </a:p>
        </p:txBody>
      </p:sp>
      <p:sp>
        <p:nvSpPr>
          <p:cNvPr id="58" name="Shape 56"/>
          <p:cNvSpPr/>
          <p:nvPr/>
        </p:nvSpPr>
        <p:spPr>
          <a:xfrm>
            <a:off x="5346601" y="40548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9" name="Text 57"/>
          <p:cNvSpPr/>
          <p:nvPr/>
        </p:nvSpPr>
        <p:spPr>
          <a:xfrm>
            <a:off x="5451376" y="38326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config.py chunk_overlap_characters</a:t>
            </a:r>
            <a:endParaRPr lang="en-US" sz="788" dirty="0"/>
          </a:p>
        </p:txBody>
      </p:sp>
      <p:sp>
        <p:nvSpPr>
          <p:cNvPr id="60" name="Shape 58"/>
          <p:cNvSpPr/>
          <p:nvPr/>
        </p:nvSpPr>
        <p:spPr>
          <a:xfrm>
            <a:off x="533400" y="43596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1" name="Text 59"/>
          <p:cNvSpPr/>
          <p:nvPr/>
        </p:nvSpPr>
        <p:spPr>
          <a:xfrm>
            <a:off x="638175" y="41374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Pinecone top_k (scripture)</a:t>
            </a:r>
            <a:endParaRPr lang="en-US" sz="863" dirty="0"/>
          </a:p>
        </p:txBody>
      </p:sp>
      <p:sp>
        <p:nvSpPr>
          <p:cNvPr id="62" name="Shape 60"/>
          <p:cNvSpPr/>
          <p:nvPr/>
        </p:nvSpPr>
        <p:spPr>
          <a:xfrm>
            <a:off x="2970312" y="43596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3" name="Text 61"/>
          <p:cNvSpPr/>
          <p:nvPr/>
        </p:nvSpPr>
        <p:spPr>
          <a:xfrm>
            <a:off x="3075087" y="41374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825" dirty="0"/>
          </a:p>
        </p:txBody>
      </p:sp>
      <p:sp>
        <p:nvSpPr>
          <p:cNvPr id="64" name="Shape 62"/>
          <p:cNvSpPr/>
          <p:nvPr/>
        </p:nvSpPr>
        <p:spPr>
          <a:xfrm>
            <a:off x="5346601" y="43596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5" name="Text 63"/>
          <p:cNvSpPr/>
          <p:nvPr/>
        </p:nvSpPr>
        <p:spPr>
          <a:xfrm>
            <a:off x="5451376" y="41374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tools.py search_jain_texts</a:t>
            </a:r>
            <a:endParaRPr lang="en-US" sz="788" dirty="0"/>
          </a:p>
        </p:txBody>
      </p:sp>
      <p:sp>
        <p:nvSpPr>
          <p:cNvPr id="66" name="Shape 64"/>
          <p:cNvSpPr/>
          <p:nvPr/>
        </p:nvSpPr>
        <p:spPr>
          <a:xfrm>
            <a:off x="533400" y="46644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7" name="Text 65"/>
          <p:cNvSpPr/>
          <p:nvPr/>
        </p:nvSpPr>
        <p:spPr>
          <a:xfrm>
            <a:off x="638175" y="44422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 data top_k</a:t>
            </a:r>
            <a:endParaRPr lang="en-US" sz="863" dirty="0"/>
          </a:p>
        </p:txBody>
      </p:sp>
      <p:sp>
        <p:nvSpPr>
          <p:cNvPr id="68" name="Shape 66"/>
          <p:cNvSpPr/>
          <p:nvPr/>
        </p:nvSpPr>
        <p:spPr>
          <a:xfrm>
            <a:off x="2970312" y="46644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9" name="Text 67"/>
          <p:cNvSpPr/>
          <p:nvPr/>
        </p:nvSpPr>
        <p:spPr>
          <a:xfrm>
            <a:off x="3075087" y="44422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825" dirty="0"/>
          </a:p>
        </p:txBody>
      </p:sp>
      <p:sp>
        <p:nvSpPr>
          <p:cNvPr id="70" name="Shape 68"/>
          <p:cNvSpPr/>
          <p:nvPr/>
        </p:nvSpPr>
        <p:spPr>
          <a:xfrm>
            <a:off x="5346601" y="46644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1" name="Text 69"/>
          <p:cNvSpPr/>
          <p:nvPr/>
        </p:nvSpPr>
        <p:spPr>
          <a:xfrm>
            <a:off x="5451376" y="44422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config.py retrieval_limit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533400" y="49692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3" name="Text 71"/>
          <p:cNvSpPr/>
          <p:nvPr/>
        </p:nvSpPr>
        <p:spPr>
          <a:xfrm>
            <a:off x="638175" y="47470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Pinecone index</a:t>
            </a:r>
            <a:endParaRPr lang="en-US" sz="863" dirty="0"/>
          </a:p>
        </p:txBody>
      </p:sp>
      <p:sp>
        <p:nvSpPr>
          <p:cNvPr id="74" name="Shape 72"/>
          <p:cNvSpPr/>
          <p:nvPr/>
        </p:nvSpPr>
        <p:spPr>
          <a:xfrm>
            <a:off x="2970312" y="49692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5" name="Text 73"/>
          <p:cNvSpPr/>
          <p:nvPr/>
        </p:nvSpPr>
        <p:spPr>
          <a:xfrm>
            <a:off x="3075087" y="47470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jain-texts</a:t>
            </a:r>
            <a:endParaRPr lang="en-US" sz="825" dirty="0"/>
          </a:p>
        </p:txBody>
      </p:sp>
      <p:sp>
        <p:nvSpPr>
          <p:cNvPr id="76" name="Shape 74"/>
          <p:cNvSpPr/>
          <p:nvPr/>
        </p:nvSpPr>
        <p:spPr>
          <a:xfrm>
            <a:off x="5346601" y="49692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7" name="Text 75"/>
          <p:cNvSpPr/>
          <p:nvPr/>
        </p:nvSpPr>
        <p:spPr>
          <a:xfrm>
            <a:off x="5451376" y="47470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config.py pinecone_index_name</a:t>
            </a:r>
            <a:endParaRPr lang="en-US" sz="788" dirty="0"/>
          </a:p>
        </p:txBody>
      </p:sp>
      <p:sp>
        <p:nvSpPr>
          <p:cNvPr id="78" name="Shape 76"/>
          <p:cNvSpPr/>
          <p:nvPr/>
        </p:nvSpPr>
        <p:spPr>
          <a:xfrm>
            <a:off x="533400" y="5274072"/>
            <a:ext cx="2436912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9" name="Text 77"/>
          <p:cNvSpPr/>
          <p:nvPr/>
        </p:nvSpPr>
        <p:spPr>
          <a:xfrm>
            <a:off x="638175" y="5051822"/>
            <a:ext cx="230356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 sync TTL</a:t>
            </a:r>
            <a:endParaRPr lang="en-US" sz="863" dirty="0"/>
          </a:p>
        </p:txBody>
      </p:sp>
      <p:sp>
        <p:nvSpPr>
          <p:cNvPr id="80" name="Shape 78"/>
          <p:cNvSpPr/>
          <p:nvPr/>
        </p:nvSpPr>
        <p:spPr>
          <a:xfrm>
            <a:off x="2970312" y="5274072"/>
            <a:ext cx="237628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1" name="Text 79"/>
          <p:cNvSpPr/>
          <p:nvPr/>
        </p:nvSpPr>
        <p:spPr>
          <a:xfrm>
            <a:off x="3075087" y="5051822"/>
            <a:ext cx="224293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 seconds</a:t>
            </a:r>
            <a:endParaRPr lang="en-US" sz="825" dirty="0"/>
          </a:p>
        </p:txBody>
      </p:sp>
      <p:sp>
        <p:nvSpPr>
          <p:cNvPr id="82" name="Shape 80"/>
          <p:cNvSpPr/>
          <p:nvPr/>
        </p:nvSpPr>
        <p:spPr>
          <a:xfrm>
            <a:off x="5346601" y="5274072"/>
            <a:ext cx="3644999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3" name="Text 81"/>
          <p:cNvSpPr/>
          <p:nvPr/>
        </p:nvSpPr>
        <p:spPr>
          <a:xfrm>
            <a:off x="5451376" y="5051822"/>
            <a:ext cx="3544799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config.py sync_ttl_seconds</a:t>
            </a:r>
            <a:endParaRPr lang="en-US" sz="788" dirty="0"/>
          </a:p>
        </p:txBody>
      </p:sp>
      <p:sp>
        <p:nvSpPr>
          <p:cNvPr id="84" name="Shape 82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86" name="Text 84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15</a:t>
            </a:r>
            <a:endParaRPr lang="en-US" sz="7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45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6570" y="920753"/>
            <a:ext cx="34060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 Transcript Pipeline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044815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dual-layer strategy: try the fast caption API first, fall back to audio download + Whisper ASR when captions are unavailable, then format the transcript with Groq.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804197"/>
            <a:ext cx="8458200" cy="3873500"/>
          </a:xfrm>
          <a:prstGeom prst="roundRect">
            <a:avLst>
              <a:gd name="adj" fmla="val 3934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2020100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5 · DUAL-LAYER EXTRACTION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286000" y="2274094"/>
            <a:ext cx="4953000" cy="530225"/>
          </a:xfrm>
          <a:prstGeom prst="roundRect">
            <a:avLst>
              <a:gd name="adj" fmla="val 19760"/>
            </a:avLst>
          </a:prstGeom>
          <a:solidFill>
            <a:srgbClr val="94A3B8">
              <a:alpha val="6000"/>
            </a:srgbClr>
          </a:solidFill>
          <a:ln w="6350">
            <a:solidFill>
              <a:srgbClr val="94A3B8">
                <a:alpha val="16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33930" y="2385222"/>
            <a:ext cx="50571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shares YouTube URL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2233930" y="2572550"/>
            <a:ext cx="50571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AA8B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extract video_id · detect type (Shanka / Pravachan)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52975" y="2851947"/>
            <a:ext cx="19050" cy="1143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5" name="Shape 13"/>
          <p:cNvSpPr/>
          <p:nvPr/>
        </p:nvSpPr>
        <p:spPr>
          <a:xfrm>
            <a:off x="4718050" y="2966247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6" name="Shape 14"/>
          <p:cNvSpPr/>
          <p:nvPr/>
        </p:nvSpPr>
        <p:spPr>
          <a:xfrm>
            <a:off x="2095500" y="3077375"/>
            <a:ext cx="2301180" cy="889000"/>
          </a:xfrm>
          <a:prstGeom prst="roundRect">
            <a:avLst>
              <a:gd name="adj" fmla="val 11786"/>
            </a:avLst>
          </a:prstGeom>
          <a:solidFill>
            <a:srgbClr val="34D399">
              <a:alpha val="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095500" y="3960025"/>
            <a:ext cx="2301180" cy="9525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95500" y="3077375"/>
            <a:ext cx="2301180" cy="1905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Shape 17"/>
          <p:cNvSpPr/>
          <p:nvPr/>
        </p:nvSpPr>
        <p:spPr>
          <a:xfrm>
            <a:off x="2095500" y="3077375"/>
            <a:ext cx="9525" cy="889000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4390330" y="3077375"/>
            <a:ext cx="9525" cy="889000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2244725" y="3210725"/>
            <a:ext cx="220300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34D39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1 · PRIMARY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2244725" y="3372650"/>
            <a:ext cx="220300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youtube-transcript-api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2244725" y="3579019"/>
            <a:ext cx="20789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.fetch(video_id, ['hi','en']) · creator &amp; auto captions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68130" y="3409159"/>
            <a:ext cx="464840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38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fallback</a:t>
            </a:r>
            <a:endParaRPr lang="en-US" sz="638" dirty="0"/>
          </a:p>
        </p:txBody>
      </p:sp>
      <p:sp>
        <p:nvSpPr>
          <p:cNvPr id="25" name="Shape 23"/>
          <p:cNvSpPr/>
          <p:nvPr/>
        </p:nvSpPr>
        <p:spPr>
          <a:xfrm>
            <a:off x="4730651" y="3545681"/>
            <a:ext cx="63500" cy="889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6" name="Shape 24"/>
          <p:cNvSpPr/>
          <p:nvPr/>
        </p:nvSpPr>
        <p:spPr>
          <a:xfrm>
            <a:off x="5128221" y="3077375"/>
            <a:ext cx="2301280" cy="889000"/>
          </a:xfrm>
          <a:prstGeom prst="roundRect">
            <a:avLst>
              <a:gd name="adj" fmla="val 11786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28221" y="3960025"/>
            <a:ext cx="2301280" cy="9525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128221" y="3077375"/>
            <a:ext cx="2301280" cy="1905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9" name="Shape 27"/>
          <p:cNvSpPr/>
          <p:nvPr/>
        </p:nvSpPr>
        <p:spPr>
          <a:xfrm>
            <a:off x="5128221" y="3077375"/>
            <a:ext cx="9525" cy="889000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423150" y="3077375"/>
            <a:ext cx="9525" cy="889000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77445" y="3210725"/>
            <a:ext cx="220311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spc="75" kern="0" dirty="0">
                <a:solidFill>
                  <a:srgbClr val="FB923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LAYER 2 · FALLBACK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5277445" y="3372650"/>
            <a:ext cx="2203113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yt-dlp + Whisper ASR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5277445" y="3579019"/>
            <a:ext cx="207903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audio download + base model · ~30–120s · needs FFmpeg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52975" y="4013997"/>
            <a:ext cx="19050" cy="1143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18050" y="4128297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6" name="Shape 34"/>
          <p:cNvSpPr/>
          <p:nvPr/>
        </p:nvSpPr>
        <p:spPr>
          <a:xfrm>
            <a:off x="2286000" y="4239425"/>
            <a:ext cx="4953000" cy="542925"/>
          </a:xfrm>
          <a:prstGeom prst="roundRect">
            <a:avLst>
              <a:gd name="adj" fmla="val 19298"/>
            </a:avLst>
          </a:prstGeom>
          <a:solidFill>
            <a:srgbClr val="A78BFA">
              <a:alpha val="9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286000" y="4776000"/>
            <a:ext cx="4953000" cy="9525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286000" y="4239425"/>
            <a:ext cx="4953000" cy="1905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9" name="Shape 37"/>
          <p:cNvSpPr/>
          <p:nvPr/>
        </p:nvSpPr>
        <p:spPr>
          <a:xfrm>
            <a:off x="2286000" y="4239425"/>
            <a:ext cx="9525" cy="542925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2650" y="4239425"/>
            <a:ext cx="9525" cy="542925"/>
          </a:xfrm>
          <a:prstGeom prst="rect">
            <a:avLst/>
          </a:prstGeom>
          <a:solidFill>
            <a:srgbClr val="A78BFA">
              <a:alpha val="3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2233930" y="4363250"/>
            <a:ext cx="505714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9E2F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Groq Formatting · temp 0.2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2233930" y="4550569"/>
            <a:ext cx="505714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BCAED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Shanka or Pravachan system prompt · raw_text[:8000]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4752975" y="4829975"/>
            <a:ext cx="19050" cy="1143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4" name="Shape 42"/>
          <p:cNvSpPr/>
          <p:nvPr/>
        </p:nvSpPr>
        <p:spPr>
          <a:xfrm>
            <a:off x="4718050" y="4944275"/>
            <a:ext cx="88900" cy="635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5" name="Shape 43"/>
          <p:cNvSpPr/>
          <p:nvPr/>
        </p:nvSpPr>
        <p:spPr>
          <a:xfrm>
            <a:off x="2286000" y="5055394"/>
            <a:ext cx="4953000" cy="368300"/>
          </a:xfrm>
          <a:prstGeom prst="roundRect">
            <a:avLst>
              <a:gd name="adj" fmla="val 28448"/>
            </a:avLst>
          </a:prstGeom>
          <a:solidFill>
            <a:srgbClr val="2DD4BF">
              <a:alpha val="8000"/>
            </a:srgbClr>
          </a:solidFill>
          <a:ln w="6350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89505" y="5166519"/>
            <a:ext cx="474599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63" dirty="0">
                <a:solidFill>
                  <a:srgbClr val="7FE9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Response to user · 1200-char preview + full raw_text stored for RAG follow-ups</a:t>
            </a:r>
            <a:endParaRPr lang="en-US" sz="863" dirty="0"/>
          </a:p>
        </p:txBody>
      </p:sp>
      <p:sp>
        <p:nvSpPr>
          <p:cNvPr id="47" name="Shape 45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16</a:t>
            </a:r>
            <a:endParaRPr lang="en-US" sz="78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45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6570" y="920753"/>
            <a:ext cx="320382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Transcript Type Detection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 keywords decide which system prompt formats the transcript. Both run at temperature 0.2 to preserve the source faithfully.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50"/>
            <a:ext cx="140017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902225"/>
            <a:ext cx="140017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705375"/>
            <a:ext cx="1266825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933575" y="1619650"/>
            <a:ext cx="2580581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933575" y="1902225"/>
            <a:ext cx="2580581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2038350" y="1705375"/>
            <a:ext cx="2448448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TRIGGER KEYWORDS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14156" y="1619650"/>
            <a:ext cx="386784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14156" y="1902225"/>
            <a:ext cx="386784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4618931" y="1705375"/>
            <a:ext cx="377433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PROMPT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382000" y="1619650"/>
            <a:ext cx="60960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8382000" y="1902225"/>
            <a:ext cx="60960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8486775" y="1705375"/>
            <a:ext cx="47625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TEMP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3400" y="2276878"/>
            <a:ext cx="14001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2" name="Text 20"/>
          <p:cNvSpPr/>
          <p:nvPr/>
        </p:nvSpPr>
        <p:spPr>
          <a:xfrm>
            <a:off x="638175" y="2016528"/>
            <a:ext cx="1266825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Shanka Samadhan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933575" y="2276878"/>
            <a:ext cx="2580581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4" name="Text 22"/>
          <p:cNvSpPr/>
          <p:nvPr/>
        </p:nvSpPr>
        <p:spPr>
          <a:xfrm>
            <a:off x="2038350" y="2016528"/>
            <a:ext cx="2448448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shanka samadhan / jigyasa samadhan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514156" y="2276878"/>
            <a:ext cx="386784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6" name="Text 24"/>
          <p:cNvSpPr/>
          <p:nvPr/>
        </p:nvSpPr>
        <p:spPr>
          <a:xfrm>
            <a:off x="4618931" y="2016528"/>
            <a:ext cx="377433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9-rule prompt: speaker labels, anti-repetition, Prakrit normalization</a:t>
            </a:r>
            <a:endParaRPr lang="en-US" sz="825" dirty="0"/>
          </a:p>
        </p:txBody>
      </p:sp>
      <p:sp>
        <p:nvSpPr>
          <p:cNvPr id="27" name="Shape 25"/>
          <p:cNvSpPr/>
          <p:nvPr/>
        </p:nvSpPr>
        <p:spPr>
          <a:xfrm>
            <a:off x="8382000" y="2276878"/>
            <a:ext cx="6096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8" name="Text 26"/>
          <p:cNvSpPr/>
          <p:nvPr/>
        </p:nvSpPr>
        <p:spPr>
          <a:xfrm>
            <a:off x="8486775" y="2016528"/>
            <a:ext cx="476250" cy="203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533400" y="2632478"/>
            <a:ext cx="140017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638175" y="2378478"/>
            <a:ext cx="12668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Pravachan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933575" y="2632478"/>
            <a:ext cx="2580581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2" name="Text 30"/>
          <p:cNvSpPr/>
          <p:nvPr/>
        </p:nvSpPr>
        <p:spPr>
          <a:xfrm>
            <a:off x="2038350" y="2378478"/>
            <a:ext cx="2448448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(default — no shanka keyword)</a:t>
            </a:r>
            <a:endParaRPr lang="en-US" sz="788" dirty="0"/>
          </a:p>
        </p:txBody>
      </p:sp>
      <p:sp>
        <p:nvSpPr>
          <p:cNvPr id="33" name="Shape 31"/>
          <p:cNvSpPr/>
          <p:nvPr/>
        </p:nvSpPr>
        <p:spPr>
          <a:xfrm>
            <a:off x="4514156" y="2632478"/>
            <a:ext cx="386784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4" name="Text 32"/>
          <p:cNvSpPr/>
          <p:nvPr/>
        </p:nvSpPr>
        <p:spPr>
          <a:xfrm>
            <a:off x="4618931" y="2378478"/>
            <a:ext cx="377433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Verbatim Hindi, correct Jain Prakrit terms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8382000" y="2632478"/>
            <a:ext cx="60960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6" name="Text 34"/>
          <p:cNvSpPr/>
          <p:nvPr/>
        </p:nvSpPr>
        <p:spPr>
          <a:xfrm>
            <a:off x="8486775" y="2378478"/>
            <a:ext cx="476250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0.2</a:t>
            </a:r>
            <a:endParaRPr lang="en-US" sz="975" dirty="0"/>
          </a:p>
        </p:txBody>
      </p:sp>
      <p:sp>
        <p:nvSpPr>
          <p:cNvPr id="37" name="Shape 35"/>
          <p:cNvSpPr/>
          <p:nvPr/>
        </p:nvSpPr>
        <p:spPr>
          <a:xfrm>
            <a:off x="533400" y="2832497"/>
            <a:ext cx="8458200" cy="834827"/>
          </a:xfrm>
          <a:prstGeom prst="roundRect">
            <a:avLst>
              <a:gd name="adj" fmla="val 11410"/>
            </a:avLst>
          </a:prstGeom>
          <a:solidFill>
            <a:srgbClr val="F8FAFC"/>
          </a:solidFill>
          <a:ln/>
        </p:spPr>
      </p:sp>
      <p:sp>
        <p:nvSpPr>
          <p:cNvPr id="38" name="Shape 36"/>
          <p:cNvSpPr/>
          <p:nvPr/>
        </p:nvSpPr>
        <p:spPr>
          <a:xfrm>
            <a:off x="533400" y="366097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" y="2832497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Shape 38"/>
          <p:cNvSpPr/>
          <p:nvPr/>
        </p:nvSpPr>
        <p:spPr>
          <a:xfrm>
            <a:off x="533400" y="2832497"/>
            <a:ext cx="25400" cy="834827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1" name="Shape 39"/>
          <p:cNvSpPr/>
          <p:nvPr/>
        </p:nvSpPr>
        <p:spPr>
          <a:xfrm>
            <a:off x="8985250" y="2832497"/>
            <a:ext cx="9525" cy="834827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2" name="Text 40"/>
          <p:cNvSpPr/>
          <p:nvPr/>
        </p:nvSpPr>
        <p:spPr>
          <a:xfrm>
            <a:off x="730250" y="2972200"/>
            <a:ext cx="88919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Formatting Layer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730250" y="3188103"/>
            <a:ext cx="8326057" cy="3776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After extraction,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raw_text[:8000]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sent to Groq at temperature 0.2 with the type-specific prompt. The full raw text is always kept in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context['youtube_transcript'] </a:t>
            </a:r>
            <a:pPr algn="l" indent="0" marL="0">
              <a:lnSpc>
                <a:spcPct val="155000"/>
              </a:lnSpc>
              <a:buNone/>
            </a:pPr>
            <a:r>
              <a:rPr lang="en-US" sz="863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follow-up RAG queries; on LLM failure the raw text is returned unchanged.</a:t>
            </a:r>
            <a:endParaRPr lang="en-US" sz="863" dirty="0"/>
          </a:p>
        </p:txBody>
      </p:sp>
      <p:sp>
        <p:nvSpPr>
          <p:cNvPr id="44" name="Shape 42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5" name="Text 43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17</a:t>
            </a:r>
            <a:endParaRPr lang="en-US" sz="788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338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5359" y="920753"/>
            <a:ext cx="411361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Schema — Aagam Mitra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AI service's SQLite/PostgreSQL tables. Documents cascade into chunks; a sync-state row (TTL 300s) tracks freshness per temple.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50"/>
            <a:ext cx="8458200" cy="4387850"/>
          </a:xfrm>
          <a:prstGeom prst="roundRect">
            <a:avLst>
              <a:gd name="adj" fmla="val 3473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1835553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6 · ENTITY TABLES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68350" y="2108597"/>
            <a:ext cx="3908425" cy="1527175"/>
          </a:xfrm>
          <a:prstGeom prst="roundRect">
            <a:avLst>
              <a:gd name="adj" fmla="val 6861"/>
            </a:avLst>
          </a:prstGeom>
          <a:solidFill>
            <a:srgbClr val="94A3B8">
              <a:alpha val="5000"/>
            </a:srgbClr>
          </a:solidFill>
          <a:ln w="635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4700" y="2114950"/>
            <a:ext cx="3895725" cy="323850"/>
          </a:xfrm>
          <a:prstGeom prst="rect">
            <a:avLst/>
          </a:prstGeom>
          <a:solidFill>
            <a:srgbClr val="E87722">
              <a:alpha val="14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74700" y="2432450"/>
            <a:ext cx="3895725" cy="9525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08050" y="2200675"/>
            <a:ext cx="374589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chat_messages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8050" y="2534050"/>
            <a:ext cx="1962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</a:t>
            </a:r>
            <a:endParaRPr lang="en-US" sz="788" dirty="0"/>
          </a:p>
        </p:txBody>
      </p:sp>
      <p:sp>
        <p:nvSpPr>
          <p:cNvPr id="16" name="Text 14"/>
          <p:cNvSpPr/>
          <p:nvPr/>
        </p:nvSpPr>
        <p:spPr>
          <a:xfrm>
            <a:off x="4116983" y="2534050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UUID PK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908050" y="2708672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user_id</a:t>
            </a:r>
            <a:endParaRPr lang="en-US" sz="788" dirty="0"/>
          </a:p>
        </p:txBody>
      </p:sp>
      <p:sp>
        <p:nvSpPr>
          <p:cNvPr id="18" name="Text 16"/>
          <p:cNvSpPr/>
          <p:nvPr/>
        </p:nvSpPr>
        <p:spPr>
          <a:xfrm>
            <a:off x="4356993" y="2708672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idx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908050" y="2883303"/>
            <a:ext cx="61634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temple_id</a:t>
            </a:r>
            <a:endParaRPr lang="en-US" sz="788" dirty="0"/>
          </a:p>
        </p:txBody>
      </p:sp>
      <p:sp>
        <p:nvSpPr>
          <p:cNvPr id="20" name="Text 18"/>
          <p:cNvSpPr/>
          <p:nvPr/>
        </p:nvSpPr>
        <p:spPr>
          <a:xfrm>
            <a:off x="4356993" y="2883303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idx</a:t>
            </a:r>
            <a:endParaRPr lang="en-US" sz="788" dirty="0"/>
          </a:p>
        </p:txBody>
      </p:sp>
      <p:sp>
        <p:nvSpPr>
          <p:cNvPr id="21" name="Text 19"/>
          <p:cNvSpPr/>
          <p:nvPr/>
        </p:nvSpPr>
        <p:spPr>
          <a:xfrm>
            <a:off x="908050" y="3057925"/>
            <a:ext cx="3163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role</a:t>
            </a:r>
            <a:endParaRPr lang="en-US" sz="788" dirty="0"/>
          </a:p>
        </p:txBody>
      </p:sp>
      <p:sp>
        <p:nvSpPr>
          <p:cNvPr id="22" name="Text 20"/>
          <p:cNvSpPr/>
          <p:nvPr/>
        </p:nvSpPr>
        <p:spPr>
          <a:xfrm>
            <a:off x="3696891" y="3057925"/>
            <a:ext cx="9163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user|assistant</a:t>
            </a:r>
            <a:endParaRPr lang="en-US" sz="788" dirty="0"/>
          </a:p>
        </p:txBody>
      </p:sp>
      <p:sp>
        <p:nvSpPr>
          <p:cNvPr id="23" name="Text 21"/>
          <p:cNvSpPr/>
          <p:nvPr/>
        </p:nvSpPr>
        <p:spPr>
          <a:xfrm>
            <a:off x="908050" y="3232547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296966" y="3232547"/>
            <a:ext cx="3163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</a:t>
            </a:r>
            <a:endParaRPr lang="en-US" sz="788" dirty="0"/>
          </a:p>
        </p:txBody>
      </p:sp>
      <p:sp>
        <p:nvSpPr>
          <p:cNvPr id="25" name="Text 23"/>
          <p:cNvSpPr/>
          <p:nvPr/>
        </p:nvSpPr>
        <p:spPr>
          <a:xfrm>
            <a:off x="908050" y="3407178"/>
            <a:ext cx="6762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created_at</a:t>
            </a:r>
            <a:endParaRPr lang="en-US" sz="788" dirty="0"/>
          </a:p>
        </p:txBody>
      </p:sp>
      <p:sp>
        <p:nvSpPr>
          <p:cNvPr id="26" name="Text 24"/>
          <p:cNvSpPr/>
          <p:nvPr/>
        </p:nvSpPr>
        <p:spPr>
          <a:xfrm>
            <a:off x="4356993" y="3407178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UTC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4848225" y="2108597"/>
            <a:ext cx="3908425" cy="1527175"/>
          </a:xfrm>
          <a:prstGeom prst="roundRect">
            <a:avLst>
              <a:gd name="adj" fmla="val 6861"/>
            </a:avLst>
          </a:prstGeom>
          <a:solidFill>
            <a:srgbClr val="94A3B8">
              <a:alpha val="5000"/>
            </a:srgbClr>
          </a:solidFill>
          <a:ln w="635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54575" y="2114950"/>
            <a:ext cx="3895725" cy="323850"/>
          </a:xfrm>
          <a:prstGeom prst="rect">
            <a:avLst/>
          </a:prstGeom>
          <a:solidFill>
            <a:srgbClr val="E87722">
              <a:alpha val="14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854575" y="2432450"/>
            <a:ext cx="3895725" cy="9525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4987925" y="2200675"/>
            <a:ext cx="374589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temple_knowledge_documents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87925" y="2534050"/>
            <a:ext cx="73630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document_id</a:t>
            </a:r>
            <a:endParaRPr lang="en-US" sz="788" dirty="0"/>
          </a:p>
        </p:txBody>
      </p:sp>
      <p:sp>
        <p:nvSpPr>
          <p:cNvPr id="32" name="Text 30"/>
          <p:cNvSpPr/>
          <p:nvPr/>
        </p:nvSpPr>
        <p:spPr>
          <a:xfrm>
            <a:off x="8496895" y="2534050"/>
            <a:ext cx="1962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PK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4987925" y="2708672"/>
            <a:ext cx="61634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temple_id</a:t>
            </a:r>
            <a:endParaRPr lang="en-US" sz="788" dirty="0"/>
          </a:p>
        </p:txBody>
      </p:sp>
      <p:sp>
        <p:nvSpPr>
          <p:cNvPr id="34" name="Text 32"/>
          <p:cNvSpPr/>
          <p:nvPr/>
        </p:nvSpPr>
        <p:spPr>
          <a:xfrm>
            <a:off x="4987925" y="2883303"/>
            <a:ext cx="73630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source_type</a:t>
            </a:r>
            <a:endParaRPr lang="en-US" sz="788" dirty="0"/>
          </a:p>
        </p:txBody>
      </p:sp>
      <p:sp>
        <p:nvSpPr>
          <p:cNvPr id="35" name="Text 33"/>
          <p:cNvSpPr/>
          <p:nvPr/>
        </p:nvSpPr>
        <p:spPr>
          <a:xfrm>
            <a:off x="4987925" y="3057925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8376841" y="3057925"/>
            <a:ext cx="3163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</a:t>
            </a:r>
            <a:endParaRPr lang="en-US" sz="788" dirty="0"/>
          </a:p>
        </p:txBody>
      </p:sp>
      <p:sp>
        <p:nvSpPr>
          <p:cNvPr id="37" name="Text 35"/>
          <p:cNvSpPr/>
          <p:nvPr/>
        </p:nvSpPr>
        <p:spPr>
          <a:xfrm>
            <a:off x="4987925" y="3232547"/>
            <a:ext cx="103634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content_checksum</a:t>
            </a:r>
            <a:endParaRPr lang="en-US" sz="788" dirty="0"/>
          </a:p>
        </p:txBody>
      </p:sp>
      <p:sp>
        <p:nvSpPr>
          <p:cNvPr id="38" name="Text 36"/>
          <p:cNvSpPr/>
          <p:nvPr/>
        </p:nvSpPr>
        <p:spPr>
          <a:xfrm>
            <a:off x="8256886" y="3232547"/>
            <a:ext cx="43626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SHA256</a:t>
            </a:r>
            <a:endParaRPr lang="en-US" sz="788" dirty="0"/>
          </a:p>
        </p:txBody>
      </p:sp>
      <p:sp>
        <p:nvSpPr>
          <p:cNvPr id="39" name="Text 37"/>
          <p:cNvSpPr/>
          <p:nvPr/>
        </p:nvSpPr>
        <p:spPr>
          <a:xfrm>
            <a:off x="4987925" y="3407178"/>
            <a:ext cx="55125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chunks</a:t>
            </a:r>
            <a:endParaRPr lang="en-US" sz="788" dirty="0"/>
          </a:p>
        </p:txBody>
      </p:sp>
      <p:sp>
        <p:nvSpPr>
          <p:cNvPr id="40" name="Text 38"/>
          <p:cNvSpPr/>
          <p:nvPr/>
        </p:nvSpPr>
        <p:spPr>
          <a:xfrm>
            <a:off x="8196858" y="3407178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cascade</a:t>
            </a:r>
            <a:endParaRPr lang="en-US" sz="788" dirty="0"/>
          </a:p>
        </p:txBody>
      </p:sp>
      <p:sp>
        <p:nvSpPr>
          <p:cNvPr id="41" name="Shape 39"/>
          <p:cNvSpPr/>
          <p:nvPr/>
        </p:nvSpPr>
        <p:spPr>
          <a:xfrm>
            <a:off x="768350" y="3807228"/>
            <a:ext cx="3908425" cy="1527175"/>
          </a:xfrm>
          <a:prstGeom prst="roundRect">
            <a:avLst>
              <a:gd name="adj" fmla="val 6861"/>
            </a:avLst>
          </a:prstGeom>
          <a:solidFill>
            <a:srgbClr val="94A3B8">
              <a:alpha val="5000"/>
            </a:srgbClr>
          </a:solidFill>
          <a:ln w="635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4700" y="3813572"/>
            <a:ext cx="3895725" cy="323850"/>
          </a:xfrm>
          <a:prstGeom prst="rect">
            <a:avLst/>
          </a:prstGeom>
          <a:solidFill>
            <a:srgbClr val="E87722">
              <a:alpha val="14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74700" y="4131072"/>
            <a:ext cx="3895725" cy="9525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908050" y="3899297"/>
            <a:ext cx="374589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temple_knowledge_chunks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908050" y="4232672"/>
            <a:ext cx="55632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chunk_id</a:t>
            </a:r>
            <a:endParaRPr lang="en-US" sz="788" dirty="0"/>
          </a:p>
        </p:txBody>
      </p:sp>
      <p:sp>
        <p:nvSpPr>
          <p:cNvPr id="46" name="Text 44"/>
          <p:cNvSpPr/>
          <p:nvPr/>
        </p:nvSpPr>
        <p:spPr>
          <a:xfrm>
            <a:off x="4417021" y="4232672"/>
            <a:ext cx="1962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PK</a:t>
            </a:r>
            <a:endParaRPr lang="en-US" sz="788" dirty="0"/>
          </a:p>
        </p:txBody>
      </p:sp>
      <p:sp>
        <p:nvSpPr>
          <p:cNvPr id="47" name="Text 45"/>
          <p:cNvSpPr/>
          <p:nvPr/>
        </p:nvSpPr>
        <p:spPr>
          <a:xfrm>
            <a:off x="908050" y="4407303"/>
            <a:ext cx="73630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document_id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4417021" y="4407303"/>
            <a:ext cx="1962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FK</a:t>
            </a:r>
            <a:endParaRPr lang="en-US" sz="788" dirty="0"/>
          </a:p>
        </p:txBody>
      </p:sp>
      <p:sp>
        <p:nvSpPr>
          <p:cNvPr id="49" name="Text 47"/>
          <p:cNvSpPr/>
          <p:nvPr/>
        </p:nvSpPr>
        <p:spPr>
          <a:xfrm>
            <a:off x="908050" y="4581925"/>
            <a:ext cx="73630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chunk_index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4356993" y="4581925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908050" y="4756547"/>
            <a:ext cx="4962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content</a:t>
            </a:r>
            <a:endParaRPr lang="en-US" sz="788" dirty="0"/>
          </a:p>
        </p:txBody>
      </p:sp>
      <p:sp>
        <p:nvSpPr>
          <p:cNvPr id="52" name="Text 50"/>
          <p:cNvSpPr/>
          <p:nvPr/>
        </p:nvSpPr>
        <p:spPr>
          <a:xfrm>
            <a:off x="3937000" y="4756547"/>
            <a:ext cx="6762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Text (800)</a:t>
            </a:r>
            <a:endParaRPr lang="en-US" sz="788" dirty="0"/>
          </a:p>
        </p:txBody>
      </p:sp>
      <p:sp>
        <p:nvSpPr>
          <p:cNvPr id="53" name="Text 51"/>
          <p:cNvSpPr/>
          <p:nvPr/>
        </p:nvSpPr>
        <p:spPr>
          <a:xfrm>
            <a:off x="908050" y="4931178"/>
            <a:ext cx="9163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embedding_json</a:t>
            </a:r>
            <a:endParaRPr lang="en-US" sz="788" dirty="0"/>
          </a:p>
        </p:txBody>
      </p:sp>
      <p:sp>
        <p:nvSpPr>
          <p:cNvPr id="54" name="Text 52"/>
          <p:cNvSpPr/>
          <p:nvPr/>
        </p:nvSpPr>
        <p:spPr>
          <a:xfrm>
            <a:off x="3756918" y="4931178"/>
            <a:ext cx="85635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[2048 floats]</a:t>
            </a:r>
            <a:endParaRPr lang="en-US" sz="788" dirty="0"/>
          </a:p>
        </p:txBody>
      </p:sp>
      <p:sp>
        <p:nvSpPr>
          <p:cNvPr id="55" name="Text 53"/>
          <p:cNvSpPr/>
          <p:nvPr/>
        </p:nvSpPr>
        <p:spPr>
          <a:xfrm>
            <a:off x="908050" y="5105800"/>
            <a:ext cx="6762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created_at</a:t>
            </a:r>
            <a:endParaRPr lang="en-US" sz="788" dirty="0"/>
          </a:p>
        </p:txBody>
      </p:sp>
      <p:sp>
        <p:nvSpPr>
          <p:cNvPr id="56" name="Text 54"/>
          <p:cNvSpPr/>
          <p:nvPr/>
        </p:nvSpPr>
        <p:spPr>
          <a:xfrm>
            <a:off x="4356993" y="5105800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UTC</a:t>
            </a:r>
            <a:endParaRPr lang="en-US" sz="788" dirty="0"/>
          </a:p>
        </p:txBody>
      </p:sp>
      <p:sp>
        <p:nvSpPr>
          <p:cNvPr id="57" name="Shape 55"/>
          <p:cNvSpPr/>
          <p:nvPr/>
        </p:nvSpPr>
        <p:spPr>
          <a:xfrm>
            <a:off x="4848225" y="3807228"/>
            <a:ext cx="3908425" cy="1527175"/>
          </a:xfrm>
          <a:prstGeom prst="roundRect">
            <a:avLst>
              <a:gd name="adj" fmla="val 6861"/>
            </a:avLst>
          </a:prstGeom>
          <a:solidFill>
            <a:srgbClr val="94A3B8">
              <a:alpha val="5000"/>
            </a:srgbClr>
          </a:solidFill>
          <a:ln w="6350">
            <a:solidFill>
              <a:srgbClr val="94A3B8">
                <a:alpha val="18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854575" y="3813572"/>
            <a:ext cx="3895725" cy="323850"/>
          </a:xfrm>
          <a:prstGeom prst="rect">
            <a:avLst/>
          </a:prstGeom>
          <a:solidFill>
            <a:srgbClr val="E87722">
              <a:alpha val="14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4854575" y="4131072"/>
            <a:ext cx="3895725" cy="9525"/>
          </a:xfrm>
          <a:prstGeom prst="rect">
            <a:avLst/>
          </a:prstGeom>
          <a:solidFill>
            <a:srgbClr val="E87722">
              <a:alpha val="3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4987925" y="3899297"/>
            <a:ext cx="374589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BBF8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temple_knowledge_sync_state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87925" y="4232672"/>
            <a:ext cx="61634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temple_id</a:t>
            </a:r>
            <a:endParaRPr lang="en-US" sz="788" dirty="0"/>
          </a:p>
        </p:txBody>
      </p:sp>
      <p:sp>
        <p:nvSpPr>
          <p:cNvPr id="62" name="Text 60"/>
          <p:cNvSpPr/>
          <p:nvPr/>
        </p:nvSpPr>
        <p:spPr>
          <a:xfrm>
            <a:off x="8496895" y="4232672"/>
            <a:ext cx="1962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PK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4987925" y="4407303"/>
            <a:ext cx="61634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synced_at</a:t>
            </a:r>
            <a:endParaRPr lang="en-US" sz="788" dirty="0"/>
          </a:p>
        </p:txBody>
      </p:sp>
      <p:sp>
        <p:nvSpPr>
          <p:cNvPr id="64" name="Text 62"/>
          <p:cNvSpPr/>
          <p:nvPr/>
        </p:nvSpPr>
        <p:spPr>
          <a:xfrm>
            <a:off x="8436868" y="4407303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UTC</a:t>
            </a:r>
            <a:endParaRPr lang="en-US" sz="788" dirty="0"/>
          </a:p>
        </p:txBody>
      </p:sp>
      <p:sp>
        <p:nvSpPr>
          <p:cNvPr id="65" name="Text 63"/>
          <p:cNvSpPr/>
          <p:nvPr/>
        </p:nvSpPr>
        <p:spPr>
          <a:xfrm>
            <a:off x="4987925" y="4581925"/>
            <a:ext cx="856357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last_checksum</a:t>
            </a:r>
            <a:endParaRPr lang="en-US" sz="788" dirty="0"/>
          </a:p>
        </p:txBody>
      </p:sp>
      <p:sp>
        <p:nvSpPr>
          <p:cNvPr id="66" name="Text 64"/>
          <p:cNvSpPr/>
          <p:nvPr/>
        </p:nvSpPr>
        <p:spPr>
          <a:xfrm>
            <a:off x="4987925" y="4756547"/>
            <a:ext cx="25628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2E8F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ttl</a:t>
            </a:r>
            <a:endParaRPr lang="en-US" sz="788" dirty="0"/>
          </a:p>
        </p:txBody>
      </p:sp>
      <p:sp>
        <p:nvSpPr>
          <p:cNvPr id="67" name="Text 65"/>
          <p:cNvSpPr/>
          <p:nvPr/>
        </p:nvSpPr>
        <p:spPr>
          <a:xfrm>
            <a:off x="8376841" y="4756547"/>
            <a:ext cx="3163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7E8AA0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768350" y="5486800"/>
            <a:ext cx="7988300" cy="952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9" name="Text 67"/>
          <p:cNvSpPr/>
          <p:nvPr/>
        </p:nvSpPr>
        <p:spPr>
          <a:xfrm>
            <a:off x="768350" y="5626503"/>
            <a:ext cx="209921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documents </a:t>
            </a:r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 </a:t>
            </a:r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chunks </a:t>
            </a:r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cascade on delete</a:t>
            </a:r>
            <a:endParaRPr lang="en-US" sz="788" dirty="0"/>
          </a:p>
        </p:txBody>
      </p:sp>
      <p:sp>
        <p:nvSpPr>
          <p:cNvPr id="70" name="Text 68"/>
          <p:cNvSpPr/>
          <p:nvPr/>
        </p:nvSpPr>
        <p:spPr>
          <a:xfrm>
            <a:off x="2886274" y="5626503"/>
            <a:ext cx="173839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sync_state </a:t>
            </a:r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TTL 300s per temple</a:t>
            </a:r>
            <a:endParaRPr lang="en-US" sz="788" dirty="0"/>
          </a:p>
        </p:txBody>
      </p:sp>
      <p:sp>
        <p:nvSpPr>
          <p:cNvPr id="71" name="Text 69"/>
          <p:cNvSpPr/>
          <p:nvPr/>
        </p:nvSpPr>
        <p:spPr>
          <a:xfrm>
            <a:off x="4676180" y="5626503"/>
            <a:ext cx="321375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Pinecone holds the 2048-dim vectors; SQL holds text + metadata</a:t>
            </a:r>
            <a:endParaRPr lang="en-US" sz="788" dirty="0"/>
          </a:p>
        </p:txBody>
      </p:sp>
      <p:sp>
        <p:nvSpPr>
          <p:cNvPr id="72" name="Shape 70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1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74" name="Text 72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18</a:t>
            </a:r>
            <a:endParaRPr lang="en-US" sz="78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338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5359" y="920753"/>
            <a:ext cx="36586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Storage Layout — All Services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service owns one database file under </a:t>
            </a:r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docker-data/</a:t>
            </a:r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Pinecone is the only shared cloud store.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50"/>
            <a:ext cx="1238250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902225"/>
            <a:ext cx="123825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705375"/>
            <a:ext cx="110490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71650" y="1619650"/>
            <a:ext cx="281493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1771650" y="1902225"/>
            <a:ext cx="281493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1876425" y="1705375"/>
            <a:ext cx="2689833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DB FILE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586585" y="1619650"/>
            <a:ext cx="4405015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86585" y="1902225"/>
            <a:ext cx="4405015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4691360" y="1705375"/>
            <a:ext cx="4327615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TABLES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3400" y="2249097"/>
            <a:ext cx="1238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38175" y="2007003"/>
            <a:ext cx="1104900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771650" y="2249097"/>
            <a:ext cx="281493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1876425" y="2007003"/>
            <a:ext cx="2689833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docker-data/identity/temple_identity.db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586585" y="2249097"/>
            <a:ext cx="440501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3" name="Text 21"/>
          <p:cNvSpPr/>
          <p:nvPr/>
        </p:nvSpPr>
        <p:spPr>
          <a:xfrm>
            <a:off x="4691360" y="2007003"/>
            <a:ext cx="4327615" cy="1944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users · refresh_tokens · user_push_tokens</a:t>
            </a:r>
            <a:endParaRPr lang="en-US" sz="788" dirty="0"/>
          </a:p>
        </p:txBody>
      </p:sp>
      <p:sp>
        <p:nvSpPr>
          <p:cNvPr id="24" name="Shape 22"/>
          <p:cNvSpPr/>
          <p:nvPr/>
        </p:nvSpPr>
        <p:spPr>
          <a:xfrm>
            <a:off x="533400" y="2668194"/>
            <a:ext cx="1238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" y="2341169"/>
            <a:ext cx="110490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Registration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771650" y="2668194"/>
            <a:ext cx="281493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7" name="Text 25"/>
          <p:cNvSpPr/>
          <p:nvPr/>
        </p:nvSpPr>
        <p:spPr>
          <a:xfrm>
            <a:off x="1876425" y="2341169"/>
            <a:ext cx="2689833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docker-data/registration/temple_registration.db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86585" y="2668194"/>
            <a:ext cx="440501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4691360" y="2341169"/>
            <a:ext cx="4327615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memberships · bookings · donations · notifications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533400" y="3146031"/>
            <a:ext cx="1238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" y="2760269"/>
            <a:ext cx="1104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771650" y="3146031"/>
            <a:ext cx="281493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3" name="Text 31"/>
          <p:cNvSpPr/>
          <p:nvPr/>
        </p:nvSpPr>
        <p:spPr>
          <a:xfrm>
            <a:off x="1876425" y="2760269"/>
            <a:ext cx="268983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docker-data/admin/temple_admin.db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86585" y="3146031"/>
            <a:ext cx="440501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5" name="Text 33"/>
          <p:cNvSpPr/>
          <p:nvPr/>
        </p:nvSpPr>
        <p:spPr>
          <a:xfrm>
            <a:off x="4691360" y="2760269"/>
            <a:ext cx="432761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temples · shantidhara_slots · news_feed · events · finance · wall_of_fame</a:t>
            </a:r>
            <a:endParaRPr lang="en-US" sz="788" dirty="0"/>
          </a:p>
        </p:txBody>
      </p:sp>
      <p:sp>
        <p:nvSpPr>
          <p:cNvPr id="36" name="Shape 34"/>
          <p:cNvSpPr/>
          <p:nvPr/>
        </p:nvSpPr>
        <p:spPr>
          <a:xfrm>
            <a:off x="533400" y="3623872"/>
            <a:ext cx="1238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" y="3238109"/>
            <a:ext cx="11049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Aagam Mitra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71650" y="3623872"/>
            <a:ext cx="281493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9" name="Text 37"/>
          <p:cNvSpPr/>
          <p:nvPr/>
        </p:nvSpPr>
        <p:spPr>
          <a:xfrm>
            <a:off x="1876425" y="3238109"/>
            <a:ext cx="268983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docker-data/aagam-mitra/temple_ai.db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586585" y="3623872"/>
            <a:ext cx="440501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1" name="Text 39"/>
          <p:cNvSpPr/>
          <p:nvPr/>
        </p:nvSpPr>
        <p:spPr>
          <a:xfrm>
            <a:off x="4691360" y="3238109"/>
            <a:ext cx="4327615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chat_messages · temple_knowledge_documents · temple_knowledge_chunks · sync_state</a:t>
            </a:r>
            <a:endParaRPr lang="en-US" sz="788" dirty="0"/>
          </a:p>
        </p:txBody>
      </p:sp>
      <p:sp>
        <p:nvSpPr>
          <p:cNvPr id="42" name="Shape 40"/>
          <p:cNvSpPr/>
          <p:nvPr/>
        </p:nvSpPr>
        <p:spPr>
          <a:xfrm>
            <a:off x="533400" y="3951684"/>
            <a:ext cx="12382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" y="3715941"/>
            <a:ext cx="1104900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Pinecone (cloud)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71650" y="3951684"/>
            <a:ext cx="281493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1876425" y="3715941"/>
            <a:ext cx="2689833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index: jain-texts (2048-dim)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4586585" y="3951684"/>
            <a:ext cx="4405015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7" name="Text 45"/>
          <p:cNvSpPr/>
          <p:nvPr/>
        </p:nvSpPr>
        <p:spPr>
          <a:xfrm>
            <a:off x="4691360" y="3715941"/>
            <a:ext cx="4327615" cy="1881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788" dirty="0">
                <a:solidFill>
                  <a:srgbClr val="475569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Jain scripture chunks — all tenants share one index</a:t>
            </a:r>
            <a:endParaRPr lang="en-US" sz="788" dirty="0"/>
          </a:p>
        </p:txBody>
      </p:sp>
      <p:sp>
        <p:nvSpPr>
          <p:cNvPr id="48" name="Shape 46"/>
          <p:cNvSpPr/>
          <p:nvPr/>
        </p:nvSpPr>
        <p:spPr>
          <a:xfrm>
            <a:off x="533400" y="12960353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50" name="Text 48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19</a:t>
            </a:r>
            <a:endParaRPr lang="en-US" sz="788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4268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4189" y="920753"/>
            <a:ext cx="267099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Architecture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03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sequential gates protect every AI request — only input that clears all four reaches the model, and every interaction is logged with PII masked.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00600"/>
            <a:ext cx="8458200" cy="4171950"/>
          </a:xfrm>
          <a:prstGeom prst="roundRect">
            <a:avLst>
              <a:gd name="adj" fmla="val 3653"/>
            </a:avLst>
          </a:prstGeom>
          <a:gradFill rotWithShape="1">
            <a:gsLst>
              <a:gs pos="0">
                <a:srgbClr val="18243F">
                  <a:alpha val="100000"/>
                </a:srgbClr>
              </a:gs>
              <a:gs pos="55000">
                <a:srgbClr val="0F172A">
                  <a:alpha val="100000"/>
                </a:srgbClr>
              </a:gs>
              <a:gs pos="100000">
                <a:srgbClr val="0B1120">
                  <a:alpha val="100000"/>
                </a:srgbClr>
              </a:gs>
            </a:gsLst>
            <a:path path="circle">
              <a:fillToRect l="50000" t="0" r="50000" b="100000"/>
            </a:path>
          </a:gradFill>
          <a:ln w="635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350" y="1816503"/>
            <a:ext cx="8787130" cy="158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spc="113" kern="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FIGURE 7 · 4-LAYER SECURITY GATE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14500" y="2070497"/>
            <a:ext cx="6096000" cy="542925"/>
          </a:xfrm>
          <a:prstGeom prst="roundRect">
            <a:avLst>
              <a:gd name="adj" fmla="val 19298"/>
            </a:avLst>
          </a:prstGeom>
          <a:solidFill>
            <a:srgbClr val="F87171">
              <a:alpha val="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714500" y="2607072"/>
            <a:ext cx="6096000" cy="9525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714500" y="2070497"/>
            <a:ext cx="6096000" cy="9525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14500" y="2070497"/>
            <a:ext cx="25400" cy="542925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5" name="Shape 13"/>
          <p:cNvSpPr/>
          <p:nvPr/>
        </p:nvSpPr>
        <p:spPr>
          <a:xfrm>
            <a:off x="7804150" y="2070497"/>
            <a:ext cx="9525" cy="542925"/>
          </a:xfrm>
          <a:prstGeom prst="rect">
            <a:avLst/>
          </a:prstGeom>
          <a:solidFill>
            <a:srgbClr val="F87171">
              <a:alpha val="2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911350" y="2275284"/>
            <a:ext cx="6286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871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1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2597150" y="2181625"/>
            <a:ext cx="55391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Guardrails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2597150" y="2368953"/>
            <a:ext cx="55391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 hard-block regex: prompt injection, jailbreak, system-prompt leak, code exec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752975" y="2651522"/>
            <a:ext cx="19050" cy="10477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Shape 18"/>
          <p:cNvSpPr/>
          <p:nvPr/>
        </p:nvSpPr>
        <p:spPr>
          <a:xfrm>
            <a:off x="4718050" y="2756297"/>
            <a:ext cx="889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1" name="Shape 19"/>
          <p:cNvSpPr/>
          <p:nvPr/>
        </p:nvSpPr>
        <p:spPr>
          <a:xfrm>
            <a:off x="1714500" y="2851547"/>
            <a:ext cx="6096000" cy="542925"/>
          </a:xfrm>
          <a:prstGeom prst="roundRect">
            <a:avLst>
              <a:gd name="adj" fmla="val 19298"/>
            </a:avLst>
          </a:prstGeom>
          <a:solidFill>
            <a:srgbClr val="FB923C">
              <a:alpha val="7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3388122"/>
            <a:ext cx="6096000" cy="9525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2851547"/>
            <a:ext cx="6096000" cy="9525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2851547"/>
            <a:ext cx="25400" cy="542925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5" name="Shape 23"/>
          <p:cNvSpPr/>
          <p:nvPr/>
        </p:nvSpPr>
        <p:spPr>
          <a:xfrm>
            <a:off x="7804150" y="2851547"/>
            <a:ext cx="9525" cy="542925"/>
          </a:xfrm>
          <a:prstGeom prst="rect">
            <a:avLst/>
          </a:prstGeom>
          <a:solidFill>
            <a:srgbClr val="FB923C">
              <a:alpha val="2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911350" y="3056334"/>
            <a:ext cx="6286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B923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2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597150" y="2962675"/>
            <a:ext cx="55391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RBAC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597150" y="3150003"/>
            <a:ext cx="55391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admin-only patterns blocked for 'devotee' role: finance report, member list…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752975" y="3432572"/>
            <a:ext cx="19050" cy="10477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0" name="Shape 28"/>
          <p:cNvSpPr/>
          <p:nvPr/>
        </p:nvSpPr>
        <p:spPr>
          <a:xfrm>
            <a:off x="4718050" y="3537347"/>
            <a:ext cx="889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1" name="Shape 29"/>
          <p:cNvSpPr/>
          <p:nvPr/>
        </p:nvSpPr>
        <p:spPr>
          <a:xfrm>
            <a:off x="1714500" y="3632597"/>
            <a:ext cx="6096000" cy="542925"/>
          </a:xfrm>
          <a:prstGeom prst="roundRect">
            <a:avLst>
              <a:gd name="adj" fmla="val 19298"/>
            </a:avLst>
          </a:prstGeom>
          <a:solidFill>
            <a:srgbClr val="FBBF24">
              <a:alpha val="7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4169172"/>
            <a:ext cx="6096000" cy="9525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714500" y="3632597"/>
            <a:ext cx="6096000" cy="9525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714500" y="3632597"/>
            <a:ext cx="25400" cy="54292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5" name="Shape 33"/>
          <p:cNvSpPr/>
          <p:nvPr/>
        </p:nvSpPr>
        <p:spPr>
          <a:xfrm>
            <a:off x="7804150" y="3632597"/>
            <a:ext cx="9525" cy="542925"/>
          </a:xfrm>
          <a:prstGeom prst="rect">
            <a:avLst/>
          </a:prstGeom>
          <a:solidFill>
            <a:srgbClr val="FBBF24">
              <a:alpha val="2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1911350" y="3837384"/>
            <a:ext cx="6286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FBBF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3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597150" y="3743725"/>
            <a:ext cx="55391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Hardened System Prompt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2597150" y="3931053"/>
            <a:ext cx="55391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Injected into every Groq call: never reveal config, never execute code, never assist abuse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752975" y="4213622"/>
            <a:ext cx="19050" cy="10477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18050" y="4318397"/>
            <a:ext cx="889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1" name="Shape 39"/>
          <p:cNvSpPr/>
          <p:nvPr/>
        </p:nvSpPr>
        <p:spPr>
          <a:xfrm>
            <a:off x="1714500" y="4413647"/>
            <a:ext cx="6096000" cy="542925"/>
          </a:xfrm>
          <a:prstGeom prst="roundRect">
            <a:avLst>
              <a:gd name="adj" fmla="val 19298"/>
            </a:avLst>
          </a:prstGeom>
          <a:solidFill>
            <a:srgbClr val="34D399">
              <a:alpha val="7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1714500" y="4950222"/>
            <a:ext cx="6096000" cy="9525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714500" y="4413647"/>
            <a:ext cx="6096000" cy="9525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1714500" y="4413647"/>
            <a:ext cx="25400" cy="542925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5" name="Shape 43"/>
          <p:cNvSpPr/>
          <p:nvPr/>
        </p:nvSpPr>
        <p:spPr>
          <a:xfrm>
            <a:off x="7804150" y="4413647"/>
            <a:ext cx="9525" cy="542925"/>
          </a:xfrm>
          <a:prstGeom prst="rect">
            <a:avLst/>
          </a:prstGeom>
          <a:solidFill>
            <a:srgbClr val="34D399">
              <a:alpha val="26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1911350" y="4618434"/>
            <a:ext cx="62865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 4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2597150" y="4524775"/>
            <a:ext cx="553910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Audit Log (PII-masked)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2597150" y="4712103"/>
            <a:ext cx="553910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9AA8B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PII patterns masked before logging: [PHONE] [EMAIL] [PAN] [AADHAAR] [ACCT_NUM]…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52975" y="4994672"/>
            <a:ext cx="19050" cy="104775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0" name="Shape 48"/>
          <p:cNvSpPr/>
          <p:nvPr/>
        </p:nvSpPr>
        <p:spPr>
          <a:xfrm>
            <a:off x="4718050" y="5099447"/>
            <a:ext cx="88900" cy="571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1" name="Shape 49"/>
          <p:cNvSpPr/>
          <p:nvPr/>
        </p:nvSpPr>
        <p:spPr>
          <a:xfrm>
            <a:off x="1714500" y="5194697"/>
            <a:ext cx="6096000" cy="342900"/>
          </a:xfrm>
          <a:prstGeom prst="roundRect">
            <a:avLst>
              <a:gd name="adj" fmla="val 30556"/>
            </a:avLst>
          </a:prstGeom>
          <a:solidFill>
            <a:srgbClr val="2DD4BF">
              <a:alpha val="8000"/>
            </a:srgbClr>
          </a:solidFill>
          <a:ln w="6350">
            <a:solidFill>
              <a:srgbClr val="2DD4BF">
                <a:alpha val="28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0860" y="5296297"/>
            <a:ext cx="592328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FE9D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Cleared input → Groq model call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533400" y="5944009"/>
            <a:ext cx="9304020" cy="222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Pattern Counts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533400" y="6223397"/>
            <a:ext cx="2971304" cy="28257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55" name="Shape 53"/>
          <p:cNvSpPr/>
          <p:nvPr/>
        </p:nvSpPr>
        <p:spPr>
          <a:xfrm>
            <a:off x="533400" y="6486922"/>
            <a:ext cx="2971304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6" name="Text 54"/>
          <p:cNvSpPr/>
          <p:nvPr/>
        </p:nvSpPr>
        <p:spPr>
          <a:xfrm>
            <a:off x="638175" y="6299597"/>
            <a:ext cx="2850893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504704" y="6223397"/>
            <a:ext cx="1428750" cy="28257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58" name="Shape 56"/>
          <p:cNvSpPr/>
          <p:nvPr/>
        </p:nvSpPr>
        <p:spPr>
          <a:xfrm>
            <a:off x="3504704" y="6486922"/>
            <a:ext cx="1428750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59" name="Text 57"/>
          <p:cNvSpPr/>
          <p:nvPr/>
        </p:nvSpPr>
        <p:spPr>
          <a:xfrm>
            <a:off x="3609479" y="6299597"/>
            <a:ext cx="1295400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COUNT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4933454" y="6223397"/>
            <a:ext cx="4058146" cy="28257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61" name="Shape 59"/>
          <p:cNvSpPr/>
          <p:nvPr/>
        </p:nvSpPr>
        <p:spPr>
          <a:xfrm>
            <a:off x="4933454" y="6486922"/>
            <a:ext cx="4058146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62" name="Text 60"/>
          <p:cNvSpPr/>
          <p:nvPr/>
        </p:nvSpPr>
        <p:spPr>
          <a:xfrm>
            <a:off x="5038229" y="6299597"/>
            <a:ext cx="3970341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ACTION ON MATCH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33400" y="6811380"/>
            <a:ext cx="2971304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4" name="Text 62"/>
          <p:cNvSpPr/>
          <p:nvPr/>
        </p:nvSpPr>
        <p:spPr>
          <a:xfrm>
            <a:off x="638175" y="6582184"/>
            <a:ext cx="2850893" cy="19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Hard-block (input guardrails)</a:t>
            </a:r>
            <a:endParaRPr lang="en-US" sz="863" dirty="0"/>
          </a:p>
        </p:txBody>
      </p:sp>
      <p:sp>
        <p:nvSpPr>
          <p:cNvPr id="65" name="Shape 63"/>
          <p:cNvSpPr/>
          <p:nvPr/>
        </p:nvSpPr>
        <p:spPr>
          <a:xfrm>
            <a:off x="3504704" y="6811380"/>
            <a:ext cx="1428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6" name="Text 64"/>
          <p:cNvSpPr/>
          <p:nvPr/>
        </p:nvSpPr>
        <p:spPr>
          <a:xfrm>
            <a:off x="3609479" y="6582184"/>
            <a:ext cx="1295400" cy="19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regex patterns</a:t>
            </a:r>
            <a:endParaRPr lang="en-US" sz="825" dirty="0"/>
          </a:p>
        </p:txBody>
      </p:sp>
      <p:sp>
        <p:nvSpPr>
          <p:cNvPr id="67" name="Shape 65"/>
          <p:cNvSpPr/>
          <p:nvPr/>
        </p:nvSpPr>
        <p:spPr>
          <a:xfrm>
            <a:off x="4933454" y="6811380"/>
            <a:ext cx="40581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8" name="Text 66"/>
          <p:cNvSpPr/>
          <p:nvPr/>
        </p:nvSpPr>
        <p:spPr>
          <a:xfrm>
            <a:off x="5038229" y="6582184"/>
            <a:ext cx="3970341" cy="1910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400 — blocked immediately, no LLM call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533400" y="7116769"/>
            <a:ext cx="2971304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0" name="Text 68"/>
          <p:cNvSpPr/>
          <p:nvPr/>
        </p:nvSpPr>
        <p:spPr>
          <a:xfrm>
            <a:off x="638175" y="6893923"/>
            <a:ext cx="2850893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Admin-only RBAC</a:t>
            </a:r>
            <a:endParaRPr lang="en-US" sz="863" dirty="0"/>
          </a:p>
        </p:txBody>
      </p:sp>
      <p:sp>
        <p:nvSpPr>
          <p:cNvPr id="71" name="Shape 69"/>
          <p:cNvSpPr/>
          <p:nvPr/>
        </p:nvSpPr>
        <p:spPr>
          <a:xfrm>
            <a:off x="3504704" y="7116769"/>
            <a:ext cx="1428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2" name="Text 70"/>
          <p:cNvSpPr/>
          <p:nvPr/>
        </p:nvSpPr>
        <p:spPr>
          <a:xfrm>
            <a:off x="3609479" y="6893923"/>
            <a:ext cx="1295400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regex patterns</a:t>
            </a:r>
            <a:endParaRPr lang="en-US" sz="825" dirty="0"/>
          </a:p>
        </p:txBody>
      </p:sp>
      <p:sp>
        <p:nvSpPr>
          <p:cNvPr id="73" name="Shape 71"/>
          <p:cNvSpPr/>
          <p:nvPr/>
        </p:nvSpPr>
        <p:spPr>
          <a:xfrm>
            <a:off x="4933454" y="7116769"/>
            <a:ext cx="40581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4" name="Text 72"/>
          <p:cNvSpPr/>
          <p:nvPr/>
        </p:nvSpPr>
        <p:spPr>
          <a:xfrm>
            <a:off x="5038229" y="6893923"/>
            <a:ext cx="3970341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403 — devotee role blocked</a:t>
            </a:r>
            <a:endParaRPr lang="en-US" sz="825" dirty="0"/>
          </a:p>
        </p:txBody>
      </p:sp>
      <p:sp>
        <p:nvSpPr>
          <p:cNvPr id="75" name="Shape 73"/>
          <p:cNvSpPr/>
          <p:nvPr/>
        </p:nvSpPr>
        <p:spPr>
          <a:xfrm>
            <a:off x="533400" y="7422164"/>
            <a:ext cx="2971304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6" name="Text 74"/>
          <p:cNvSpPr/>
          <p:nvPr/>
        </p:nvSpPr>
        <p:spPr>
          <a:xfrm>
            <a:off x="638175" y="7199319"/>
            <a:ext cx="2850893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Soft-warn (logged only)</a:t>
            </a:r>
            <a:endParaRPr lang="en-US" sz="863" dirty="0"/>
          </a:p>
        </p:txBody>
      </p:sp>
      <p:sp>
        <p:nvSpPr>
          <p:cNvPr id="77" name="Shape 75"/>
          <p:cNvSpPr/>
          <p:nvPr/>
        </p:nvSpPr>
        <p:spPr>
          <a:xfrm>
            <a:off x="3504704" y="7422164"/>
            <a:ext cx="1428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8" name="Text 76"/>
          <p:cNvSpPr/>
          <p:nvPr/>
        </p:nvSpPr>
        <p:spPr>
          <a:xfrm>
            <a:off x="3609479" y="7199319"/>
            <a:ext cx="1295400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 regex patterns</a:t>
            </a:r>
            <a:endParaRPr lang="en-US" sz="825" dirty="0"/>
          </a:p>
        </p:txBody>
      </p:sp>
      <p:sp>
        <p:nvSpPr>
          <p:cNvPr id="79" name="Shape 77"/>
          <p:cNvSpPr/>
          <p:nvPr/>
        </p:nvSpPr>
        <p:spPr>
          <a:xfrm>
            <a:off x="4933454" y="7422164"/>
            <a:ext cx="40581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0" name="Text 78"/>
          <p:cNvSpPr/>
          <p:nvPr/>
        </p:nvSpPr>
        <p:spPr>
          <a:xfrm>
            <a:off x="5038229" y="7199319"/>
            <a:ext cx="3970341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Logged to audit, not blocked</a:t>
            </a:r>
            <a:endParaRPr lang="en-US" sz="825" dirty="0"/>
          </a:p>
        </p:txBody>
      </p:sp>
      <p:sp>
        <p:nvSpPr>
          <p:cNvPr id="81" name="Shape 79"/>
          <p:cNvSpPr/>
          <p:nvPr/>
        </p:nvSpPr>
        <p:spPr>
          <a:xfrm>
            <a:off x="533400" y="7727559"/>
            <a:ext cx="2971304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2" name="Text 80"/>
          <p:cNvSpPr/>
          <p:nvPr/>
        </p:nvSpPr>
        <p:spPr>
          <a:xfrm>
            <a:off x="638175" y="7504714"/>
            <a:ext cx="2850893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masking before audit log</a:t>
            </a:r>
            <a:endParaRPr lang="en-US" sz="863" dirty="0"/>
          </a:p>
        </p:txBody>
      </p:sp>
      <p:sp>
        <p:nvSpPr>
          <p:cNvPr id="83" name="Shape 81"/>
          <p:cNvSpPr/>
          <p:nvPr/>
        </p:nvSpPr>
        <p:spPr>
          <a:xfrm>
            <a:off x="3504704" y="7727559"/>
            <a:ext cx="1428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4" name="Text 82"/>
          <p:cNvSpPr/>
          <p:nvPr/>
        </p:nvSpPr>
        <p:spPr>
          <a:xfrm>
            <a:off x="3609479" y="7504714"/>
            <a:ext cx="1295400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 regex patterns</a:t>
            </a:r>
            <a:endParaRPr lang="en-US" sz="825" dirty="0"/>
          </a:p>
        </p:txBody>
      </p:sp>
      <p:sp>
        <p:nvSpPr>
          <p:cNvPr id="85" name="Shape 83"/>
          <p:cNvSpPr/>
          <p:nvPr/>
        </p:nvSpPr>
        <p:spPr>
          <a:xfrm>
            <a:off x="4933454" y="7727559"/>
            <a:ext cx="40581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6" name="Text 84"/>
          <p:cNvSpPr/>
          <p:nvPr/>
        </p:nvSpPr>
        <p:spPr>
          <a:xfrm>
            <a:off x="5038229" y="7504714"/>
            <a:ext cx="3970341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Replaced with [PHONE], [EMAIL], [PAN] etc.</a:t>
            </a:r>
            <a:endParaRPr lang="en-US" sz="825" dirty="0"/>
          </a:p>
        </p:txBody>
      </p:sp>
      <p:sp>
        <p:nvSpPr>
          <p:cNvPr id="87" name="Shape 85"/>
          <p:cNvSpPr/>
          <p:nvPr/>
        </p:nvSpPr>
        <p:spPr>
          <a:xfrm>
            <a:off x="533400" y="8032955"/>
            <a:ext cx="2971304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8" name="Text 86"/>
          <p:cNvSpPr/>
          <p:nvPr/>
        </p:nvSpPr>
        <p:spPr>
          <a:xfrm>
            <a:off x="638175" y="7810109"/>
            <a:ext cx="2850893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63" dirty="0">
                <a:solidFill>
                  <a:srgbClr val="0F172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Hardened system prompt rules</a:t>
            </a:r>
            <a:endParaRPr lang="en-US" sz="863" dirty="0"/>
          </a:p>
        </p:txBody>
      </p:sp>
      <p:sp>
        <p:nvSpPr>
          <p:cNvPr id="89" name="Shape 87"/>
          <p:cNvSpPr/>
          <p:nvPr/>
        </p:nvSpPr>
        <p:spPr>
          <a:xfrm>
            <a:off x="3504704" y="8032955"/>
            <a:ext cx="1428750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0" name="Text 88"/>
          <p:cNvSpPr/>
          <p:nvPr/>
        </p:nvSpPr>
        <p:spPr>
          <a:xfrm>
            <a:off x="3609479" y="7810109"/>
            <a:ext cx="1295400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 absolute rules</a:t>
            </a:r>
            <a:endParaRPr lang="en-US" sz="825" dirty="0"/>
          </a:p>
        </p:txBody>
      </p:sp>
      <p:sp>
        <p:nvSpPr>
          <p:cNvPr id="91" name="Shape 89"/>
          <p:cNvSpPr/>
          <p:nvPr/>
        </p:nvSpPr>
        <p:spPr>
          <a:xfrm>
            <a:off x="4933454" y="8032955"/>
            <a:ext cx="40581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92" name="Text 90"/>
          <p:cNvSpPr/>
          <p:nvPr/>
        </p:nvSpPr>
        <p:spPr>
          <a:xfrm>
            <a:off x="5038229" y="7810109"/>
            <a:ext cx="3970341" cy="1847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Injected into every Groq system message</a:t>
            </a:r>
            <a:endParaRPr lang="en-US" sz="825" dirty="0"/>
          </a:p>
        </p:txBody>
      </p:sp>
      <p:sp>
        <p:nvSpPr>
          <p:cNvPr id="93" name="Shape 91"/>
          <p:cNvSpPr/>
          <p:nvPr/>
        </p:nvSpPr>
        <p:spPr>
          <a:xfrm>
            <a:off x="533400" y="12960362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4" name="Text 92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95" name="Text 93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20</a:t>
            </a:r>
            <a:endParaRPr lang="en-US" sz="788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45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6570" y="920762"/>
            <a:ext cx="302854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Configuration Reference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12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default values that govern AI behaviour, retrieval and token lifetimes, and the file each is read from.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19659"/>
            <a:ext cx="2254746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902234"/>
            <a:ext cx="2254746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38175" y="1705384"/>
            <a:ext cx="2121396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SETTING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88146" y="1619659"/>
            <a:ext cx="3379788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8146" y="1902234"/>
            <a:ext cx="3379788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2892921" y="1705384"/>
            <a:ext cx="3271631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DEFAULT VALUE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167934" y="1619659"/>
            <a:ext cx="2823667" cy="3016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67934" y="1902234"/>
            <a:ext cx="2823667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72709" y="1705384"/>
            <a:ext cx="2698827" cy="149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45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33400" y="2219728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19" name="Text 17"/>
          <p:cNvSpPr/>
          <p:nvPr/>
        </p:nvSpPr>
        <p:spPr>
          <a:xfrm>
            <a:off x="638175" y="1997478"/>
            <a:ext cx="212139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groq_model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2788146" y="2219728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2892921" y="1997478"/>
            <a:ext cx="3271631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meta-llama/llama-4-scout-17b-16e-instruct</a:t>
            </a:r>
            <a:endParaRPr lang="en-US" sz="788" dirty="0"/>
          </a:p>
        </p:txBody>
      </p:sp>
      <p:sp>
        <p:nvSpPr>
          <p:cNvPr id="22" name="Shape 20"/>
          <p:cNvSpPr/>
          <p:nvPr/>
        </p:nvSpPr>
        <p:spPr>
          <a:xfrm>
            <a:off x="6167934" y="2219728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3" name="Text 21"/>
          <p:cNvSpPr/>
          <p:nvPr/>
        </p:nvSpPr>
        <p:spPr>
          <a:xfrm>
            <a:off x="6272709" y="1997478"/>
            <a:ext cx="269882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533400" y="2518178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" y="2302278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groq_temperature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2788146" y="2518178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7" name="Text 25"/>
          <p:cNvSpPr/>
          <p:nvPr/>
        </p:nvSpPr>
        <p:spPr>
          <a:xfrm>
            <a:off x="2892921" y="2302278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0.5</a:t>
            </a:r>
            <a:endParaRPr lang="en-US" sz="788" dirty="0"/>
          </a:p>
        </p:txBody>
      </p:sp>
      <p:sp>
        <p:nvSpPr>
          <p:cNvPr id="28" name="Shape 26"/>
          <p:cNvSpPr/>
          <p:nvPr/>
        </p:nvSpPr>
        <p:spPr>
          <a:xfrm>
            <a:off x="6167934" y="2518178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29" name="Text 27"/>
          <p:cNvSpPr/>
          <p:nvPr/>
        </p:nvSpPr>
        <p:spPr>
          <a:xfrm>
            <a:off x="6272709" y="2302278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 (BaseAgent)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533400" y="2816634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1" name="Text 29"/>
          <p:cNvSpPr/>
          <p:nvPr/>
        </p:nvSpPr>
        <p:spPr>
          <a:xfrm>
            <a:off x="638175" y="2600734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pinecone_index_name</a:t>
            </a:r>
            <a:endParaRPr lang="en-US" sz="825" dirty="0"/>
          </a:p>
        </p:txBody>
      </p:sp>
      <p:sp>
        <p:nvSpPr>
          <p:cNvPr id="32" name="Shape 30"/>
          <p:cNvSpPr/>
          <p:nvPr/>
        </p:nvSpPr>
        <p:spPr>
          <a:xfrm>
            <a:off x="2788146" y="2816634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3" name="Text 31"/>
          <p:cNvSpPr/>
          <p:nvPr/>
        </p:nvSpPr>
        <p:spPr>
          <a:xfrm>
            <a:off x="2892921" y="2600734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jain-texts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6167934" y="2816634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5" name="Text 33"/>
          <p:cNvSpPr/>
          <p:nvPr/>
        </p:nvSpPr>
        <p:spPr>
          <a:xfrm>
            <a:off x="6272709" y="2600734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533400" y="3115072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" y="2899172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chunk_size_characters</a:t>
            </a:r>
            <a:endParaRPr lang="en-US" sz="825" dirty="0"/>
          </a:p>
        </p:txBody>
      </p:sp>
      <p:sp>
        <p:nvSpPr>
          <p:cNvPr id="38" name="Shape 36"/>
          <p:cNvSpPr/>
          <p:nvPr/>
        </p:nvSpPr>
        <p:spPr>
          <a:xfrm>
            <a:off x="2788146" y="3115072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39" name="Text 37"/>
          <p:cNvSpPr/>
          <p:nvPr/>
        </p:nvSpPr>
        <p:spPr>
          <a:xfrm>
            <a:off x="2892921" y="2899172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800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6167934" y="3115072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1" name="Text 39"/>
          <p:cNvSpPr/>
          <p:nvPr/>
        </p:nvSpPr>
        <p:spPr>
          <a:xfrm>
            <a:off x="6272709" y="2899172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42" name="Shape 40"/>
          <p:cNvSpPr/>
          <p:nvPr/>
        </p:nvSpPr>
        <p:spPr>
          <a:xfrm>
            <a:off x="533400" y="3413528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3" name="Text 41"/>
          <p:cNvSpPr/>
          <p:nvPr/>
        </p:nvSpPr>
        <p:spPr>
          <a:xfrm>
            <a:off x="638175" y="3197628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chunk_overlap_characters</a:t>
            </a:r>
            <a:endParaRPr lang="en-US" sz="825" dirty="0"/>
          </a:p>
        </p:txBody>
      </p:sp>
      <p:sp>
        <p:nvSpPr>
          <p:cNvPr id="44" name="Shape 42"/>
          <p:cNvSpPr/>
          <p:nvPr/>
        </p:nvSpPr>
        <p:spPr>
          <a:xfrm>
            <a:off x="2788146" y="3413528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5" name="Text 43"/>
          <p:cNvSpPr/>
          <p:nvPr/>
        </p:nvSpPr>
        <p:spPr>
          <a:xfrm>
            <a:off x="2892921" y="3197628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100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6167934" y="3413528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7" name="Text 45"/>
          <p:cNvSpPr/>
          <p:nvPr/>
        </p:nvSpPr>
        <p:spPr>
          <a:xfrm>
            <a:off x="6272709" y="3197628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48" name="Shape 46"/>
          <p:cNvSpPr/>
          <p:nvPr/>
        </p:nvSpPr>
        <p:spPr>
          <a:xfrm>
            <a:off x="533400" y="3711984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49" name="Text 47"/>
          <p:cNvSpPr/>
          <p:nvPr/>
        </p:nvSpPr>
        <p:spPr>
          <a:xfrm>
            <a:off x="638175" y="3496084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retrieval_limit</a:t>
            </a:r>
            <a:endParaRPr lang="en-US" sz="825" dirty="0"/>
          </a:p>
        </p:txBody>
      </p:sp>
      <p:sp>
        <p:nvSpPr>
          <p:cNvPr id="50" name="Shape 48"/>
          <p:cNvSpPr/>
          <p:nvPr/>
        </p:nvSpPr>
        <p:spPr>
          <a:xfrm>
            <a:off x="2788146" y="3711984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1" name="Text 49"/>
          <p:cNvSpPr/>
          <p:nvPr/>
        </p:nvSpPr>
        <p:spPr>
          <a:xfrm>
            <a:off x="2892921" y="3496084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788" dirty="0"/>
          </a:p>
        </p:txBody>
      </p:sp>
      <p:sp>
        <p:nvSpPr>
          <p:cNvPr id="52" name="Shape 50"/>
          <p:cNvSpPr/>
          <p:nvPr/>
        </p:nvSpPr>
        <p:spPr>
          <a:xfrm>
            <a:off x="6167934" y="3711984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3" name="Text 51"/>
          <p:cNvSpPr/>
          <p:nvPr/>
        </p:nvSpPr>
        <p:spPr>
          <a:xfrm>
            <a:off x="6272709" y="3496084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 (temple knowledge)</a:t>
            </a:r>
            <a:endParaRPr lang="en-US" sz="825" dirty="0"/>
          </a:p>
        </p:txBody>
      </p:sp>
      <p:sp>
        <p:nvSpPr>
          <p:cNvPr id="54" name="Shape 52"/>
          <p:cNvSpPr/>
          <p:nvPr/>
        </p:nvSpPr>
        <p:spPr>
          <a:xfrm>
            <a:off x="533400" y="4010422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5" name="Text 53"/>
          <p:cNvSpPr/>
          <p:nvPr/>
        </p:nvSpPr>
        <p:spPr>
          <a:xfrm>
            <a:off x="638175" y="3794522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sync_ttl_seconds</a:t>
            </a:r>
            <a:endParaRPr lang="en-US" sz="825" dirty="0"/>
          </a:p>
        </p:txBody>
      </p:sp>
      <p:sp>
        <p:nvSpPr>
          <p:cNvPr id="56" name="Shape 54"/>
          <p:cNvSpPr/>
          <p:nvPr/>
        </p:nvSpPr>
        <p:spPr>
          <a:xfrm>
            <a:off x="2788146" y="4010422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7" name="Text 55"/>
          <p:cNvSpPr/>
          <p:nvPr/>
        </p:nvSpPr>
        <p:spPr>
          <a:xfrm>
            <a:off x="2892921" y="3794522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300</a:t>
            </a:r>
            <a:endParaRPr lang="en-US" sz="788" dirty="0"/>
          </a:p>
        </p:txBody>
      </p:sp>
      <p:sp>
        <p:nvSpPr>
          <p:cNvPr id="58" name="Shape 56"/>
          <p:cNvSpPr/>
          <p:nvPr/>
        </p:nvSpPr>
        <p:spPr>
          <a:xfrm>
            <a:off x="6167934" y="4010422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59" name="Text 57"/>
          <p:cNvSpPr/>
          <p:nvPr/>
        </p:nvSpPr>
        <p:spPr>
          <a:xfrm>
            <a:off x="6272709" y="3794522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60" name="Shape 58"/>
          <p:cNvSpPr/>
          <p:nvPr/>
        </p:nvSpPr>
        <p:spPr>
          <a:xfrm>
            <a:off x="533400" y="4308878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1" name="Text 59"/>
          <p:cNvSpPr/>
          <p:nvPr/>
        </p:nvSpPr>
        <p:spPr>
          <a:xfrm>
            <a:off x="638175" y="4092978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upstream_timeout_seconds</a:t>
            </a:r>
            <a:endParaRPr lang="en-US" sz="825" dirty="0"/>
          </a:p>
        </p:txBody>
      </p:sp>
      <p:sp>
        <p:nvSpPr>
          <p:cNvPr id="62" name="Shape 60"/>
          <p:cNvSpPr/>
          <p:nvPr/>
        </p:nvSpPr>
        <p:spPr>
          <a:xfrm>
            <a:off x="2788146" y="4308878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3" name="Text 61"/>
          <p:cNvSpPr/>
          <p:nvPr/>
        </p:nvSpPr>
        <p:spPr>
          <a:xfrm>
            <a:off x="2892921" y="4092978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45.0</a:t>
            </a:r>
            <a:endParaRPr lang="en-US" sz="788" dirty="0"/>
          </a:p>
        </p:txBody>
      </p:sp>
      <p:sp>
        <p:nvSpPr>
          <p:cNvPr id="64" name="Shape 62"/>
          <p:cNvSpPr/>
          <p:nvPr/>
        </p:nvSpPr>
        <p:spPr>
          <a:xfrm>
            <a:off x="6167934" y="4308878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5" name="Text 63"/>
          <p:cNvSpPr/>
          <p:nvPr/>
        </p:nvSpPr>
        <p:spPr>
          <a:xfrm>
            <a:off x="6272709" y="4092978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66" name="Shape 64"/>
          <p:cNvSpPr/>
          <p:nvPr/>
        </p:nvSpPr>
        <p:spPr>
          <a:xfrm>
            <a:off x="533400" y="4607334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7" name="Text 65"/>
          <p:cNvSpPr/>
          <p:nvPr/>
        </p:nvSpPr>
        <p:spPr>
          <a:xfrm>
            <a:off x="638175" y="4391434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upstream_retry_attempts</a:t>
            </a:r>
            <a:endParaRPr lang="en-US" sz="825" dirty="0"/>
          </a:p>
        </p:txBody>
      </p:sp>
      <p:sp>
        <p:nvSpPr>
          <p:cNvPr id="68" name="Shape 66"/>
          <p:cNvSpPr/>
          <p:nvPr/>
        </p:nvSpPr>
        <p:spPr>
          <a:xfrm>
            <a:off x="2788146" y="4607334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69" name="Text 67"/>
          <p:cNvSpPr/>
          <p:nvPr/>
        </p:nvSpPr>
        <p:spPr>
          <a:xfrm>
            <a:off x="2892921" y="4391434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788" dirty="0"/>
          </a:p>
        </p:txBody>
      </p:sp>
      <p:sp>
        <p:nvSpPr>
          <p:cNvPr id="70" name="Shape 68"/>
          <p:cNvSpPr/>
          <p:nvPr/>
        </p:nvSpPr>
        <p:spPr>
          <a:xfrm>
            <a:off x="6167934" y="4607334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1" name="Text 69"/>
          <p:cNvSpPr/>
          <p:nvPr/>
        </p:nvSpPr>
        <p:spPr>
          <a:xfrm>
            <a:off x="6272709" y="4391434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 config.py</a:t>
            </a:r>
            <a:endParaRPr lang="en-US" sz="825" dirty="0"/>
          </a:p>
        </p:txBody>
      </p:sp>
      <p:sp>
        <p:nvSpPr>
          <p:cNvPr id="72" name="Shape 70"/>
          <p:cNvSpPr/>
          <p:nvPr/>
        </p:nvSpPr>
        <p:spPr>
          <a:xfrm>
            <a:off x="533400" y="4905772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3" name="Text 71"/>
          <p:cNvSpPr/>
          <p:nvPr/>
        </p:nvSpPr>
        <p:spPr>
          <a:xfrm>
            <a:off x="638175" y="4689872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ACCESS_TOKEN_EXPIRE_HOURS</a:t>
            </a:r>
            <a:endParaRPr lang="en-US" sz="825" dirty="0"/>
          </a:p>
        </p:txBody>
      </p:sp>
      <p:sp>
        <p:nvSpPr>
          <p:cNvPr id="74" name="Shape 72"/>
          <p:cNvSpPr/>
          <p:nvPr/>
        </p:nvSpPr>
        <p:spPr>
          <a:xfrm>
            <a:off x="2788146" y="4905772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5" name="Text 73"/>
          <p:cNvSpPr/>
          <p:nvPr/>
        </p:nvSpPr>
        <p:spPr>
          <a:xfrm>
            <a:off x="2892921" y="4689872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24</a:t>
            </a:r>
            <a:endParaRPr lang="en-US" sz="788" dirty="0"/>
          </a:p>
        </p:txBody>
      </p:sp>
      <p:sp>
        <p:nvSpPr>
          <p:cNvPr id="76" name="Shape 74"/>
          <p:cNvSpPr/>
          <p:nvPr/>
        </p:nvSpPr>
        <p:spPr>
          <a:xfrm>
            <a:off x="6167934" y="4905772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7" name="Text 75"/>
          <p:cNvSpPr/>
          <p:nvPr/>
        </p:nvSpPr>
        <p:spPr>
          <a:xfrm>
            <a:off x="6272709" y="4689872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.env</a:t>
            </a:r>
            <a:endParaRPr lang="en-US" sz="825" dirty="0"/>
          </a:p>
        </p:txBody>
      </p:sp>
      <p:sp>
        <p:nvSpPr>
          <p:cNvPr id="78" name="Shape 76"/>
          <p:cNvSpPr/>
          <p:nvPr/>
        </p:nvSpPr>
        <p:spPr>
          <a:xfrm>
            <a:off x="533400" y="5204228"/>
            <a:ext cx="2254746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79" name="Text 77"/>
          <p:cNvSpPr/>
          <p:nvPr/>
        </p:nvSpPr>
        <p:spPr>
          <a:xfrm>
            <a:off x="638175" y="4988328"/>
            <a:ext cx="2121396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REFRESH_TOKEN_EXPIRE_DAYS</a:t>
            </a:r>
            <a:endParaRPr lang="en-US" sz="825" dirty="0"/>
          </a:p>
        </p:txBody>
      </p:sp>
      <p:sp>
        <p:nvSpPr>
          <p:cNvPr id="80" name="Shape 78"/>
          <p:cNvSpPr/>
          <p:nvPr/>
        </p:nvSpPr>
        <p:spPr>
          <a:xfrm>
            <a:off x="2788146" y="5204228"/>
            <a:ext cx="3379788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1" name="Text 79"/>
          <p:cNvSpPr/>
          <p:nvPr/>
        </p:nvSpPr>
        <p:spPr>
          <a:xfrm>
            <a:off x="2892921" y="4988328"/>
            <a:ext cx="327163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30</a:t>
            </a:r>
            <a:endParaRPr lang="en-US" sz="788" dirty="0"/>
          </a:p>
        </p:txBody>
      </p:sp>
      <p:sp>
        <p:nvSpPr>
          <p:cNvPr id="82" name="Shape 80"/>
          <p:cNvSpPr/>
          <p:nvPr/>
        </p:nvSpPr>
        <p:spPr>
          <a:xfrm>
            <a:off x="6167934" y="5204228"/>
            <a:ext cx="2823667" cy="9525"/>
          </a:xfrm>
          <a:prstGeom prst="rect">
            <a:avLst/>
          </a:prstGeom>
          <a:solidFill>
            <a:srgbClr val="EEF0F2"/>
          </a:solidFill>
          <a:ln/>
        </p:spPr>
      </p:sp>
      <p:sp>
        <p:nvSpPr>
          <p:cNvPr id="83" name="Text 81"/>
          <p:cNvSpPr/>
          <p:nvPr/>
        </p:nvSpPr>
        <p:spPr>
          <a:xfrm>
            <a:off x="6272709" y="4988328"/>
            <a:ext cx="2698827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 .env</a:t>
            </a:r>
            <a:endParaRPr lang="en-US" sz="825" dirty="0"/>
          </a:p>
        </p:txBody>
      </p:sp>
      <p:sp>
        <p:nvSpPr>
          <p:cNvPr id="84" name="Shape 82"/>
          <p:cNvSpPr/>
          <p:nvPr/>
        </p:nvSpPr>
        <p:spPr>
          <a:xfrm>
            <a:off x="533400" y="12960362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5" name="Text 83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86" name="Text 84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21</a:t>
            </a:r>
            <a:endParaRPr lang="en-US" sz="78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00" cy="13468350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0F172A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533400" y="698500"/>
            <a:ext cx="8458200" cy="127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" name="Text 2"/>
          <p:cNvSpPr/>
          <p:nvPr/>
        </p:nvSpPr>
        <p:spPr>
          <a:xfrm>
            <a:off x="533400" y="476250"/>
            <a:ext cx="2180630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MyTemple — Architecture Deep 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631160" y="485775"/>
            <a:ext cx="369648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Internal / Confidential · github.com/apoorv2009/MyTemple</a:t>
            </a:r>
            <a:endParaRPr lang="en-US" sz="788" dirty="0"/>
          </a:p>
        </p:txBody>
      </p:sp>
      <p:sp>
        <p:nvSpPr>
          <p:cNvPr id="6" name="Text 4"/>
          <p:cNvSpPr/>
          <p:nvPr/>
        </p:nvSpPr>
        <p:spPr>
          <a:xfrm>
            <a:off x="533400" y="1022356"/>
            <a:ext cx="222945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94445" y="920762"/>
            <a:ext cx="197511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spc="-22" kern="0" dirty="0">
                <a:solidFill>
                  <a:srgbClr val="0F172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Library Versions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533400" y="1282712"/>
            <a:ext cx="8591550" cy="2226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3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Pinned ranges across backend services and the React Native frontend.</a:t>
            </a:r>
            <a:endParaRPr lang="en-US" sz="938" dirty="0"/>
          </a:p>
        </p:txBody>
      </p:sp>
      <p:sp>
        <p:nvSpPr>
          <p:cNvPr id="9" name="Shape 7"/>
          <p:cNvSpPr/>
          <p:nvPr/>
        </p:nvSpPr>
        <p:spPr>
          <a:xfrm>
            <a:off x="533400" y="1600609"/>
            <a:ext cx="2573933" cy="2381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0" name="Shape 8"/>
          <p:cNvSpPr/>
          <p:nvPr/>
        </p:nvSpPr>
        <p:spPr>
          <a:xfrm>
            <a:off x="533400" y="1819684"/>
            <a:ext cx="2573933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628650" y="1657759"/>
            <a:ext cx="2460651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LIBRARY</a:t>
            </a:r>
            <a:endParaRPr lang="en-US" sz="713" dirty="0"/>
          </a:p>
        </p:txBody>
      </p:sp>
      <p:sp>
        <p:nvSpPr>
          <p:cNvPr id="12" name="Shape 10"/>
          <p:cNvSpPr/>
          <p:nvPr/>
        </p:nvSpPr>
        <p:spPr>
          <a:xfrm>
            <a:off x="3107333" y="1600609"/>
            <a:ext cx="1624409" cy="2381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3" name="Shape 11"/>
          <p:cNvSpPr/>
          <p:nvPr/>
        </p:nvSpPr>
        <p:spPr>
          <a:xfrm>
            <a:off x="3107333" y="1819684"/>
            <a:ext cx="1624409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4" name="Text 12"/>
          <p:cNvSpPr/>
          <p:nvPr/>
        </p:nvSpPr>
        <p:spPr>
          <a:xfrm>
            <a:off x="3202583" y="1657759"/>
            <a:ext cx="1510109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VERSION</a:t>
            </a:r>
            <a:endParaRPr lang="en-US" sz="713" dirty="0"/>
          </a:p>
        </p:txBody>
      </p:sp>
      <p:sp>
        <p:nvSpPr>
          <p:cNvPr id="15" name="Shape 13"/>
          <p:cNvSpPr/>
          <p:nvPr/>
        </p:nvSpPr>
        <p:spPr>
          <a:xfrm>
            <a:off x="4731742" y="1600609"/>
            <a:ext cx="1714004" cy="2381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6" name="Shape 14"/>
          <p:cNvSpPr/>
          <p:nvPr/>
        </p:nvSpPr>
        <p:spPr>
          <a:xfrm>
            <a:off x="4731742" y="1819684"/>
            <a:ext cx="1714004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4826992" y="1657759"/>
            <a:ext cx="1599704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SERVICE</a:t>
            </a:r>
            <a:endParaRPr lang="en-US" sz="713" dirty="0"/>
          </a:p>
        </p:txBody>
      </p:sp>
      <p:sp>
        <p:nvSpPr>
          <p:cNvPr id="18" name="Shape 16"/>
          <p:cNvSpPr/>
          <p:nvPr/>
        </p:nvSpPr>
        <p:spPr>
          <a:xfrm>
            <a:off x="6445746" y="1600609"/>
            <a:ext cx="2545854" cy="238125"/>
          </a:xfrm>
          <a:prstGeom prst="rect">
            <a:avLst/>
          </a:prstGeom>
          <a:solidFill>
            <a:srgbClr val="FBF4EE"/>
          </a:solidFill>
          <a:ln/>
        </p:spPr>
      </p:sp>
      <p:sp>
        <p:nvSpPr>
          <p:cNvPr id="19" name="Shape 17"/>
          <p:cNvSpPr/>
          <p:nvPr/>
        </p:nvSpPr>
        <p:spPr>
          <a:xfrm>
            <a:off x="6445746" y="1819684"/>
            <a:ext cx="2545854" cy="1905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6540996" y="1657759"/>
            <a:ext cx="2431730" cy="142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13" b="1" spc="38" kern="0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PURPOSE</a:t>
            </a:r>
            <a:endParaRPr lang="en-US" sz="713" dirty="0"/>
          </a:p>
        </p:txBody>
      </p:sp>
      <p:sp>
        <p:nvSpPr>
          <p:cNvPr id="21" name="Shape 19"/>
          <p:cNvSpPr/>
          <p:nvPr/>
        </p:nvSpPr>
        <p:spPr>
          <a:xfrm>
            <a:off x="533400" y="2076859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2" name="Text 20"/>
          <p:cNvSpPr/>
          <p:nvPr/>
        </p:nvSpPr>
        <p:spPr>
          <a:xfrm>
            <a:off x="628650" y="1891122"/>
            <a:ext cx="246065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fastapi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3107333" y="2076859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4" name="Text 22"/>
          <p:cNvSpPr/>
          <p:nvPr/>
        </p:nvSpPr>
        <p:spPr>
          <a:xfrm>
            <a:off x="3202583" y="1891122"/>
            <a:ext cx="151010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&gt;=0.115,&lt;1.0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31742" y="2076859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6" name="Text 24"/>
          <p:cNvSpPr/>
          <p:nvPr/>
        </p:nvSpPr>
        <p:spPr>
          <a:xfrm>
            <a:off x="4826992" y="1891122"/>
            <a:ext cx="1599704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services</a:t>
            </a:r>
            <a:endParaRPr lang="en-US" sz="788" dirty="0"/>
          </a:p>
        </p:txBody>
      </p:sp>
      <p:sp>
        <p:nvSpPr>
          <p:cNvPr id="27" name="Shape 25"/>
          <p:cNvSpPr/>
          <p:nvPr/>
        </p:nvSpPr>
        <p:spPr>
          <a:xfrm>
            <a:off x="6445746" y="2076859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8" name="Text 26"/>
          <p:cNvSpPr/>
          <p:nvPr/>
        </p:nvSpPr>
        <p:spPr>
          <a:xfrm>
            <a:off x="6540996" y="1891122"/>
            <a:ext cx="2431730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HTTP API framework</a:t>
            </a:r>
            <a:endParaRPr lang="en-US" sz="788" dirty="0"/>
          </a:p>
        </p:txBody>
      </p:sp>
      <p:sp>
        <p:nvSpPr>
          <p:cNvPr id="29" name="Shape 27"/>
          <p:cNvSpPr/>
          <p:nvPr/>
        </p:nvSpPr>
        <p:spPr>
          <a:xfrm>
            <a:off x="533400" y="23149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0" name="Text 28"/>
          <p:cNvSpPr/>
          <p:nvPr/>
        </p:nvSpPr>
        <p:spPr>
          <a:xfrm>
            <a:off x="628650" y="21355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uvicorn[standard]</a:t>
            </a:r>
            <a:endParaRPr lang="en-US" sz="788" dirty="0"/>
          </a:p>
        </p:txBody>
      </p:sp>
      <p:sp>
        <p:nvSpPr>
          <p:cNvPr id="31" name="Shape 29"/>
          <p:cNvSpPr/>
          <p:nvPr/>
        </p:nvSpPr>
        <p:spPr>
          <a:xfrm>
            <a:off x="3107333" y="23149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2" name="Text 30"/>
          <p:cNvSpPr/>
          <p:nvPr/>
        </p:nvSpPr>
        <p:spPr>
          <a:xfrm>
            <a:off x="3202583" y="21355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&gt;=0.30,&lt;1.0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31742" y="23149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4" name="Text 32"/>
          <p:cNvSpPr/>
          <p:nvPr/>
        </p:nvSpPr>
        <p:spPr>
          <a:xfrm>
            <a:off x="4826992" y="21355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services</a:t>
            </a:r>
            <a:endParaRPr lang="en-US" sz="788" dirty="0"/>
          </a:p>
        </p:txBody>
      </p:sp>
      <p:sp>
        <p:nvSpPr>
          <p:cNvPr id="35" name="Shape 33"/>
          <p:cNvSpPr/>
          <p:nvPr/>
        </p:nvSpPr>
        <p:spPr>
          <a:xfrm>
            <a:off x="6445746" y="23149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6" name="Text 34"/>
          <p:cNvSpPr/>
          <p:nvPr/>
        </p:nvSpPr>
        <p:spPr>
          <a:xfrm>
            <a:off x="6540996" y="21355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ASGI server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533400" y="25531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38" name="Text 36"/>
          <p:cNvSpPr/>
          <p:nvPr/>
        </p:nvSpPr>
        <p:spPr>
          <a:xfrm>
            <a:off x="628650" y="23737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httpx</a:t>
            </a:r>
            <a:endParaRPr lang="en-US" sz="788" dirty="0"/>
          </a:p>
        </p:txBody>
      </p:sp>
      <p:sp>
        <p:nvSpPr>
          <p:cNvPr id="39" name="Shape 37"/>
          <p:cNvSpPr/>
          <p:nvPr/>
        </p:nvSpPr>
        <p:spPr>
          <a:xfrm>
            <a:off x="3107333" y="25531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0" name="Text 38"/>
          <p:cNvSpPr/>
          <p:nvPr/>
        </p:nvSpPr>
        <p:spPr>
          <a:xfrm>
            <a:off x="3202583" y="23737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&gt;=0.27,&lt;1.0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731742" y="25531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2" name="Text 40"/>
          <p:cNvSpPr/>
          <p:nvPr/>
        </p:nvSpPr>
        <p:spPr>
          <a:xfrm>
            <a:off x="4826992" y="23737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gateway, ai, reg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6445746" y="25531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4" name="Text 42"/>
          <p:cNvSpPr/>
          <p:nvPr/>
        </p:nvSpPr>
        <p:spPr>
          <a:xfrm>
            <a:off x="6540996" y="23737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Async HTTP client</a:t>
            </a:r>
            <a:endParaRPr lang="en-US" sz="788" dirty="0"/>
          </a:p>
        </p:txBody>
      </p:sp>
      <p:sp>
        <p:nvSpPr>
          <p:cNvPr id="45" name="Shape 43"/>
          <p:cNvSpPr/>
          <p:nvPr/>
        </p:nvSpPr>
        <p:spPr>
          <a:xfrm>
            <a:off x="533400" y="279122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6" name="Text 44"/>
          <p:cNvSpPr/>
          <p:nvPr/>
        </p:nvSpPr>
        <p:spPr>
          <a:xfrm>
            <a:off x="628650" y="261184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sqlalchemy</a:t>
            </a:r>
            <a:endParaRPr lang="en-US" sz="788" dirty="0"/>
          </a:p>
        </p:txBody>
      </p:sp>
      <p:sp>
        <p:nvSpPr>
          <p:cNvPr id="47" name="Shape 45"/>
          <p:cNvSpPr/>
          <p:nvPr/>
        </p:nvSpPr>
        <p:spPr>
          <a:xfrm>
            <a:off x="3107333" y="279122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48" name="Text 46"/>
          <p:cNvSpPr/>
          <p:nvPr/>
        </p:nvSpPr>
        <p:spPr>
          <a:xfrm>
            <a:off x="3202583" y="261184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&gt;=2.0,&lt;3.0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31742" y="279122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0" name="Text 48"/>
          <p:cNvSpPr/>
          <p:nvPr/>
        </p:nvSpPr>
        <p:spPr>
          <a:xfrm>
            <a:off x="4826992" y="261184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services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6445746" y="279122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2" name="Text 50"/>
          <p:cNvSpPr/>
          <p:nvPr/>
        </p:nvSpPr>
        <p:spPr>
          <a:xfrm>
            <a:off x="6540996" y="261184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ORM</a:t>
            </a:r>
            <a:endParaRPr lang="en-US" sz="788" dirty="0"/>
          </a:p>
        </p:txBody>
      </p:sp>
      <p:sp>
        <p:nvSpPr>
          <p:cNvPr id="53" name="Shape 51"/>
          <p:cNvSpPr/>
          <p:nvPr/>
        </p:nvSpPr>
        <p:spPr>
          <a:xfrm>
            <a:off x="533400" y="302935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4" name="Text 52"/>
          <p:cNvSpPr/>
          <p:nvPr/>
        </p:nvSpPr>
        <p:spPr>
          <a:xfrm>
            <a:off x="628650" y="284996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psycopg[binary]</a:t>
            </a:r>
            <a:endParaRPr lang="en-US" sz="788" dirty="0"/>
          </a:p>
        </p:txBody>
      </p:sp>
      <p:sp>
        <p:nvSpPr>
          <p:cNvPr id="55" name="Shape 53"/>
          <p:cNvSpPr/>
          <p:nvPr/>
        </p:nvSpPr>
        <p:spPr>
          <a:xfrm>
            <a:off x="3107333" y="302935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6" name="Text 54"/>
          <p:cNvSpPr/>
          <p:nvPr/>
        </p:nvSpPr>
        <p:spPr>
          <a:xfrm>
            <a:off x="3202583" y="284996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&gt;=3.2,&lt;4.0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731742" y="302935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58" name="Text 56"/>
          <p:cNvSpPr/>
          <p:nvPr/>
        </p:nvSpPr>
        <p:spPr>
          <a:xfrm>
            <a:off x="4826992" y="284996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services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6445746" y="302935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0" name="Text 58"/>
          <p:cNvSpPr/>
          <p:nvPr/>
        </p:nvSpPr>
        <p:spPr>
          <a:xfrm>
            <a:off x="6540996" y="284996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PostgreSQL driver</a:t>
            </a:r>
            <a:endParaRPr lang="en-US" sz="788" dirty="0"/>
          </a:p>
        </p:txBody>
      </p:sp>
      <p:sp>
        <p:nvSpPr>
          <p:cNvPr id="61" name="Shape 59"/>
          <p:cNvSpPr/>
          <p:nvPr/>
        </p:nvSpPr>
        <p:spPr>
          <a:xfrm>
            <a:off x="533400" y="32674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2" name="Text 60"/>
          <p:cNvSpPr/>
          <p:nvPr/>
        </p:nvSpPr>
        <p:spPr>
          <a:xfrm>
            <a:off x="628650" y="30880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pydantic-settings</a:t>
            </a:r>
            <a:endParaRPr lang="en-US" sz="788" dirty="0"/>
          </a:p>
        </p:txBody>
      </p:sp>
      <p:sp>
        <p:nvSpPr>
          <p:cNvPr id="63" name="Shape 61"/>
          <p:cNvSpPr/>
          <p:nvPr/>
        </p:nvSpPr>
        <p:spPr>
          <a:xfrm>
            <a:off x="3107333" y="32674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4" name="Text 62"/>
          <p:cNvSpPr/>
          <p:nvPr/>
        </p:nvSpPr>
        <p:spPr>
          <a:xfrm>
            <a:off x="3202583" y="30880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&gt;=2.4,&lt;3.0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731742" y="32674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6" name="Text 64"/>
          <p:cNvSpPr/>
          <p:nvPr/>
        </p:nvSpPr>
        <p:spPr>
          <a:xfrm>
            <a:off x="4826992" y="30880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services</a:t>
            </a:r>
            <a:endParaRPr lang="en-US" sz="788" dirty="0"/>
          </a:p>
        </p:txBody>
      </p:sp>
      <p:sp>
        <p:nvSpPr>
          <p:cNvPr id="67" name="Shape 65"/>
          <p:cNvSpPr/>
          <p:nvPr/>
        </p:nvSpPr>
        <p:spPr>
          <a:xfrm>
            <a:off x="6445746" y="32674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68" name="Text 66"/>
          <p:cNvSpPr/>
          <p:nvPr/>
        </p:nvSpPr>
        <p:spPr>
          <a:xfrm>
            <a:off x="6540996" y="30880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from .env</a:t>
            </a:r>
            <a:endParaRPr lang="en-US" sz="788" dirty="0"/>
          </a:p>
        </p:txBody>
      </p:sp>
      <p:sp>
        <p:nvSpPr>
          <p:cNvPr id="69" name="Shape 67"/>
          <p:cNvSpPr/>
          <p:nvPr/>
        </p:nvSpPr>
        <p:spPr>
          <a:xfrm>
            <a:off x="533400" y="35056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0" name="Text 68"/>
          <p:cNvSpPr/>
          <p:nvPr/>
        </p:nvSpPr>
        <p:spPr>
          <a:xfrm>
            <a:off x="628650" y="33262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redis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3107333" y="35056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2" name="Text 70"/>
          <p:cNvSpPr/>
          <p:nvPr/>
        </p:nvSpPr>
        <p:spPr>
          <a:xfrm>
            <a:off x="3202583" y="33262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&gt;=5.0,&lt;9.0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4731742" y="35056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4" name="Text 72"/>
          <p:cNvSpPr/>
          <p:nvPr/>
        </p:nvSpPr>
        <p:spPr>
          <a:xfrm>
            <a:off x="4826992" y="33262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registration, admin, ai</a:t>
            </a:r>
            <a:endParaRPr lang="en-US" sz="788" dirty="0"/>
          </a:p>
        </p:txBody>
      </p:sp>
      <p:sp>
        <p:nvSpPr>
          <p:cNvPr id="75" name="Shape 73"/>
          <p:cNvSpPr/>
          <p:nvPr/>
        </p:nvSpPr>
        <p:spPr>
          <a:xfrm>
            <a:off x="6445746" y="35056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6" name="Text 74"/>
          <p:cNvSpPr/>
          <p:nvPr/>
        </p:nvSpPr>
        <p:spPr>
          <a:xfrm>
            <a:off x="6540996" y="33262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limit / cache</a:t>
            </a:r>
            <a:endParaRPr lang="en-US" sz="788" dirty="0"/>
          </a:p>
        </p:txBody>
      </p:sp>
      <p:sp>
        <p:nvSpPr>
          <p:cNvPr id="77" name="Shape 75"/>
          <p:cNvSpPr/>
          <p:nvPr/>
        </p:nvSpPr>
        <p:spPr>
          <a:xfrm>
            <a:off x="533400" y="374372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78" name="Text 76"/>
          <p:cNvSpPr/>
          <p:nvPr/>
        </p:nvSpPr>
        <p:spPr>
          <a:xfrm>
            <a:off x="628650" y="356434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argon2-cffi</a:t>
            </a:r>
            <a:endParaRPr lang="en-US" sz="788" dirty="0"/>
          </a:p>
        </p:txBody>
      </p:sp>
      <p:sp>
        <p:nvSpPr>
          <p:cNvPr id="79" name="Shape 77"/>
          <p:cNvSpPr/>
          <p:nvPr/>
        </p:nvSpPr>
        <p:spPr>
          <a:xfrm>
            <a:off x="3107333" y="374372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0" name="Text 78"/>
          <p:cNvSpPr/>
          <p:nvPr/>
        </p:nvSpPr>
        <p:spPr>
          <a:xfrm>
            <a:off x="3202583" y="356434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&gt;=23,&lt;24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4731742" y="374372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2" name="Text 80"/>
          <p:cNvSpPr/>
          <p:nvPr/>
        </p:nvSpPr>
        <p:spPr>
          <a:xfrm>
            <a:off x="4826992" y="356434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identity, reg</a:t>
            </a:r>
            <a:endParaRPr lang="en-US" sz="788" dirty="0"/>
          </a:p>
        </p:txBody>
      </p:sp>
      <p:sp>
        <p:nvSpPr>
          <p:cNvPr id="83" name="Shape 81"/>
          <p:cNvSpPr/>
          <p:nvPr/>
        </p:nvSpPr>
        <p:spPr>
          <a:xfrm>
            <a:off x="6445746" y="374372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4" name="Text 82"/>
          <p:cNvSpPr/>
          <p:nvPr/>
        </p:nvSpPr>
        <p:spPr>
          <a:xfrm>
            <a:off x="6540996" y="356434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Password hashing</a:t>
            </a:r>
            <a:endParaRPr lang="en-US" sz="788" dirty="0"/>
          </a:p>
        </p:txBody>
      </p:sp>
      <p:sp>
        <p:nvSpPr>
          <p:cNvPr id="85" name="Shape 83"/>
          <p:cNvSpPr/>
          <p:nvPr/>
        </p:nvSpPr>
        <p:spPr>
          <a:xfrm>
            <a:off x="533400" y="398185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6" name="Text 84"/>
          <p:cNvSpPr/>
          <p:nvPr/>
        </p:nvSpPr>
        <p:spPr>
          <a:xfrm>
            <a:off x="628650" y="380246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pinecone</a:t>
            </a:r>
            <a:endParaRPr lang="en-US" sz="788" dirty="0"/>
          </a:p>
        </p:txBody>
      </p:sp>
      <p:sp>
        <p:nvSpPr>
          <p:cNvPr id="87" name="Shape 85"/>
          <p:cNvSpPr/>
          <p:nvPr/>
        </p:nvSpPr>
        <p:spPr>
          <a:xfrm>
            <a:off x="3107333" y="398185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88" name="Text 86"/>
          <p:cNvSpPr/>
          <p:nvPr/>
        </p:nvSpPr>
        <p:spPr>
          <a:xfrm>
            <a:off x="3202583" y="380246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&gt;=5.0,&lt;6.0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4731742" y="398185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0" name="Text 88"/>
          <p:cNvSpPr/>
          <p:nvPr/>
        </p:nvSpPr>
        <p:spPr>
          <a:xfrm>
            <a:off x="4826992" y="380246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91" name="Shape 89"/>
          <p:cNvSpPr/>
          <p:nvPr/>
        </p:nvSpPr>
        <p:spPr>
          <a:xfrm>
            <a:off x="6445746" y="398185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2" name="Text 90"/>
          <p:cNvSpPr/>
          <p:nvPr/>
        </p:nvSpPr>
        <p:spPr>
          <a:xfrm>
            <a:off x="6540996" y="380246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Vector DB client</a:t>
            </a:r>
            <a:endParaRPr lang="en-US" sz="788" dirty="0"/>
          </a:p>
        </p:txBody>
      </p:sp>
      <p:sp>
        <p:nvSpPr>
          <p:cNvPr id="93" name="Shape 91"/>
          <p:cNvSpPr/>
          <p:nvPr/>
        </p:nvSpPr>
        <p:spPr>
          <a:xfrm>
            <a:off x="533400" y="42199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4" name="Text 92"/>
          <p:cNvSpPr/>
          <p:nvPr/>
        </p:nvSpPr>
        <p:spPr>
          <a:xfrm>
            <a:off x="628650" y="40405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pypdf</a:t>
            </a:r>
            <a:endParaRPr lang="en-US" sz="788" dirty="0"/>
          </a:p>
        </p:txBody>
      </p:sp>
      <p:sp>
        <p:nvSpPr>
          <p:cNvPr id="95" name="Shape 93"/>
          <p:cNvSpPr/>
          <p:nvPr/>
        </p:nvSpPr>
        <p:spPr>
          <a:xfrm>
            <a:off x="3107333" y="42199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6" name="Text 94"/>
          <p:cNvSpPr/>
          <p:nvPr/>
        </p:nvSpPr>
        <p:spPr>
          <a:xfrm>
            <a:off x="3202583" y="40405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&gt;=4.0,&lt;5.0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4731742" y="42199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8" name="Text 96"/>
          <p:cNvSpPr/>
          <p:nvPr/>
        </p:nvSpPr>
        <p:spPr>
          <a:xfrm>
            <a:off x="4826992" y="40405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99" name="Shape 97"/>
          <p:cNvSpPr/>
          <p:nvPr/>
        </p:nvSpPr>
        <p:spPr>
          <a:xfrm>
            <a:off x="6445746" y="42199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0" name="Text 98"/>
          <p:cNvSpPr/>
          <p:nvPr/>
        </p:nvSpPr>
        <p:spPr>
          <a:xfrm>
            <a:off x="6540996" y="40405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text extraction</a:t>
            </a:r>
            <a:endParaRPr lang="en-US" sz="788" dirty="0"/>
          </a:p>
        </p:txBody>
      </p:sp>
      <p:sp>
        <p:nvSpPr>
          <p:cNvPr id="101" name="Shape 99"/>
          <p:cNvSpPr/>
          <p:nvPr/>
        </p:nvSpPr>
        <p:spPr>
          <a:xfrm>
            <a:off x="533400" y="44581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2" name="Text 100"/>
          <p:cNvSpPr/>
          <p:nvPr/>
        </p:nvSpPr>
        <p:spPr>
          <a:xfrm>
            <a:off x="628650" y="42787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youtube-transcript-api</a:t>
            </a:r>
            <a:endParaRPr lang="en-US" sz="788" dirty="0"/>
          </a:p>
        </p:txBody>
      </p:sp>
      <p:sp>
        <p:nvSpPr>
          <p:cNvPr id="103" name="Shape 101"/>
          <p:cNvSpPr/>
          <p:nvPr/>
        </p:nvSpPr>
        <p:spPr>
          <a:xfrm>
            <a:off x="3107333" y="44581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4" name="Text 102"/>
          <p:cNvSpPr/>
          <p:nvPr/>
        </p:nvSpPr>
        <p:spPr>
          <a:xfrm>
            <a:off x="3202583" y="42787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&gt;=0.7.0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4731742" y="44581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6" name="Text 104"/>
          <p:cNvSpPr/>
          <p:nvPr/>
        </p:nvSpPr>
        <p:spPr>
          <a:xfrm>
            <a:off x="4826992" y="42787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107" name="Shape 105"/>
          <p:cNvSpPr/>
          <p:nvPr/>
        </p:nvSpPr>
        <p:spPr>
          <a:xfrm>
            <a:off x="6445746" y="44581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08" name="Text 106"/>
          <p:cNvSpPr/>
          <p:nvPr/>
        </p:nvSpPr>
        <p:spPr>
          <a:xfrm>
            <a:off x="6540996" y="42787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YouTube captions (Layer 1)</a:t>
            </a:r>
            <a:endParaRPr lang="en-US" sz="788" dirty="0"/>
          </a:p>
        </p:txBody>
      </p:sp>
      <p:sp>
        <p:nvSpPr>
          <p:cNvPr id="109" name="Shape 107"/>
          <p:cNvSpPr/>
          <p:nvPr/>
        </p:nvSpPr>
        <p:spPr>
          <a:xfrm>
            <a:off x="533400" y="469622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0" name="Text 108"/>
          <p:cNvSpPr/>
          <p:nvPr/>
        </p:nvSpPr>
        <p:spPr>
          <a:xfrm>
            <a:off x="628650" y="451684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yt-dlp</a:t>
            </a:r>
            <a:endParaRPr lang="en-US" sz="788" dirty="0"/>
          </a:p>
        </p:txBody>
      </p:sp>
      <p:sp>
        <p:nvSpPr>
          <p:cNvPr id="111" name="Shape 109"/>
          <p:cNvSpPr/>
          <p:nvPr/>
        </p:nvSpPr>
        <p:spPr>
          <a:xfrm>
            <a:off x="3107333" y="469622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2" name="Text 110"/>
          <p:cNvSpPr/>
          <p:nvPr/>
        </p:nvSpPr>
        <p:spPr>
          <a:xfrm>
            <a:off x="3202583" y="451684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&gt;=2025.1,&lt;2026.0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731742" y="469622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4" name="Text 112"/>
          <p:cNvSpPr/>
          <p:nvPr/>
        </p:nvSpPr>
        <p:spPr>
          <a:xfrm>
            <a:off x="4826992" y="451684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115" name="Shape 113"/>
          <p:cNvSpPr/>
          <p:nvPr/>
        </p:nvSpPr>
        <p:spPr>
          <a:xfrm>
            <a:off x="6445746" y="469622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6" name="Text 114"/>
          <p:cNvSpPr/>
          <p:nvPr/>
        </p:nvSpPr>
        <p:spPr>
          <a:xfrm>
            <a:off x="6540996" y="451684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YouTube audio download (Layer 2)</a:t>
            </a:r>
            <a:endParaRPr lang="en-US" sz="788" dirty="0"/>
          </a:p>
        </p:txBody>
      </p:sp>
      <p:sp>
        <p:nvSpPr>
          <p:cNvPr id="117" name="Shape 115"/>
          <p:cNvSpPr/>
          <p:nvPr/>
        </p:nvSpPr>
        <p:spPr>
          <a:xfrm>
            <a:off x="533400" y="493435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18" name="Text 116"/>
          <p:cNvSpPr/>
          <p:nvPr/>
        </p:nvSpPr>
        <p:spPr>
          <a:xfrm>
            <a:off x="628650" y="475496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openai-whisper</a:t>
            </a:r>
            <a:endParaRPr lang="en-US" sz="788" dirty="0"/>
          </a:p>
        </p:txBody>
      </p:sp>
      <p:sp>
        <p:nvSpPr>
          <p:cNvPr id="119" name="Shape 117"/>
          <p:cNvSpPr/>
          <p:nvPr/>
        </p:nvSpPr>
        <p:spPr>
          <a:xfrm>
            <a:off x="3107333" y="493435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0" name="Text 118"/>
          <p:cNvSpPr/>
          <p:nvPr/>
        </p:nvSpPr>
        <p:spPr>
          <a:xfrm>
            <a:off x="3202583" y="475496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&gt;=20231117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4731742" y="493435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2" name="Text 120"/>
          <p:cNvSpPr/>
          <p:nvPr/>
        </p:nvSpPr>
        <p:spPr>
          <a:xfrm>
            <a:off x="4826992" y="475496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123" name="Shape 121"/>
          <p:cNvSpPr/>
          <p:nvPr/>
        </p:nvSpPr>
        <p:spPr>
          <a:xfrm>
            <a:off x="6445746" y="493435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4" name="Text 122"/>
          <p:cNvSpPr/>
          <p:nvPr/>
        </p:nvSpPr>
        <p:spPr>
          <a:xfrm>
            <a:off x="6540996" y="475496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Whisper ASR (Layer 2)</a:t>
            </a:r>
            <a:endParaRPr lang="en-US" sz="788" dirty="0"/>
          </a:p>
        </p:txBody>
      </p:sp>
      <p:sp>
        <p:nvSpPr>
          <p:cNvPr id="125" name="Shape 123"/>
          <p:cNvSpPr/>
          <p:nvPr/>
        </p:nvSpPr>
        <p:spPr>
          <a:xfrm>
            <a:off x="533400" y="51724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6" name="Text 124"/>
          <p:cNvSpPr/>
          <p:nvPr/>
        </p:nvSpPr>
        <p:spPr>
          <a:xfrm>
            <a:off x="628650" y="49930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reportlab</a:t>
            </a:r>
            <a:endParaRPr lang="en-US" sz="788" dirty="0"/>
          </a:p>
        </p:txBody>
      </p:sp>
      <p:sp>
        <p:nvSpPr>
          <p:cNvPr id="127" name="Shape 125"/>
          <p:cNvSpPr/>
          <p:nvPr/>
        </p:nvSpPr>
        <p:spPr>
          <a:xfrm>
            <a:off x="3107333" y="51724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28" name="Text 126"/>
          <p:cNvSpPr/>
          <p:nvPr/>
        </p:nvSpPr>
        <p:spPr>
          <a:xfrm>
            <a:off x="3202583" y="49930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&gt;=4.0,&lt;5.0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4731742" y="51724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0" name="Text 128"/>
          <p:cNvSpPr/>
          <p:nvPr/>
        </p:nvSpPr>
        <p:spPr>
          <a:xfrm>
            <a:off x="4826992" y="49930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aagam-mitra</a:t>
            </a:r>
            <a:endParaRPr lang="en-US" sz="788" dirty="0"/>
          </a:p>
        </p:txBody>
      </p:sp>
      <p:sp>
        <p:nvSpPr>
          <p:cNvPr id="131" name="Shape 129"/>
          <p:cNvSpPr/>
          <p:nvPr/>
        </p:nvSpPr>
        <p:spPr>
          <a:xfrm>
            <a:off x="6445746" y="51724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2" name="Text 130"/>
          <p:cNvSpPr/>
          <p:nvPr/>
        </p:nvSpPr>
        <p:spPr>
          <a:xfrm>
            <a:off x="6540996" y="49930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PDF transcript generation</a:t>
            </a:r>
            <a:endParaRPr lang="en-US" sz="788" dirty="0"/>
          </a:p>
        </p:txBody>
      </p:sp>
      <p:sp>
        <p:nvSpPr>
          <p:cNvPr id="133" name="Shape 131"/>
          <p:cNvSpPr/>
          <p:nvPr/>
        </p:nvSpPr>
        <p:spPr>
          <a:xfrm>
            <a:off x="533400" y="54106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4" name="Text 132"/>
          <p:cNvSpPr/>
          <p:nvPr/>
        </p:nvSpPr>
        <p:spPr>
          <a:xfrm>
            <a:off x="628650" y="52312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</a:t>
            </a:r>
            <a:endParaRPr lang="en-US" sz="788" dirty="0"/>
          </a:p>
        </p:txBody>
      </p:sp>
      <p:sp>
        <p:nvSpPr>
          <p:cNvPr id="135" name="Shape 133"/>
          <p:cNvSpPr/>
          <p:nvPr/>
        </p:nvSpPr>
        <p:spPr>
          <a:xfrm>
            <a:off x="3107333" y="54106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6" name="Text 134"/>
          <p:cNvSpPr/>
          <p:nvPr/>
        </p:nvSpPr>
        <p:spPr>
          <a:xfrm>
            <a:off x="3202583" y="52312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~55.0.18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4731742" y="54106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38" name="Text 136"/>
          <p:cNvSpPr/>
          <p:nvPr/>
        </p:nvSpPr>
        <p:spPr>
          <a:xfrm>
            <a:off x="4826992" y="52312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39" name="Shape 137"/>
          <p:cNvSpPr/>
          <p:nvPr/>
        </p:nvSpPr>
        <p:spPr>
          <a:xfrm>
            <a:off x="6445746" y="54106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0" name="Text 138"/>
          <p:cNvSpPr/>
          <p:nvPr/>
        </p:nvSpPr>
        <p:spPr>
          <a:xfrm>
            <a:off x="6540996" y="52312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toolchain</a:t>
            </a:r>
            <a:endParaRPr lang="en-US" sz="788" dirty="0"/>
          </a:p>
        </p:txBody>
      </p:sp>
      <p:sp>
        <p:nvSpPr>
          <p:cNvPr id="141" name="Shape 139"/>
          <p:cNvSpPr/>
          <p:nvPr/>
        </p:nvSpPr>
        <p:spPr>
          <a:xfrm>
            <a:off x="533400" y="564872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2" name="Text 140"/>
          <p:cNvSpPr/>
          <p:nvPr/>
        </p:nvSpPr>
        <p:spPr>
          <a:xfrm>
            <a:off x="628650" y="546934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react-native</a:t>
            </a:r>
            <a:endParaRPr lang="en-US" sz="788" dirty="0"/>
          </a:p>
        </p:txBody>
      </p:sp>
      <p:sp>
        <p:nvSpPr>
          <p:cNvPr id="143" name="Shape 141"/>
          <p:cNvSpPr/>
          <p:nvPr/>
        </p:nvSpPr>
        <p:spPr>
          <a:xfrm>
            <a:off x="3107333" y="564872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4" name="Text 142"/>
          <p:cNvSpPr/>
          <p:nvPr/>
        </p:nvSpPr>
        <p:spPr>
          <a:xfrm>
            <a:off x="3202583" y="546934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0.83.6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4731742" y="564872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6" name="Text 144"/>
          <p:cNvSpPr/>
          <p:nvPr/>
        </p:nvSpPr>
        <p:spPr>
          <a:xfrm>
            <a:off x="4826992" y="546934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47" name="Shape 145"/>
          <p:cNvSpPr/>
          <p:nvPr/>
        </p:nvSpPr>
        <p:spPr>
          <a:xfrm>
            <a:off x="6445746" y="564872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48" name="Text 146"/>
          <p:cNvSpPr/>
          <p:nvPr/>
        </p:nvSpPr>
        <p:spPr>
          <a:xfrm>
            <a:off x="6540996" y="546934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Native bridge</a:t>
            </a:r>
            <a:endParaRPr lang="en-US" sz="788" dirty="0"/>
          </a:p>
        </p:txBody>
      </p:sp>
      <p:sp>
        <p:nvSpPr>
          <p:cNvPr id="149" name="Shape 147"/>
          <p:cNvSpPr/>
          <p:nvPr/>
        </p:nvSpPr>
        <p:spPr>
          <a:xfrm>
            <a:off x="533400" y="588685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0" name="Text 148"/>
          <p:cNvSpPr/>
          <p:nvPr/>
        </p:nvSpPr>
        <p:spPr>
          <a:xfrm>
            <a:off x="628650" y="570746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</a:t>
            </a:r>
            <a:endParaRPr lang="en-US" sz="788" dirty="0"/>
          </a:p>
        </p:txBody>
      </p:sp>
      <p:sp>
        <p:nvSpPr>
          <p:cNvPr id="151" name="Shape 149"/>
          <p:cNvSpPr/>
          <p:nvPr/>
        </p:nvSpPr>
        <p:spPr>
          <a:xfrm>
            <a:off x="3107333" y="588685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2" name="Text 150"/>
          <p:cNvSpPr/>
          <p:nvPr/>
        </p:nvSpPr>
        <p:spPr>
          <a:xfrm>
            <a:off x="3202583" y="570746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19.2.0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4731742" y="588685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4" name="Text 152"/>
          <p:cNvSpPr/>
          <p:nvPr/>
        </p:nvSpPr>
        <p:spPr>
          <a:xfrm>
            <a:off x="4826992" y="570746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55" name="Shape 153"/>
          <p:cNvSpPr/>
          <p:nvPr/>
        </p:nvSpPr>
        <p:spPr>
          <a:xfrm>
            <a:off x="6445746" y="588685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6" name="Text 154"/>
          <p:cNvSpPr/>
          <p:nvPr/>
        </p:nvSpPr>
        <p:spPr>
          <a:xfrm>
            <a:off x="6540996" y="570746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rendering</a:t>
            </a:r>
            <a:endParaRPr lang="en-US" sz="788" dirty="0"/>
          </a:p>
        </p:txBody>
      </p:sp>
      <p:sp>
        <p:nvSpPr>
          <p:cNvPr id="157" name="Shape 155"/>
          <p:cNvSpPr/>
          <p:nvPr/>
        </p:nvSpPr>
        <p:spPr>
          <a:xfrm>
            <a:off x="533400" y="61249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58" name="Text 156"/>
          <p:cNvSpPr/>
          <p:nvPr/>
        </p:nvSpPr>
        <p:spPr>
          <a:xfrm>
            <a:off x="628650" y="59455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expo-router</a:t>
            </a:r>
            <a:endParaRPr lang="en-US" sz="788" dirty="0"/>
          </a:p>
        </p:txBody>
      </p:sp>
      <p:sp>
        <p:nvSpPr>
          <p:cNvPr id="159" name="Shape 157"/>
          <p:cNvSpPr/>
          <p:nvPr/>
        </p:nvSpPr>
        <p:spPr>
          <a:xfrm>
            <a:off x="3107333" y="61249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0" name="Text 158"/>
          <p:cNvSpPr/>
          <p:nvPr/>
        </p:nvSpPr>
        <p:spPr>
          <a:xfrm>
            <a:off x="3202583" y="59455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~55.0.13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4731742" y="61249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2" name="Text 160"/>
          <p:cNvSpPr/>
          <p:nvPr/>
        </p:nvSpPr>
        <p:spPr>
          <a:xfrm>
            <a:off x="4826992" y="59455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63" name="Shape 161"/>
          <p:cNvSpPr/>
          <p:nvPr/>
        </p:nvSpPr>
        <p:spPr>
          <a:xfrm>
            <a:off x="6445746" y="61249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4" name="Text 162"/>
          <p:cNvSpPr/>
          <p:nvPr/>
        </p:nvSpPr>
        <p:spPr>
          <a:xfrm>
            <a:off x="6540996" y="59455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File-based routing</a:t>
            </a:r>
            <a:endParaRPr lang="en-US" sz="788" dirty="0"/>
          </a:p>
        </p:txBody>
      </p:sp>
      <p:sp>
        <p:nvSpPr>
          <p:cNvPr id="165" name="Shape 163"/>
          <p:cNvSpPr/>
          <p:nvPr/>
        </p:nvSpPr>
        <p:spPr>
          <a:xfrm>
            <a:off x="533400" y="63631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6" name="Text 164"/>
          <p:cNvSpPr/>
          <p:nvPr/>
        </p:nvSpPr>
        <p:spPr>
          <a:xfrm>
            <a:off x="628650" y="61837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@react-native-firebase/app</a:t>
            </a:r>
            <a:endParaRPr lang="en-US" sz="788" dirty="0"/>
          </a:p>
        </p:txBody>
      </p:sp>
      <p:sp>
        <p:nvSpPr>
          <p:cNvPr id="167" name="Shape 165"/>
          <p:cNvSpPr/>
          <p:nvPr/>
        </p:nvSpPr>
        <p:spPr>
          <a:xfrm>
            <a:off x="3107333" y="63631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68" name="Text 166"/>
          <p:cNvSpPr/>
          <p:nvPr/>
        </p:nvSpPr>
        <p:spPr>
          <a:xfrm>
            <a:off x="3202583" y="61837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^24.0.0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4731742" y="63631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0" name="Text 168"/>
          <p:cNvSpPr/>
          <p:nvPr/>
        </p:nvSpPr>
        <p:spPr>
          <a:xfrm>
            <a:off x="4826992" y="61837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71" name="Shape 169"/>
          <p:cNvSpPr/>
          <p:nvPr/>
        </p:nvSpPr>
        <p:spPr>
          <a:xfrm>
            <a:off x="6445746" y="63631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2" name="Text 170"/>
          <p:cNvSpPr/>
          <p:nvPr/>
        </p:nvSpPr>
        <p:spPr>
          <a:xfrm>
            <a:off x="6540996" y="61837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Firebase SDK</a:t>
            </a:r>
            <a:endParaRPr lang="en-US" sz="788" dirty="0"/>
          </a:p>
        </p:txBody>
      </p:sp>
      <p:sp>
        <p:nvSpPr>
          <p:cNvPr id="173" name="Shape 171"/>
          <p:cNvSpPr/>
          <p:nvPr/>
        </p:nvSpPr>
        <p:spPr>
          <a:xfrm>
            <a:off x="533400" y="660122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4" name="Text 172"/>
          <p:cNvSpPr/>
          <p:nvPr/>
        </p:nvSpPr>
        <p:spPr>
          <a:xfrm>
            <a:off x="628650" y="642184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expo-notifications</a:t>
            </a:r>
            <a:endParaRPr lang="en-US" sz="788" dirty="0"/>
          </a:p>
        </p:txBody>
      </p:sp>
      <p:sp>
        <p:nvSpPr>
          <p:cNvPr id="175" name="Shape 173"/>
          <p:cNvSpPr/>
          <p:nvPr/>
        </p:nvSpPr>
        <p:spPr>
          <a:xfrm>
            <a:off x="3107333" y="660122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6" name="Text 174"/>
          <p:cNvSpPr/>
          <p:nvPr/>
        </p:nvSpPr>
        <p:spPr>
          <a:xfrm>
            <a:off x="3202583" y="642184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~55.0.22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4731742" y="660122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78" name="Text 176"/>
          <p:cNvSpPr/>
          <p:nvPr/>
        </p:nvSpPr>
        <p:spPr>
          <a:xfrm>
            <a:off x="4826992" y="642184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79" name="Shape 177"/>
          <p:cNvSpPr/>
          <p:nvPr/>
        </p:nvSpPr>
        <p:spPr>
          <a:xfrm>
            <a:off x="6445746" y="660122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0" name="Text 178"/>
          <p:cNvSpPr/>
          <p:nvPr/>
        </p:nvSpPr>
        <p:spPr>
          <a:xfrm>
            <a:off x="6540996" y="642184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notifications</a:t>
            </a:r>
            <a:endParaRPr lang="en-US" sz="788" dirty="0"/>
          </a:p>
        </p:txBody>
      </p:sp>
      <p:sp>
        <p:nvSpPr>
          <p:cNvPr id="181" name="Shape 179"/>
          <p:cNvSpPr/>
          <p:nvPr/>
        </p:nvSpPr>
        <p:spPr>
          <a:xfrm>
            <a:off x="533400" y="683935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2" name="Text 180"/>
          <p:cNvSpPr/>
          <p:nvPr/>
        </p:nvSpPr>
        <p:spPr>
          <a:xfrm>
            <a:off x="628650" y="665996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react-native-razorpay</a:t>
            </a:r>
            <a:endParaRPr lang="en-US" sz="788" dirty="0"/>
          </a:p>
        </p:txBody>
      </p:sp>
      <p:sp>
        <p:nvSpPr>
          <p:cNvPr id="183" name="Shape 181"/>
          <p:cNvSpPr/>
          <p:nvPr/>
        </p:nvSpPr>
        <p:spPr>
          <a:xfrm>
            <a:off x="3107333" y="683935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4" name="Text 182"/>
          <p:cNvSpPr/>
          <p:nvPr/>
        </p:nvSpPr>
        <p:spPr>
          <a:xfrm>
            <a:off x="3202583" y="665996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^3.0.0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4731742" y="683935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6" name="Text 184"/>
          <p:cNvSpPr/>
          <p:nvPr/>
        </p:nvSpPr>
        <p:spPr>
          <a:xfrm>
            <a:off x="4826992" y="665996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87" name="Shape 185"/>
          <p:cNvSpPr/>
          <p:nvPr/>
        </p:nvSpPr>
        <p:spPr>
          <a:xfrm>
            <a:off x="6445746" y="683935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88" name="Text 186"/>
          <p:cNvSpPr/>
          <p:nvPr/>
        </p:nvSpPr>
        <p:spPr>
          <a:xfrm>
            <a:off x="6540996" y="665996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Payment sheet</a:t>
            </a:r>
            <a:endParaRPr lang="en-US" sz="788" dirty="0"/>
          </a:p>
        </p:txBody>
      </p:sp>
      <p:sp>
        <p:nvSpPr>
          <p:cNvPr id="189" name="Shape 187"/>
          <p:cNvSpPr/>
          <p:nvPr/>
        </p:nvSpPr>
        <p:spPr>
          <a:xfrm>
            <a:off x="533400" y="7077478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0" name="Text 188"/>
          <p:cNvSpPr/>
          <p:nvPr/>
        </p:nvSpPr>
        <p:spPr>
          <a:xfrm>
            <a:off x="628650" y="6898091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react-native-reanimated</a:t>
            </a:r>
            <a:endParaRPr lang="en-US" sz="788" dirty="0"/>
          </a:p>
        </p:txBody>
      </p:sp>
      <p:sp>
        <p:nvSpPr>
          <p:cNvPr id="191" name="Shape 189"/>
          <p:cNvSpPr/>
          <p:nvPr/>
        </p:nvSpPr>
        <p:spPr>
          <a:xfrm>
            <a:off x="3107333" y="7077478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2" name="Text 190"/>
          <p:cNvSpPr/>
          <p:nvPr/>
        </p:nvSpPr>
        <p:spPr>
          <a:xfrm>
            <a:off x="3202583" y="6898091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4.2.1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4731742" y="7077478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4" name="Text 192"/>
          <p:cNvSpPr/>
          <p:nvPr/>
        </p:nvSpPr>
        <p:spPr>
          <a:xfrm>
            <a:off x="4826992" y="6898091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195" name="Shape 193"/>
          <p:cNvSpPr/>
          <p:nvPr/>
        </p:nvSpPr>
        <p:spPr>
          <a:xfrm>
            <a:off x="6445746" y="7077478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6" name="Text 194"/>
          <p:cNvSpPr/>
          <p:nvPr/>
        </p:nvSpPr>
        <p:spPr>
          <a:xfrm>
            <a:off x="6540996" y="6898091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Animations</a:t>
            </a:r>
            <a:endParaRPr lang="en-US" sz="788" dirty="0"/>
          </a:p>
        </p:txBody>
      </p:sp>
      <p:sp>
        <p:nvSpPr>
          <p:cNvPr id="197" name="Shape 195"/>
          <p:cNvSpPr/>
          <p:nvPr/>
        </p:nvSpPr>
        <p:spPr>
          <a:xfrm>
            <a:off x="533400" y="7315603"/>
            <a:ext cx="2573933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8" name="Text 196"/>
          <p:cNvSpPr/>
          <p:nvPr/>
        </p:nvSpPr>
        <p:spPr>
          <a:xfrm>
            <a:off x="628650" y="7136216"/>
            <a:ext cx="2460651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b="1" dirty="0">
                <a:solidFill>
                  <a:srgbClr val="0F172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typescript</a:t>
            </a:r>
            <a:endParaRPr lang="en-US" sz="788" dirty="0"/>
          </a:p>
        </p:txBody>
      </p:sp>
      <p:sp>
        <p:nvSpPr>
          <p:cNvPr id="199" name="Shape 197"/>
          <p:cNvSpPr/>
          <p:nvPr/>
        </p:nvSpPr>
        <p:spPr>
          <a:xfrm>
            <a:off x="3107333" y="7315603"/>
            <a:ext cx="1624409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0" name="Text 198"/>
          <p:cNvSpPr/>
          <p:nvPr/>
        </p:nvSpPr>
        <p:spPr>
          <a:xfrm>
            <a:off x="3202583" y="7136216"/>
            <a:ext cx="1510109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772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~5.9.2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4731742" y="7315603"/>
            <a:ext cx="171400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2" name="Text 200"/>
          <p:cNvSpPr/>
          <p:nvPr/>
        </p:nvSpPr>
        <p:spPr>
          <a:xfrm>
            <a:off x="4826992" y="7136216"/>
            <a:ext cx="159970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4755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temple-frontend</a:t>
            </a:r>
            <a:endParaRPr lang="en-US" sz="788" dirty="0"/>
          </a:p>
        </p:txBody>
      </p:sp>
      <p:sp>
        <p:nvSpPr>
          <p:cNvPr id="203" name="Shape 201"/>
          <p:cNvSpPr/>
          <p:nvPr/>
        </p:nvSpPr>
        <p:spPr>
          <a:xfrm>
            <a:off x="6445746" y="7315603"/>
            <a:ext cx="2545854" cy="9525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04" name="Text 202"/>
          <p:cNvSpPr/>
          <p:nvPr/>
        </p:nvSpPr>
        <p:spPr>
          <a:xfrm>
            <a:off x="6540996" y="7136216"/>
            <a:ext cx="2431730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33415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safety</a:t>
            </a:r>
            <a:endParaRPr lang="en-US" sz="788" dirty="0"/>
          </a:p>
        </p:txBody>
      </p:sp>
      <p:sp>
        <p:nvSpPr>
          <p:cNvPr id="205" name="Text 203"/>
          <p:cNvSpPr/>
          <p:nvPr/>
        </p:nvSpPr>
        <p:spPr>
          <a:xfrm>
            <a:off x="110490" y="12433306"/>
            <a:ext cx="93040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</a:t>
            </a:r>
            <a:endParaRPr lang="en-US" sz="975" dirty="0"/>
          </a:p>
        </p:txBody>
      </p:sp>
      <p:sp>
        <p:nvSpPr>
          <p:cNvPr id="206" name="Text 204"/>
          <p:cNvSpPr/>
          <p:nvPr/>
        </p:nvSpPr>
        <p:spPr>
          <a:xfrm>
            <a:off x="110490" y="12642856"/>
            <a:ext cx="9304020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 of document · MyTemple Architecture Deep Dive</a:t>
            </a:r>
            <a:endParaRPr lang="en-US" sz="825" dirty="0"/>
          </a:p>
        </p:txBody>
      </p:sp>
      <p:sp>
        <p:nvSpPr>
          <p:cNvPr id="207" name="Shape 205"/>
          <p:cNvSpPr/>
          <p:nvPr/>
        </p:nvSpPr>
        <p:spPr>
          <a:xfrm>
            <a:off x="533400" y="12960362"/>
            <a:ext cx="8458200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8" name="Text 206"/>
          <p:cNvSpPr/>
          <p:nvPr/>
        </p:nvSpPr>
        <p:spPr>
          <a:xfrm>
            <a:off x="533400" y="13042906"/>
            <a:ext cx="698401" cy="177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E877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ॐ MyTemple</a:t>
            </a:r>
            <a:endParaRPr lang="en-US" sz="788" dirty="0"/>
          </a:p>
        </p:txBody>
      </p:sp>
      <p:sp>
        <p:nvSpPr>
          <p:cNvPr id="209" name="Text 207"/>
          <p:cNvSpPr/>
          <p:nvPr/>
        </p:nvSpPr>
        <p:spPr>
          <a:xfrm>
            <a:off x="8627765" y="13049250"/>
            <a:ext cx="44003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88" dirty="0">
                <a:solidFill>
                  <a:srgbClr val="94A3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 22</a:t>
            </a:r>
            <a:endParaRPr lang="en-US" sz="78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2026-06-18T17:41:55Z</dcterms:created>
  <dcterms:modified xsi:type="dcterms:W3CDTF">2026-06-18T17:41:55Z</dcterms:modified>
</cp:coreProperties>
</file>